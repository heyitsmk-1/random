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idea" id="{cc80d367-3447-fd16-1e22-6128e7e160ce}">
          <p14:sldIdLst>
            <p14:sldId id="256"/>
            <p14:sldId id="257"/>
          </p14:sldIdLst>
        </p14:section>
        <p14:section name="Before class" id="{f4fede62-1449-3858-1402-237d5d89cf0f}">
          <p14:sldIdLst>
            <p14:sldId id="258"/>
          </p14:sldIdLst>
        </p14:section>
        <p14:section name="During class" id="{1df4acce-2399-9915-61da-4cc7739e7d05}">
          <p14:sldIdLst>
            <p14:sldId id="259"/>
            <p14:sldId id="260"/>
            <p14:sldId id="261"/>
            <p14:sldId id="262"/>
            <p14:sldId id="263"/>
          </p14:sldIdLst>
        </p14:section>
        <p14:section name="After class" id="{f60aadab-5b40-312b-0df4-ea010aef65f0}">
          <p14:sldIdLst>
            <p14:sldId id="264"/>
          </p14:sldIdLst>
        </p14:section>
        <p14:section name="Next" id="{b6d908b7-c1e4-de90-da93-04ece4efaaae}">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Side</c:v>
                </c:pt>
              </c:strCache>
            </c:strRef>
          </c:tx>
          <c:spPr>
            <a:solidFill>
              <a:schemeClr val="accent1"/>
            </a:solidFill>
            <a:ln w="9525" cap="flat">
              <a:solidFill>
                <a:srgbClr val="F9F9F9"/>
              </a:solidFill>
              <a:prstDash val="solid"/>
              <a:round/>
            </a:ln>
            <a:effectLst/>
          </c:spPr>
          <c:dPt>
            <c:idx val="0"/>
            <c:bubble3D val="0"/>
            <c:spPr>
              <a:solidFill>
                <a:srgbClr val="5B3DF5"/>
              </a:solidFill>
              <a:effectLst/>
            </c:spPr>
          </c:dPt>
          <c:dPt>
            <c:idx val="1"/>
            <c:bubble3D val="0"/>
            <c:spPr>
              <a:solidFill>
                <a:srgbClr val="1FA2C8"/>
              </a:solidFill>
              <a:effectLst/>
            </c:spPr>
          </c:dPt>
          <c:dLbls>
            <c:dLbl>
              <c:idx val="0"/>
              <c:numFmt formatCode="0%" sourceLinked="0"/>
              <c:spPr/>
              <c:txPr>
                <a:bodyPr/>
                <a:lstStyle/>
                <a:p>
                  <a:pPr>
                    <a:defRPr sz="1300" b="1"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300" b="1"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All subjects</c:v>
                </c:pt>
                <c:pt idx="1">
                  <c:v>Only good / interesting</c:v>
                </c:pt>
              </c:strCache>
            </c:strRef>
          </c:cat>
          <c:val>
            <c:numRef>
              <c:f>Sheet1!$B$2:$B$3</c:f>
              <c:numCache>
                <c:ptCount val="2"/>
                <c:pt idx="0">
                  <c:v>62</c:v>
                </c:pt>
                <c:pt idx="1">
                  <c:v>38</c:v>
                </c:pt>
              </c:numCache>
            </c:numRef>
          </c:val>
        </c:ser>
        <c:firstSliceAng val="0"/>
        <c:holeSize val="58"/>
      </c:doughnutChart>
      <c:spPr>
        <a:noFill/>
        <a:ln>
          <a:noFill/>
        </a:ln>
        <a:effectLst/>
      </c:spPr>
    </c:plotArea>
    <c:legend>
      <c:legendPos val="b"/>
      <c:overlay val="0"/>
      <c:txPr>
        <a:bodyPr/>
        <a:lstStyle/>
        <a:p>
          <a:pPr>
            <a:defRPr sz="1100">
              <a:solidFill>
                <a:srgbClr val="55597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Students</c:v>
                </c:pt>
              </c:strCache>
            </c:strRef>
          </c:tx>
          <c:spPr>
            <a:solidFill>
              <a:srgbClr val="E8394D"/>
            </a:solidFill>
            <a:effectLst/>
          </c:spPr>
          <c:invertIfNegative val="0"/>
          <c:dLbls>
            <c:numFmt formatCode="0&quot;%&quot;" sourceLinked="0"/>
            <c:txPr>
              <a:bodyPr/>
              <a:lstStyle/>
              <a:p>
                <a:pPr>
                  <a:defRPr b="0" i="0" strike="noStrike" sz="1100" u="none">
                    <a:solidFill>
                      <a:srgbClr val="1A1B2E"/>
                    </a:solidFill>
                    <a:latin typeface="+mn-lt"/>
                  </a:defRPr>
                </a:pPr>
              </a:p>
            </c:txPr>
            <c:showLegendKey val="0"/>
            <c:showVal val="1"/>
            <c:showCatName val="0"/>
            <c:showSerName val="0"/>
            <c:showPercent val="0"/>
            <c:showBubbleSize val="0"/>
            <c:showLeaderLines val="0"/>
          </c:dLbls>
          <c:dPt>
            <c:idx val="0"/>
            <c:invertIfNegative val="0"/>
            <c:bubble3D val="0"/>
            <c:spPr>
              <a:solidFill>
                <a:srgbClr val="E8394D"/>
              </a:solidFill>
              <a:effectLst/>
            </c:spPr>
          </c:dPt>
          <c:dPt>
            <c:idx val="1"/>
            <c:invertIfNegative val="0"/>
            <c:bubble3D val="0"/>
            <c:spPr>
              <a:solidFill>
                <a:srgbClr val="9A97B5"/>
              </a:solidFill>
              <a:effectLst/>
            </c:spPr>
          </c:dPt>
          <c:dPt>
            <c:idx val="2"/>
            <c:invertIfNegative val="0"/>
            <c:bubble3D val="0"/>
            <c:spPr>
              <a:solidFill>
                <a:srgbClr val="9A97B5"/>
              </a:solidFill>
              <a:effectLst/>
            </c:spPr>
          </c:dPt>
          <c:dPt>
            <c:idx val="3"/>
            <c:invertIfNegative val="0"/>
            <c:bubble3D val="0"/>
            <c:spPr>
              <a:solidFill>
                <a:srgbClr val="9A97B5"/>
              </a:solidFill>
              <a:effectLst/>
            </c:spPr>
          </c:dPt>
          <c:dPt>
            <c:idx val="4"/>
            <c:invertIfNegative val="0"/>
            <c:bubble3D val="0"/>
            <c:spPr>
              <a:solidFill>
                <a:srgbClr val="13955F"/>
              </a:solidFill>
              <a:effectLst/>
            </c:spPr>
          </c:dPt>
          <c:cat>
            <c:multiLvlStrRef>
              <c:f>Sheet1!$A$2:$A$6</c:f>
              <c:multiLvlStrCache>
                <c:ptCount val="5"/>
                <c:lvl>
                  <c:pt idx="0">
                    <c:v>“in favor of study”</c:v>
                  </c:pt>
                  <c:pt idx="1">
                    <c:v>Copied the whole prompt</c:v>
                  </c:pt>
                  <c:pt idx="2">
                    <c:v>X doesn't match their side</c:v>
                  </c:pt>
                  <c:pt idx="3">
                    <c:v>Left out “because”</c:v>
                  </c:pt>
                  <c:pt idx="4">
                    <c:v>No mistake</c:v>
                  </c:pt>
                </c:lvl>
              </c:multiLvlStrCache>
            </c:multiLvlStrRef>
          </c:cat>
          <c:val>
            <c:numRef>
              <c:f>Sheet1!$B$2:$B$6</c:f>
              <c:numCache>
                <c:formatCode>General</c:formatCode>
                <c:ptCount val="5"/>
                <c:pt idx="0">
                  <c:v>41</c:v>
                </c:pt>
                <c:pt idx="1">
                  <c:v>22</c:v>
                </c:pt>
                <c:pt idx="2">
                  <c:v>9</c:v>
                </c:pt>
                <c:pt idx="3">
                  <c:v>7</c:v>
                </c:pt>
                <c:pt idx="4">
                  <c:v>21</c:v>
                </c:pt>
              </c:numCache>
            </c:numRef>
          </c:val>
        </c:ser>
        <c:dLbls>
          <c:numFmt formatCode="0&quot;%&quot;" sourceLinked="0"/>
          <c:txPr>
            <a:bodyPr/>
            <a:lstStyle/>
            <a:p>
              <a:pPr>
                <a:defRPr b="0" i="0" strike="noStrike" sz="1100" u="none">
                  <a:solidFill>
                    <a:srgbClr val="1A1B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55597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Their own idea</c:v>
                </c:pt>
              </c:strCache>
            </c:strRef>
          </c:tx>
          <c:spPr>
            <a:solidFill>
              <a:srgbClr val="5B3DF5"/>
            </a:solidFill>
            <a:effectLst/>
          </c:spPr>
          <c:invertIfNegative val="0"/>
          <c:dLbls>
            <c:numFmt formatCode="#,##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Discover hidden talents</c:v>
                  </c:pt>
                  <c:pt idx="1">
                    <c:v>Become well-rounded</c:v>
                  </c:pt>
                  <c:pt idx="2">
                    <c:v>Basic knowledge for life</c:v>
                  </c:pt>
                  <c:pt idx="3">
                    <c:v>Keep career options open</c:v>
                  </c:pt>
                </c:lvl>
              </c:multiLvlStrCache>
            </c:multiLvlStrRef>
          </c:cat>
          <c:val>
            <c:numRef>
              <c:f>Sheet1!$B$2:$B$5</c:f>
              <c:numCache>
                <c:formatCode>General</c:formatCode>
                <c:ptCount val="4"/>
                <c:pt idx="0">
                  <c:v>241</c:v>
                </c:pt>
                <c:pt idx="1">
                  <c:v>180</c:v>
                </c:pt>
                <c:pt idx="2">
                  <c:v>77</c:v>
                </c:pt>
                <c:pt idx="3">
                  <c:v>52</c:v>
                </c:pt>
              </c:numCache>
            </c:numRef>
          </c:val>
        </c:ser>
        <c:ser>
          <c:idx val="1"/>
          <c:order val="1"/>
          <c:tx>
            <c:strRef>
              <c:f>Sheet1!$C$1</c:f>
              <c:strCache>
                <c:ptCount val="1"/>
                <c:pt idx="0">
                  <c:v>Picked from Gợi ý</c:v>
                </c:pt>
              </c:strCache>
            </c:strRef>
          </c:tx>
          <c:spPr>
            <a:solidFill>
              <a:srgbClr val="E39A12"/>
            </a:solidFill>
            <a:effectLst/>
          </c:spPr>
          <c:invertIfNegative val="0"/>
          <c:dLbls>
            <c:numFmt formatCode="#,##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Discover hidden talents</c:v>
                  </c:pt>
                  <c:pt idx="1">
                    <c:v>Become well-rounded</c:v>
                  </c:pt>
                  <c:pt idx="2">
                    <c:v>Basic knowledge for life</c:v>
                  </c:pt>
                  <c:pt idx="3">
                    <c:v>Keep career options open</c:v>
                  </c:pt>
                </c:lvl>
              </c:multiLvlStrCache>
            </c:multiLvlStrRef>
          </c:cat>
          <c:val>
            <c:numRef>
              <c:f>Sheet1!$C$2:$C$5</c:f>
              <c:numCache>
                <c:formatCode>General</c:formatCode>
                <c:ptCount val="4"/>
                <c:pt idx="0">
                  <c:v>45</c:v>
                </c:pt>
                <c:pt idx="1">
                  <c:v>132</c:v>
                </c:pt>
                <c:pt idx="2">
                  <c:v>121</c:v>
                </c:pt>
                <c:pt idx="3">
                  <c:v>98</c:v>
                </c:pt>
              </c:numCache>
            </c:numRef>
          </c:val>
        </c:ser>
        <c:dLbls>
          <c:numFmt formatCode="#,##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55597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5597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Path</c:v>
                </c:pt>
              </c:strCache>
            </c:strRef>
          </c:tx>
          <c:spPr>
            <a:solidFill>
              <a:schemeClr val="accent1"/>
            </a:solidFill>
            <a:ln w="9525" cap="flat">
              <a:solidFill>
                <a:srgbClr val="F9F9F9"/>
              </a:solidFill>
              <a:prstDash val="solid"/>
              <a:round/>
            </a:ln>
            <a:effectLst/>
          </c:spPr>
          <c:dPt>
            <c:idx val="0"/>
            <c:bubble3D val="0"/>
            <c:spPr>
              <a:solidFill>
                <a:srgbClr val="5B3DF5"/>
              </a:solidFill>
              <a:effectLst/>
            </c:spPr>
          </c:dPt>
          <c:dPt>
            <c:idx val="1"/>
            <c:bubble3D val="0"/>
            <c:spPr>
              <a:solidFill>
                <a:srgbClr val="1FA2C8"/>
              </a:solidFill>
              <a:effectLst/>
            </c:spPr>
          </c:dPt>
          <c:dPt>
            <c:idx val="2"/>
            <c:bubble3D val="0"/>
            <c:spPr>
              <a:solidFill>
                <a:srgbClr val="E39A12"/>
              </a:solidFill>
              <a:effectLst/>
            </c:spPr>
          </c:dPt>
          <c:dLbls>
            <c:dLbl>
              <c:idx val="0"/>
              <c:numFmt formatCode="0%" sourceLinked="0"/>
              <c:spPr/>
              <c:txPr>
                <a:bodyPr/>
                <a:lstStyle/>
                <a:p>
                  <a:pPr>
                    <a:defRPr sz="1200" b="1"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200" b="1"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1200" b="1"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Impact</c:v>
                </c:pt>
                <c:pt idx="1">
                  <c:v>Explain</c:v>
                </c:pt>
                <c:pt idx="2">
                  <c:v>Example</c:v>
                </c:pt>
              </c:strCache>
            </c:strRef>
          </c:cat>
          <c:val>
            <c:numRef>
              <c:f>Sheet1!$B$2:$B$4</c:f>
              <c:numCache>
                <c:ptCount val="3"/>
                <c:pt idx="0">
                  <c:v>55</c:v>
                </c:pt>
                <c:pt idx="1">
                  <c:v>30</c:v>
                </c:pt>
                <c:pt idx="2">
                  <c:v>15</c:v>
                </c:pt>
              </c:numCache>
            </c:numRef>
          </c:val>
        </c:ser>
        <c:firstSliceAng val="0"/>
        <c:holeSize val="55"/>
      </c:doughnutChart>
      <c:spPr>
        <a:noFill/>
        <a:ln>
          <a:noFill/>
        </a:ln>
        <a:effectLst/>
      </c:spPr>
    </c:plotArea>
    <c:legend>
      <c:legendPos val="b"/>
      <c:overlay val="0"/>
      <c:txPr>
        <a:bodyPr/>
        <a:lstStyle/>
        <a:p>
          <a:pPr>
            <a:defRPr sz="1100">
              <a:solidFill>
                <a:srgbClr val="55597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Don't understand (%)</c:v>
                </c:pt>
              </c:strCache>
            </c:strRef>
          </c:tx>
          <c:spPr>
            <a:solidFill>
              <a:srgbClr val="E8394D"/>
            </a:solidFill>
            <a:ln w="31750" cap="flat">
              <a:solidFill>
                <a:srgbClr val="E8394D"/>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E8394D"/>
              </a:solidFill>
              <a:ln w="9525" cap="flat">
                <a:solidFill>
                  <a:srgbClr val="E8394D"/>
                </a:solidFill>
                <a:prstDash val="solid"/>
                <a:round/>
              </a:ln>
              <a:effectLst/>
            </c:spPr>
          </c:marker>
          <c:cat>
            <c:multiLvlStrRef>
              <c:f>Sheet1!$A$2:$A$21</c:f>
              <c:multiLvlStrCache>
                <c:ptCount val="20"/>
                <c:lvl>
                  <c:pt idx="0">
                    <c:v>0</c:v>
                  </c:pt>
                  <c:pt idx="1">
                    <c:v>3</c:v>
                  </c:pt>
                  <c:pt idx="2">
                    <c:v>6</c:v>
                  </c:pt>
                  <c:pt idx="3">
                    <c:v>9</c:v>
                  </c:pt>
                  <c:pt idx="4">
                    <c:v>12</c:v>
                  </c:pt>
                  <c:pt idx="5">
                    <c:v>15</c:v>
                  </c:pt>
                  <c:pt idx="6">
                    <c:v>18</c:v>
                  </c:pt>
                  <c:pt idx="7">
                    <c:v>21</c:v>
                  </c:pt>
                  <c:pt idx="8">
                    <c:v>24</c:v>
                  </c:pt>
                  <c:pt idx="9">
                    <c:v>27</c:v>
                  </c:pt>
                  <c:pt idx="10">
                    <c:v>30</c:v>
                  </c:pt>
                  <c:pt idx="11">
                    <c:v>33</c:v>
                  </c:pt>
                  <c:pt idx="12">
                    <c:v>36</c:v>
                  </c:pt>
                  <c:pt idx="13">
                    <c:v>39</c:v>
                  </c:pt>
                  <c:pt idx="14">
                    <c:v>42</c:v>
                  </c:pt>
                  <c:pt idx="15">
                    <c:v>45</c:v>
                  </c:pt>
                  <c:pt idx="16">
                    <c:v>48</c:v>
                  </c:pt>
                  <c:pt idx="17">
                    <c:v>51</c:v>
                  </c:pt>
                  <c:pt idx="18">
                    <c:v>54</c:v>
                  </c:pt>
                  <c:pt idx="19">
                    <c:v>57</c:v>
                  </c:pt>
                </c:lvl>
              </c:multiLvlStrCache>
            </c:multiLvlStrRef>
          </c:cat>
          <c:val>
            <c:numRef>
              <c:f>Sheet1!$B$2:$B$21</c:f>
              <c:numCache>
                <c:formatCode>General</c:formatCode>
                <c:ptCount val="20"/>
                <c:pt idx="0">
                  <c:v>6</c:v>
                </c:pt>
                <c:pt idx="1">
                  <c:v>7</c:v>
                </c:pt>
                <c:pt idx="2">
                  <c:v>9</c:v>
                </c:pt>
                <c:pt idx="3">
                  <c:v>12</c:v>
                </c:pt>
                <c:pt idx="4">
                  <c:v>21</c:v>
                </c:pt>
                <c:pt idx="5">
                  <c:v>34</c:v>
                </c:pt>
                <c:pt idx="6">
                  <c:v>28</c:v>
                </c:pt>
                <c:pt idx="7">
                  <c:v>15</c:v>
                </c:pt>
                <c:pt idx="8">
                  <c:v>10</c:v>
                </c:pt>
                <c:pt idx="9">
                  <c:v>11</c:v>
                </c:pt>
                <c:pt idx="10">
                  <c:v>13</c:v>
                </c:pt>
                <c:pt idx="11">
                  <c:v>12</c:v>
                </c:pt>
                <c:pt idx="12">
                  <c:v>14</c:v>
                </c:pt>
                <c:pt idx="13">
                  <c:v>19</c:v>
                </c:pt>
                <c:pt idx="14">
                  <c:v>22</c:v>
                </c:pt>
                <c:pt idx="15">
                  <c:v>16</c:v>
                </c:pt>
                <c:pt idx="16">
                  <c:v>11</c:v>
                </c:pt>
                <c:pt idx="17">
                  <c:v>9</c:v>
                </c:pt>
                <c:pt idx="18">
                  <c:v>8</c:v>
                </c:pt>
                <c:pt idx="19">
                  <c:v>7</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5597A"/>
                    </a:solidFill>
                    <a:latin typeface="Arial"/>
                  </a:defRPr>
                </a:pPr>
                <a:r>
                  <a:rPr sz="1000" b="0" i="0" u="none" strike="noStrike">
                    <a:solidFill>
                      <a:srgbClr val="55597A"/>
                    </a:solidFill>
                    <a:latin typeface="Arial"/>
                  </a:rPr>
                  <a:t>minutes into class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5597A"/>
                </a:solidFill>
                <a:latin typeface="+mn-lt"/>
              </a:defRPr>
            </a:pPr>
            <a:endParaRPr lang="en-US"/>
          </a:p>
        </c:txPr>
        <c:crossAx val="2094734552"/>
        <c:crosses val="autoZero"/>
        <c:auto val="1"/>
        <c:lblAlgn val="ctr"/>
        <c:noMultiLvlLbl val="1"/>
      </c:catAx>
      <c:valAx>
        <c:axId val="2094734552"/>
        <c:scaling>
          <c:orientation val="minMax"/>
          <c:max val="40"/>
        </c:scaling>
        <c:delete val="0"/>
        <c:axPos val="l"/>
        <c:majorGridlines>
          <c:spPr>
            <a:ln w="9525" cap="flat">
              <a:solidFill>
                <a:srgbClr val="E4E2E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5597A"/>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a free class is huge, so one teacher can't look after everyone, and a talking-head stream is boring. The answer: the teacher teaches the crowd, every student answers with a tap, and AI coaches each student one step at a time. Three principles: tap don't type, anonymous, coached one step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class the teacher spends about ten minutes in the lesson builder. During class it's a loop: the teacher teaches, students respond on their phones, the AI tutor coaches each of them, and the dashboard tells the teacher what the class needs next. After class every student automatically gets their own recap page, built with the existing anh Đậu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Streams run two or three times a week, so prep has to be fast. The teacher pastes a new prompt, the AI drafts all the lesson content, and the teacher only checks and approves. Mistakes carry over between lessons, for example 'in favor of + -ing' comes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tap a side. The teacher instantly sees the split and can put it on stream as an opening moment. The confusion meter on the right is always on, for the whole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student writes one sentence. The AI tutor gives a Socratic hint, at most two rounds, then shows a model. The teacher doesn't read 1,000 sentences: the dashboard groups them and names the most common mistake. Here the confusion meter has crossed 30%, so the teacher pauses and explains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type their own idea or tap a suggestion. The AI groups similar ideas, and the teacher sees which ideas are most popular, split into ideas students came up with themselves and ones they picked from Gợi ý. The teacher picks one idea per side to develop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teacher's framework: does the idea support the central point yet? If the benefit isn't enough, add impact; if it is, explain why; if neither, give an example. The tutor asks this question, the student's answer decides the path, and the dashboard shows the path split and the most common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put everything together into one body paragraph. The tutor raises one problem at a time, like a real teacher, never a long list. The teacher sees the most common problems across all paragraphs and can show a strong one on stream, anonymously.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class each student gets a recap page from anh Đậu, built automatically from what they did in class: their side, their topic sentence before and after, their idea, their paragraph, and the one mistake to remember. The teacher gets a timeline of where the class got lost, which helps plan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0 is this deck. Phase 1 is one real class to get feedback. Phase 2 makes it sustainable at two or three classes a week. Phase 3 grows it to more skills and more interaction.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18872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2880360"/>
            <a:ext cx="10698480" cy="914400"/>
          </a:xfrm>
          <a:prstGeom prst="rect">
            <a:avLst/>
          </a:prstGeom>
          <a:noFill/>
          <a:ln/>
        </p:spPr>
        <p:txBody>
          <a:bodyPr wrap="square" rtlCol="0"/>
          <a:lstStyle>
            <a:lvl1pPr indent="0" marL="0">
              <a:buNone/>
              <a:defRPr lang="en-US" sz="2200" dirty="0">
                <a:solidFill>
                  <a:schemeClr val="accent5"/>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OCK">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5943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ph idx="101" type="body" hasCustomPrompt="1"/>
          </p:nvPr>
        </p:nvSpPr>
        <p:spPr>
          <a:xfrm>
            <a:off x="457200" y="868680"/>
            <a:ext cx="11247120" cy="365760"/>
          </a:xfrm>
          <a:prstGeom prst="rect">
            <a:avLst/>
          </a:prstGeom>
          <a:noFill/>
          <a:ln/>
        </p:spPr>
        <p:txBody>
          <a:bodyPr wrap="square" rtlCol="0"/>
          <a:lstStyle>
            <a:lvl1pPr indent="0" marL="0">
              <a:buNone/>
              <a:defRPr lang="en-US" sz="1600" dirty="0">
                <a:solidFill>
                  <a:schemeClr val="tx2"/>
                </a:solidFill>
              </a:defRPr>
            </a:lvl1pPr>
          </a:lstStyle>
          <a:p>
            <a:pPr indent="0" marL="0">
              <a:buNone/>
            </a:pPr>
            <a:endParaRPr lang="en-US" sz="1600" dirty="0"/>
          </a:p>
        </p:txBody>
      </p:sp>
      <p:sp>
        <p:nvSpPr>
          <p:cNvPr id="4" name="Text 0"/>
          <p:cNvSpPr/>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chemeClr val="tx2"/>
                </a:solidFill>
              </a:rPr>
              <a:t>Mock-up · all class numbers are made up</a:t>
            </a:r>
            <a:endParaRPr lang="en-US" sz="100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5943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ph idx="101" type="body" hasCustomPrompt="1"/>
          </p:nvPr>
        </p:nvSpPr>
        <p:spPr>
          <a:xfrm>
            <a:off x="457200" y="868680"/>
            <a:ext cx="11247120" cy="365760"/>
          </a:xfrm>
          <a:prstGeom prst="rect">
            <a:avLst/>
          </a:prstGeom>
          <a:noFill/>
          <a:ln/>
        </p:spPr>
        <p:txBody>
          <a:bodyPr wrap="square" rtlCol="0"/>
          <a:lstStyle>
            <a:lvl1pPr indent="0" marL="0">
              <a:buNone/>
              <a:defRPr lang="en-US" sz="1600" dirty="0">
                <a:solidFill>
                  <a:schemeClr val="tx2"/>
                </a:solidFill>
              </a:defRPr>
            </a:lvl1pPr>
          </a:lstStyle>
          <a:p>
            <a:pPr indent="0" marL="0">
              <a:buNone/>
            </a:pPr>
            <a:endParaRPr lang="en-US" sz="160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411480"/>
            <a:ext cx="11247120" cy="6858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457200" y="1097280"/>
            <a:ext cx="11247120" cy="41148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188720"/>
          </a:xfrm>
          <a:prstGeom prst="rect">
            <a:avLst/>
          </a:prstGeom>
          <a:noFill/>
          <a:ln/>
        </p:spPr>
        <p:txBody>
          <a:bodyPr wrap="square" lIns="0" tIns="0" rIns="0" bIns="0" rtlCol="0" anchor="b"/>
          <a:lstStyle/>
          <a:p>
            <a:pPr algn="l" indent="0" marL="0">
              <a:buNone/>
            </a:pPr>
            <a:r>
              <a:rPr lang="en-US" sz="5400" b="1" dirty="0">
                <a:solidFill>
                  <a:schemeClr val="bg1"/>
                </a:solidFill>
              </a:rPr>
              <a:t>YouPass Live</a:t>
            </a:r>
            <a:endParaRPr lang="en-US" sz="5400" dirty="0"/>
          </a:p>
        </p:txBody>
      </p:sp>
      <p:sp>
        <p:nvSpPr>
          <p:cNvPr id="3" name="Text 0"/>
          <p:cNvSpPr/>
          <p:nvPr>
            <p:ph idx="101" type="body" hasCustomPrompt="1"/>
          </p:nvPr>
        </p:nvSpPr>
        <p:spPr>
          <a:xfrm>
            <a:off x="731520" y="2880360"/>
            <a:ext cx="10698480" cy="914400"/>
          </a:xfrm>
          <a:prstGeom prst="rect">
            <a:avLst/>
          </a:prstGeom>
          <a:noFill/>
          <a:ln/>
        </p:spPr>
        <p:txBody>
          <a:bodyPr wrap="square" lIns="0" tIns="0" rIns="0" bIns="0" rtlCol="0" anchor="t"/>
          <a:lstStyle/>
          <a:p>
            <a:pPr indent="0" marL="0">
              <a:buNone/>
            </a:pPr>
            <a:r>
              <a:rPr lang="en-US" sz="2200" dirty="0">
                <a:solidFill>
                  <a:schemeClr val="accent5"/>
                </a:solidFill>
              </a:rPr>
              <a:t>A free IELTS class for thousands, where every student still gets coached</a:t>
            </a:r>
            <a:endParaRPr lang="en-US" sz="2200" dirty="0"/>
          </a:p>
        </p:txBody>
      </p:sp>
      <p:sp>
        <p:nvSpPr>
          <p:cNvPr id="4" name="Principle 1 circle"/>
          <p:cNvSpPr/>
          <p:nvPr/>
        </p:nvSpPr>
        <p:spPr>
          <a:xfrm>
            <a:off x="731520" y="4343400"/>
            <a:ext cx="548640" cy="548640"/>
          </a:xfrm>
          <a:prstGeom prst="ellipse">
            <a:avLst/>
          </a:prstGeom>
          <a:solidFill>
            <a:schemeClr val="accent1"/>
          </a:solidFill>
          <a:ln w="12700">
            <a:solidFill>
              <a:schemeClr val="accent1"/>
            </a:solidFill>
            <a:prstDash val="solid"/>
          </a:ln>
        </p:spPr>
      </p:sp>
      <p:sp>
        <p:nvSpPr>
          <p:cNvPr id="5" name="Text 3"/>
          <p:cNvSpPr txBox="1"/>
          <p:nvPr/>
        </p:nvSpPr>
        <p:spPr>
          <a:xfrm>
            <a:off x="731520" y="43434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4"/>
          <p:cNvSpPr txBox="1"/>
          <p:nvPr/>
        </p:nvSpPr>
        <p:spPr>
          <a:xfrm>
            <a:off x="1463040" y="4315968"/>
            <a:ext cx="2743200" cy="320040"/>
          </a:xfrm>
          <a:prstGeom prst="rect">
            <a:avLst/>
          </a:prstGeom>
          <a:noFill/>
          <a:ln/>
        </p:spPr>
        <p:txBody>
          <a:bodyPr wrap="square" lIns="0" tIns="0" rIns="0" bIns="0" rtlCol="0" anchor="t"/>
          <a:lstStyle/>
          <a:p>
            <a:pPr indent="0" marL="0">
              <a:buNone/>
            </a:pPr>
            <a:r>
              <a:rPr lang="en-US" sz="1800" b="1" dirty="0">
                <a:solidFill>
                  <a:schemeClr val="bg1"/>
                </a:solidFill>
              </a:rPr>
              <a:t>Tap, don't type</a:t>
            </a:r>
            <a:endParaRPr lang="en-US" sz="1800" dirty="0"/>
          </a:p>
        </p:txBody>
      </p:sp>
      <p:sp>
        <p:nvSpPr>
          <p:cNvPr id="7" name="Text 5"/>
          <p:cNvSpPr txBox="1"/>
          <p:nvPr/>
        </p:nvSpPr>
        <p:spPr>
          <a:xfrm>
            <a:off x="1463040" y="4636008"/>
            <a:ext cx="2743200" cy="320040"/>
          </a:xfrm>
          <a:prstGeom prst="rect">
            <a:avLst/>
          </a:prstGeom>
          <a:noFill/>
          <a:ln/>
        </p:spPr>
        <p:txBody>
          <a:bodyPr wrap="square" lIns="0" tIns="0" rIns="0" bIns="0" rtlCol="0" anchor="t"/>
          <a:lstStyle/>
          <a:p>
            <a:pPr indent="0" marL="0">
              <a:buNone/>
            </a:pPr>
            <a:r>
              <a:rPr lang="en-US" sz="1400" dirty="0">
                <a:solidFill>
                  <a:schemeClr val="accent5"/>
                </a:solidFill>
              </a:rPr>
              <a:t>Students answer in seconds</a:t>
            </a:r>
            <a:endParaRPr lang="en-US" sz="1400" dirty="0"/>
          </a:p>
        </p:txBody>
      </p:sp>
      <p:sp>
        <p:nvSpPr>
          <p:cNvPr id="8" name="Principle 2 circle"/>
          <p:cNvSpPr/>
          <p:nvPr/>
        </p:nvSpPr>
        <p:spPr>
          <a:xfrm>
            <a:off x="4389120" y="4343400"/>
            <a:ext cx="548640" cy="548640"/>
          </a:xfrm>
          <a:prstGeom prst="ellipse">
            <a:avLst/>
          </a:prstGeom>
          <a:solidFill>
            <a:schemeClr val="accent1"/>
          </a:solidFill>
          <a:ln w="12700">
            <a:solidFill>
              <a:schemeClr val="accent1"/>
            </a:solidFill>
            <a:prstDash val="solid"/>
          </a:ln>
        </p:spPr>
      </p:sp>
      <p:sp>
        <p:nvSpPr>
          <p:cNvPr id="9" name="Text 7"/>
          <p:cNvSpPr txBox="1"/>
          <p:nvPr/>
        </p:nvSpPr>
        <p:spPr>
          <a:xfrm>
            <a:off x="4389120" y="43434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Text 8"/>
          <p:cNvSpPr txBox="1"/>
          <p:nvPr/>
        </p:nvSpPr>
        <p:spPr>
          <a:xfrm>
            <a:off x="5120640" y="4315968"/>
            <a:ext cx="2743200" cy="320040"/>
          </a:xfrm>
          <a:prstGeom prst="rect">
            <a:avLst/>
          </a:prstGeom>
          <a:noFill/>
          <a:ln/>
        </p:spPr>
        <p:txBody>
          <a:bodyPr wrap="square" lIns="0" tIns="0" rIns="0" bIns="0" rtlCol="0" anchor="t"/>
          <a:lstStyle/>
          <a:p>
            <a:pPr indent="0" marL="0">
              <a:buNone/>
            </a:pPr>
            <a:r>
              <a:rPr lang="en-US" sz="1800" b="1" dirty="0">
                <a:solidFill>
                  <a:schemeClr val="bg1"/>
                </a:solidFill>
              </a:rPr>
              <a:t>Anonymous</a:t>
            </a:r>
            <a:endParaRPr lang="en-US" sz="1800" dirty="0"/>
          </a:p>
        </p:txBody>
      </p:sp>
      <p:sp>
        <p:nvSpPr>
          <p:cNvPr id="11" name="Text 9"/>
          <p:cNvSpPr txBox="1"/>
          <p:nvPr/>
        </p:nvSpPr>
        <p:spPr>
          <a:xfrm>
            <a:off x="5120640" y="4636008"/>
            <a:ext cx="2743200" cy="320040"/>
          </a:xfrm>
          <a:prstGeom prst="rect">
            <a:avLst/>
          </a:prstGeom>
          <a:noFill/>
          <a:ln/>
        </p:spPr>
        <p:txBody>
          <a:bodyPr wrap="square" lIns="0" tIns="0" rIns="0" bIns="0" rtlCol="0" anchor="t"/>
          <a:lstStyle/>
          <a:p>
            <a:pPr indent="0" marL="0">
              <a:buNone/>
            </a:pPr>
            <a:r>
              <a:rPr lang="en-US" sz="1400" dirty="0">
                <a:solidFill>
                  <a:schemeClr val="accent5"/>
                </a:solidFill>
              </a:rPr>
              <a:t>No fear of looking silly</a:t>
            </a:r>
            <a:endParaRPr lang="en-US" sz="1400" dirty="0"/>
          </a:p>
        </p:txBody>
      </p:sp>
      <p:sp>
        <p:nvSpPr>
          <p:cNvPr id="12" name="Principle 3 circle"/>
          <p:cNvSpPr/>
          <p:nvPr/>
        </p:nvSpPr>
        <p:spPr>
          <a:xfrm>
            <a:off x="8046720" y="4343400"/>
            <a:ext cx="548640" cy="548640"/>
          </a:xfrm>
          <a:prstGeom prst="ellipse">
            <a:avLst/>
          </a:prstGeom>
          <a:solidFill>
            <a:schemeClr val="accent1"/>
          </a:solidFill>
          <a:ln w="12700">
            <a:solidFill>
              <a:schemeClr val="accent1"/>
            </a:solidFill>
            <a:prstDash val="solid"/>
          </a:ln>
        </p:spPr>
      </p:sp>
      <p:sp>
        <p:nvSpPr>
          <p:cNvPr id="13" name="Text 11"/>
          <p:cNvSpPr txBox="1"/>
          <p:nvPr/>
        </p:nvSpPr>
        <p:spPr>
          <a:xfrm>
            <a:off x="8046720" y="43434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4" name="Text 12"/>
          <p:cNvSpPr txBox="1"/>
          <p:nvPr/>
        </p:nvSpPr>
        <p:spPr>
          <a:xfrm>
            <a:off x="8778240" y="4315968"/>
            <a:ext cx="2743200" cy="320040"/>
          </a:xfrm>
          <a:prstGeom prst="rect">
            <a:avLst/>
          </a:prstGeom>
          <a:noFill/>
          <a:ln/>
        </p:spPr>
        <p:txBody>
          <a:bodyPr wrap="square" lIns="0" tIns="0" rIns="0" bIns="0" rtlCol="0" anchor="t"/>
          <a:lstStyle/>
          <a:p>
            <a:pPr indent="0" marL="0">
              <a:buNone/>
            </a:pPr>
            <a:r>
              <a:rPr lang="en-US" sz="1800" b="1" dirty="0">
                <a:solidFill>
                  <a:schemeClr val="bg1"/>
                </a:solidFill>
              </a:rPr>
              <a:t>Coached one step at a time</a:t>
            </a:r>
            <a:endParaRPr lang="en-US" sz="1800" dirty="0"/>
          </a:p>
        </p:txBody>
      </p:sp>
      <p:sp>
        <p:nvSpPr>
          <p:cNvPr id="15" name="Text 13"/>
          <p:cNvSpPr txBox="1"/>
          <p:nvPr/>
        </p:nvSpPr>
        <p:spPr>
          <a:xfrm>
            <a:off x="8778240" y="4636008"/>
            <a:ext cx="2743200" cy="320040"/>
          </a:xfrm>
          <a:prstGeom prst="rect">
            <a:avLst/>
          </a:prstGeom>
          <a:noFill/>
          <a:ln/>
        </p:spPr>
        <p:txBody>
          <a:bodyPr wrap="square" lIns="0" tIns="0" rIns="0" bIns="0" rtlCol="0" anchor="t"/>
          <a:lstStyle/>
          <a:p>
            <a:pPr indent="0" marL="0">
              <a:buNone/>
            </a:pPr>
            <a:r>
              <a:rPr lang="en-US" sz="1400" dirty="0">
                <a:solidFill>
                  <a:schemeClr val="accent5"/>
                </a:solidFill>
              </a:rPr>
              <a:t>AI asks, the student fixes it</a:t>
            </a:r>
            <a:endParaRPr lang="en-US" sz="1400" dirty="0"/>
          </a:p>
        </p:txBody>
      </p:sp>
      <p:sp>
        <p:nvSpPr>
          <p:cNvPr id="16" name="Text 14"/>
          <p:cNvSpPr txBox="1"/>
          <p:nvPr/>
        </p:nvSpPr>
        <p:spPr>
          <a:xfrm>
            <a:off x="731520" y="6126480"/>
            <a:ext cx="7315200" cy="274320"/>
          </a:xfrm>
          <a:prstGeom prst="rect">
            <a:avLst/>
          </a:prstGeom>
          <a:noFill/>
          <a:ln/>
        </p:spPr>
        <p:txBody>
          <a:bodyPr wrap="square" lIns="0" tIns="0" rIns="0" bIns="0" rtlCol="0" anchor="t"/>
          <a:lstStyle/>
          <a:p>
            <a:pPr indent="0" marL="0">
              <a:buNone/>
            </a:pPr>
            <a:r>
              <a:rPr lang="en-US" sz="1200" dirty="0">
                <a:solidFill>
                  <a:schemeClr val="accent5"/>
                </a:solidFill>
              </a:rPr>
              <a:t>Vision prototype · Lesson 1: Writing Task 2, developing ideas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594360"/>
          </a:xfrm>
          <a:prstGeom prst="rect">
            <a:avLst/>
          </a:prstGeom>
          <a:noFill/>
          <a:ln/>
        </p:spPr>
        <p:txBody>
          <a:bodyPr wrap="square" lIns="0" tIns="0" rIns="0" bIns="0" rtlCol="0" anchor="ctr"/>
          <a:lstStyle/>
          <a:p>
            <a:pPr algn="l" indent="0" marL="0">
              <a:buNone/>
            </a:pPr>
            <a:r>
              <a:rPr lang="en-US" sz="3200" b="1" dirty="0">
                <a:solidFill>
                  <a:schemeClr val="tx1"/>
                </a:solidFill>
              </a:rPr>
              <a:t>One class, three moments</a:t>
            </a:r>
            <a:endParaRPr lang="en-US" sz="3200" dirty="0"/>
          </a:p>
        </p:txBody>
      </p:sp>
      <p:sp>
        <p:nvSpPr>
          <p:cNvPr id="3" name="Text 0"/>
          <p:cNvSpPr/>
          <p:nvPr>
            <p:ph idx="101" type="body" hasCustomPrompt="1"/>
          </p:nvPr>
        </p:nvSpPr>
        <p:spPr>
          <a:xfrm>
            <a:off x="457200" y="868680"/>
            <a:ext cx="11247120" cy="365760"/>
          </a:xfrm>
          <a:prstGeom prst="rect">
            <a:avLst/>
          </a:prstGeom>
          <a:noFill/>
          <a:ln/>
        </p:spPr>
        <p:txBody>
          <a:bodyPr wrap="square" lIns="0" tIns="0" rIns="0" bIns="0" rtlCol="0" anchor="ctr"/>
          <a:lstStyle/>
          <a:p>
            <a:pPr indent="0" marL="0">
              <a:buNone/>
            </a:pPr>
            <a:r>
              <a:rPr lang="en-US" sz="1600" dirty="0">
                <a:solidFill>
                  <a:schemeClr val="tx2"/>
                </a:solidFill>
              </a:rPr>
              <a:t>Before, during and after every livestream</a:t>
            </a:r>
            <a:endParaRPr lang="en-US" sz="1600" dirty="0"/>
          </a:p>
        </p:txBody>
      </p:sp>
      <p:sp>
        <p:nvSpPr>
          <p:cNvPr id="4" name="Before card"/>
          <p:cNvSpPr/>
          <p:nvPr/>
        </p:nvSpPr>
        <p:spPr>
          <a:xfrm>
            <a:off x="457200" y="1508760"/>
            <a:ext cx="2926080" cy="4754880"/>
          </a:xfrm>
          <a:prstGeom prst="roundRect">
            <a:avLst>
              <a:gd name="adj" fmla="val 3750"/>
            </a:avLst>
          </a:prstGeom>
          <a:solidFill>
            <a:schemeClr val="bg1"/>
          </a:solidFill>
          <a:ln w="12700">
            <a:solidFill>
              <a:schemeClr val="bg1"/>
            </a:solidFill>
            <a:prstDash val="solid"/>
          </a:ln>
          <a:effectLst>
            <a:outerShdw sx="100000" sy="100000" kx="0" ky="0" algn="bl" rotWithShape="0" blurRad="101600" dist="25400" dir="5400000">
              <a:srgbClr val="1A1B2E">
                <a:alpha val="12000"/>
              </a:srgbClr>
            </a:outerShdw>
          </a:effectLst>
        </p:spPr>
      </p:sp>
      <p:sp>
        <p:nvSpPr>
          <p:cNvPr id="5" name="Before number"/>
          <p:cNvSpPr/>
          <p:nvPr/>
        </p:nvSpPr>
        <p:spPr>
          <a:xfrm>
            <a:off x="685800" y="1737360"/>
            <a:ext cx="457200" cy="457200"/>
          </a:xfrm>
          <a:prstGeom prst="ellipse">
            <a:avLst/>
          </a:prstGeom>
          <a:solidFill>
            <a:schemeClr val="accent1"/>
          </a:solidFill>
          <a:ln w="12700">
            <a:solidFill>
              <a:schemeClr val="accent1"/>
            </a:solidFill>
            <a:prstDash val="solid"/>
          </a:ln>
        </p:spPr>
      </p:sp>
      <p:sp>
        <p:nvSpPr>
          <p:cNvPr id="6" name="Text 4"/>
          <p:cNvSpPr txBox="1"/>
          <p:nvPr/>
        </p:nvSpPr>
        <p:spPr>
          <a:xfrm>
            <a:off x="685800" y="17373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5"/>
          <p:cNvSpPr txBox="1"/>
          <p:nvPr/>
        </p:nvSpPr>
        <p:spPr>
          <a:xfrm>
            <a:off x="1280160" y="1719072"/>
            <a:ext cx="1920240" cy="292608"/>
          </a:xfrm>
          <a:prstGeom prst="rect">
            <a:avLst/>
          </a:prstGeom>
          <a:noFill/>
          <a:ln/>
        </p:spPr>
        <p:txBody>
          <a:bodyPr wrap="square" lIns="0" tIns="0" rIns="0" bIns="0" rtlCol="0" anchor="t"/>
          <a:lstStyle/>
          <a:p>
            <a:pPr indent="0" marL="0">
              <a:buNone/>
            </a:pPr>
            <a:r>
              <a:rPr lang="en-US" sz="2000" b="1" dirty="0">
                <a:solidFill>
                  <a:schemeClr val="tx1"/>
                </a:solidFill>
              </a:rPr>
              <a:t>Before</a:t>
            </a:r>
            <a:endParaRPr lang="en-US" sz="2000" dirty="0"/>
          </a:p>
        </p:txBody>
      </p:sp>
      <p:sp>
        <p:nvSpPr>
          <p:cNvPr id="8" name="Text 6"/>
          <p:cNvSpPr txBox="1"/>
          <p:nvPr/>
        </p:nvSpPr>
        <p:spPr>
          <a:xfrm>
            <a:off x="1280160" y="2011680"/>
            <a:ext cx="1920240" cy="256032"/>
          </a:xfrm>
          <a:prstGeom prst="rect">
            <a:avLst/>
          </a:prstGeom>
          <a:noFill/>
          <a:ln/>
        </p:spPr>
        <p:txBody>
          <a:bodyPr wrap="square" lIns="0" tIns="0" rIns="0" bIns="0" rtlCol="0" anchor="t"/>
          <a:lstStyle/>
          <a:p>
            <a:pPr indent="0" marL="0">
              <a:buNone/>
            </a:pPr>
            <a:r>
              <a:rPr lang="en-US" sz="1300" dirty="0">
                <a:solidFill>
                  <a:schemeClr val="tx2"/>
                </a:solidFill>
              </a:rPr>
              <a:t>~10 minutes</a:t>
            </a:r>
            <a:endParaRPr lang="en-US" sz="1300" dirty="0"/>
          </a:p>
        </p:txBody>
      </p:sp>
      <p:sp>
        <p:nvSpPr>
          <p:cNvPr id="9" name="During card"/>
          <p:cNvSpPr/>
          <p:nvPr/>
        </p:nvSpPr>
        <p:spPr>
          <a:xfrm>
            <a:off x="3840480" y="1508760"/>
            <a:ext cx="4663440" cy="4754880"/>
          </a:xfrm>
          <a:prstGeom prst="roundRect">
            <a:avLst>
              <a:gd name="adj" fmla="val 2353"/>
            </a:avLst>
          </a:prstGeom>
          <a:solidFill>
            <a:schemeClr val="bg1"/>
          </a:solidFill>
          <a:ln w="12700">
            <a:solidFill>
              <a:schemeClr val="bg1"/>
            </a:solidFill>
            <a:prstDash val="solid"/>
          </a:ln>
          <a:effectLst>
            <a:outerShdw sx="100000" sy="100000" kx="0" ky="0" algn="bl" rotWithShape="0" blurRad="101600" dist="25400" dir="5400000">
              <a:srgbClr val="1A1B2E">
                <a:alpha val="12000"/>
              </a:srgbClr>
            </a:outerShdw>
          </a:effectLst>
        </p:spPr>
      </p:sp>
      <p:sp>
        <p:nvSpPr>
          <p:cNvPr id="10" name="During number"/>
          <p:cNvSpPr/>
          <p:nvPr/>
        </p:nvSpPr>
        <p:spPr>
          <a:xfrm>
            <a:off x="4069080" y="1737360"/>
            <a:ext cx="457200" cy="457200"/>
          </a:xfrm>
          <a:prstGeom prst="ellipse">
            <a:avLst/>
          </a:prstGeom>
          <a:solidFill>
            <a:schemeClr val="accent1"/>
          </a:solidFill>
          <a:ln w="12700">
            <a:solidFill>
              <a:schemeClr val="accent1"/>
            </a:solidFill>
            <a:prstDash val="solid"/>
          </a:ln>
        </p:spPr>
      </p:sp>
      <p:sp>
        <p:nvSpPr>
          <p:cNvPr id="11" name="Text 9"/>
          <p:cNvSpPr txBox="1"/>
          <p:nvPr/>
        </p:nvSpPr>
        <p:spPr>
          <a:xfrm>
            <a:off x="4069080" y="17373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10"/>
          <p:cNvSpPr txBox="1"/>
          <p:nvPr/>
        </p:nvSpPr>
        <p:spPr>
          <a:xfrm>
            <a:off x="4663440" y="1719072"/>
            <a:ext cx="3657600" cy="292608"/>
          </a:xfrm>
          <a:prstGeom prst="rect">
            <a:avLst/>
          </a:prstGeom>
          <a:noFill/>
          <a:ln/>
        </p:spPr>
        <p:txBody>
          <a:bodyPr wrap="square" lIns="0" tIns="0" rIns="0" bIns="0" rtlCol="0" anchor="t"/>
          <a:lstStyle/>
          <a:p>
            <a:pPr indent="0" marL="0">
              <a:buNone/>
            </a:pPr>
            <a:r>
              <a:rPr lang="en-US" sz="2000" b="1" dirty="0">
                <a:solidFill>
                  <a:schemeClr val="tx1"/>
                </a:solidFill>
              </a:rPr>
              <a:t>During</a:t>
            </a:r>
            <a:endParaRPr lang="en-US" sz="2000" dirty="0"/>
          </a:p>
        </p:txBody>
      </p:sp>
      <p:sp>
        <p:nvSpPr>
          <p:cNvPr id="13" name="Text 11"/>
          <p:cNvSpPr txBox="1"/>
          <p:nvPr/>
        </p:nvSpPr>
        <p:spPr>
          <a:xfrm>
            <a:off x="4663440" y="2011680"/>
            <a:ext cx="3657600" cy="256032"/>
          </a:xfrm>
          <a:prstGeom prst="rect">
            <a:avLst/>
          </a:prstGeom>
          <a:noFill/>
          <a:ln/>
        </p:spPr>
        <p:txBody>
          <a:bodyPr wrap="square" lIns="0" tIns="0" rIns="0" bIns="0" rtlCol="0" anchor="t"/>
          <a:lstStyle/>
          <a:p>
            <a:pPr indent="0" marL="0">
              <a:buNone/>
            </a:pPr>
            <a:r>
              <a:rPr lang="en-US" sz="1300" dirty="0">
                <a:solidFill>
                  <a:schemeClr val="tx2"/>
                </a:solidFill>
              </a:rPr>
              <a:t>~1 hour, live</a:t>
            </a:r>
            <a:endParaRPr lang="en-US" sz="1300" dirty="0"/>
          </a:p>
        </p:txBody>
      </p:sp>
      <p:sp>
        <p:nvSpPr>
          <p:cNvPr id="14" name="After card"/>
          <p:cNvSpPr/>
          <p:nvPr/>
        </p:nvSpPr>
        <p:spPr>
          <a:xfrm>
            <a:off x="8961120" y="1508760"/>
            <a:ext cx="2770632" cy="4754880"/>
          </a:xfrm>
          <a:prstGeom prst="roundRect">
            <a:avLst>
              <a:gd name="adj" fmla="val 3960"/>
            </a:avLst>
          </a:prstGeom>
          <a:solidFill>
            <a:schemeClr val="bg1"/>
          </a:solidFill>
          <a:ln w="12700">
            <a:solidFill>
              <a:schemeClr val="bg1"/>
            </a:solidFill>
            <a:prstDash val="solid"/>
          </a:ln>
          <a:effectLst>
            <a:outerShdw sx="100000" sy="100000" kx="0" ky="0" algn="bl" rotWithShape="0" blurRad="101600" dist="25400" dir="5400000">
              <a:srgbClr val="1A1B2E">
                <a:alpha val="12000"/>
              </a:srgbClr>
            </a:outerShdw>
          </a:effectLst>
        </p:spPr>
      </p:sp>
      <p:sp>
        <p:nvSpPr>
          <p:cNvPr id="15" name="After number"/>
          <p:cNvSpPr/>
          <p:nvPr/>
        </p:nvSpPr>
        <p:spPr>
          <a:xfrm>
            <a:off x="9189720" y="1737360"/>
            <a:ext cx="457200" cy="457200"/>
          </a:xfrm>
          <a:prstGeom prst="ellipse">
            <a:avLst/>
          </a:prstGeom>
          <a:solidFill>
            <a:schemeClr val="accent1"/>
          </a:solidFill>
          <a:ln w="12700">
            <a:solidFill>
              <a:schemeClr val="accent1"/>
            </a:solidFill>
            <a:prstDash val="solid"/>
          </a:ln>
        </p:spPr>
      </p:sp>
      <p:sp>
        <p:nvSpPr>
          <p:cNvPr id="16" name="Text 14"/>
          <p:cNvSpPr txBox="1"/>
          <p:nvPr/>
        </p:nvSpPr>
        <p:spPr>
          <a:xfrm>
            <a:off x="9189720" y="17373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5"/>
          <p:cNvSpPr txBox="1"/>
          <p:nvPr/>
        </p:nvSpPr>
        <p:spPr>
          <a:xfrm>
            <a:off x="9784080" y="1719072"/>
            <a:ext cx="1764792" cy="292608"/>
          </a:xfrm>
          <a:prstGeom prst="rect">
            <a:avLst/>
          </a:prstGeom>
          <a:noFill/>
          <a:ln/>
        </p:spPr>
        <p:txBody>
          <a:bodyPr wrap="square" lIns="0" tIns="0" rIns="0" bIns="0" rtlCol="0" anchor="t"/>
          <a:lstStyle/>
          <a:p>
            <a:pPr indent="0" marL="0">
              <a:buNone/>
            </a:pPr>
            <a:r>
              <a:rPr lang="en-US" sz="2000" b="1" dirty="0">
                <a:solidFill>
                  <a:schemeClr val="tx1"/>
                </a:solidFill>
              </a:rPr>
              <a:t>After</a:t>
            </a:r>
            <a:endParaRPr lang="en-US" sz="2000" dirty="0"/>
          </a:p>
        </p:txBody>
      </p:sp>
      <p:sp>
        <p:nvSpPr>
          <p:cNvPr id="18" name="Text 16"/>
          <p:cNvSpPr txBox="1"/>
          <p:nvPr/>
        </p:nvSpPr>
        <p:spPr>
          <a:xfrm>
            <a:off x="9784080" y="2011680"/>
            <a:ext cx="1764792" cy="256032"/>
          </a:xfrm>
          <a:prstGeom prst="rect">
            <a:avLst/>
          </a:prstGeom>
          <a:noFill/>
          <a:ln/>
        </p:spPr>
        <p:txBody>
          <a:bodyPr wrap="square" lIns="0" tIns="0" rIns="0" bIns="0" rtlCol="0" anchor="t"/>
          <a:lstStyle/>
          <a:p>
            <a:pPr indent="0" marL="0">
              <a:buNone/>
            </a:pPr>
            <a:r>
              <a:rPr lang="en-US" sz="1300" dirty="0">
                <a:solidFill>
                  <a:schemeClr val="tx2"/>
                </a:solidFill>
              </a:rPr>
              <a:t>automatic</a:t>
            </a:r>
            <a:endParaRPr lang="en-US" sz="1300" dirty="0"/>
          </a:p>
        </p:txBody>
      </p:sp>
      <p:sp>
        <p:nvSpPr>
          <p:cNvPr id="19" name="Flow arrow"/>
          <p:cNvSpPr/>
          <p:nvPr/>
        </p:nvSpPr>
        <p:spPr>
          <a:xfrm>
            <a:off x="3447288" y="3703320"/>
            <a:ext cx="329184" cy="365760"/>
          </a:xfrm>
          <a:prstGeom prst="rightArrow">
            <a:avLst/>
          </a:prstGeom>
          <a:solidFill>
            <a:schemeClr val="accent5"/>
          </a:solidFill>
          <a:ln w="12700">
            <a:solidFill>
              <a:schemeClr val="accent5"/>
            </a:solidFill>
            <a:prstDash val="solid"/>
          </a:ln>
        </p:spPr>
      </p:sp>
      <p:sp>
        <p:nvSpPr>
          <p:cNvPr id="20" name="Flow arrow"/>
          <p:cNvSpPr/>
          <p:nvPr/>
        </p:nvSpPr>
        <p:spPr>
          <a:xfrm>
            <a:off x="8567928" y="3703320"/>
            <a:ext cx="329184" cy="365760"/>
          </a:xfrm>
          <a:prstGeom prst="rightArrow">
            <a:avLst/>
          </a:prstGeom>
          <a:solidFill>
            <a:schemeClr val="accent5"/>
          </a:solidFill>
          <a:ln w="12700">
            <a:solidFill>
              <a:schemeClr val="accent5"/>
            </a:solidFill>
            <a:prstDash val="solid"/>
          </a:ln>
        </p:spPr>
      </p:sp>
      <p:sp>
        <p:nvSpPr>
          <p:cNvPr id="21" name="Shape 19"/>
          <p:cNvSpPr/>
          <p:nvPr/>
        </p:nvSpPr>
        <p:spPr>
          <a:xfrm>
            <a:off x="685800" y="2514600"/>
            <a:ext cx="2468880" cy="3520440"/>
          </a:xfrm>
          <a:prstGeom prst="roundRect">
            <a:avLst>
              <a:gd name="adj" fmla="val 2963"/>
            </a:avLst>
          </a:prstGeom>
          <a:solidFill>
            <a:schemeClr val="accent1">
              <a:alpha val="8000"/>
            </a:schemeClr>
          </a:solidFill>
          <a:ln w="12700">
            <a:solidFill>
              <a:schemeClr val="bg1"/>
            </a:solidFill>
            <a:prstDash val="solid"/>
          </a:ln>
        </p:spPr>
      </p:sp>
      <p:sp>
        <p:nvSpPr>
          <p:cNvPr id="22" name="Text 20"/>
          <p:cNvSpPr txBox="1"/>
          <p:nvPr/>
        </p:nvSpPr>
        <p:spPr>
          <a:xfrm>
            <a:off x="868680" y="2651760"/>
            <a:ext cx="2103120" cy="292608"/>
          </a:xfrm>
          <a:prstGeom prst="rect">
            <a:avLst/>
          </a:prstGeom>
          <a:noFill/>
          <a:ln/>
        </p:spPr>
        <p:txBody>
          <a:bodyPr wrap="square" lIns="0" tIns="0" rIns="0" bIns="0" rtlCol="0" anchor="t"/>
          <a:lstStyle/>
          <a:p>
            <a:pPr indent="0" marL="0">
              <a:buNone/>
            </a:pPr>
            <a:r>
              <a:rPr lang="en-US" sz="1600" b="1" dirty="0">
                <a:solidFill>
                  <a:schemeClr val="accent1"/>
                </a:solidFill>
              </a:rPr>
              <a:t>Lesson builder</a:t>
            </a:r>
            <a:endParaRPr lang="en-US" sz="1600" dirty="0"/>
          </a:p>
        </p:txBody>
      </p:sp>
      <p:sp>
        <p:nvSpPr>
          <p:cNvPr id="23" name="Text 21"/>
          <p:cNvSpPr txBox="1"/>
          <p:nvPr/>
        </p:nvSpPr>
        <p:spPr>
          <a:xfrm>
            <a:off x="868680" y="3017520"/>
            <a:ext cx="2148840" cy="28346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Teacher pastes a new essay prompt</a:t>
            </a:r>
            <a:endParaRPr lang="en-US" sz="1400" dirty="0"/>
          </a:p>
          <a:p>
            <a:pPr marL="342900" indent="-342900">
              <a:spcAft>
                <a:spcPts val="800"/>
              </a:spcAft>
              <a:buSzPct val="100000"/>
              <a:buChar char="•"/>
            </a:pPr>
            <a:r>
              <a:rPr lang="en-US" sz="1400" dirty="0">
                <a:solidFill>
                  <a:schemeClr val="tx1"/>
                </a:solidFill>
              </a:rPr>
              <a:t>AI drafts the ideas, model sentences and likely mistakes</a:t>
            </a:r>
            <a:endParaRPr lang="en-US" sz="1400" dirty="0"/>
          </a:p>
          <a:p>
            <a:pPr marL="342900" indent="-342900">
              <a:spcAft>
                <a:spcPts val="800"/>
              </a:spcAft>
              <a:buSzPct val="100000"/>
              <a:buChar char="•"/>
            </a:pPr>
            <a:r>
              <a:rPr lang="en-US" sz="1400" dirty="0">
                <a:solidFill>
                  <a:schemeClr val="tx1"/>
                </a:solidFill>
              </a:rPr>
              <a:t>Teacher checks and approves</a:t>
            </a:r>
            <a:endParaRPr lang="en-US" sz="1400" dirty="0"/>
          </a:p>
        </p:txBody>
      </p:sp>
      <p:sp>
        <p:nvSpPr>
          <p:cNvPr id="24" name="Shape 22"/>
          <p:cNvSpPr/>
          <p:nvPr/>
        </p:nvSpPr>
        <p:spPr>
          <a:xfrm>
            <a:off x="4069080" y="2514600"/>
            <a:ext cx="1965960" cy="1417320"/>
          </a:xfrm>
          <a:prstGeom prst="roundRect">
            <a:avLst>
              <a:gd name="adj" fmla="val 5161"/>
            </a:avLst>
          </a:prstGeom>
          <a:solidFill>
            <a:schemeClr val="accent1">
              <a:alpha val="12000"/>
            </a:schemeClr>
          </a:solidFill>
          <a:ln w="12700">
            <a:solidFill>
              <a:schemeClr val="bg1"/>
            </a:solidFill>
            <a:prstDash val="solid"/>
          </a:ln>
        </p:spPr>
      </p:sp>
      <p:sp>
        <p:nvSpPr>
          <p:cNvPr id="25" name="Text 23"/>
          <p:cNvSpPr txBox="1"/>
          <p:nvPr/>
        </p:nvSpPr>
        <p:spPr>
          <a:xfrm>
            <a:off x="4206240" y="2624328"/>
            <a:ext cx="1737360" cy="274320"/>
          </a:xfrm>
          <a:prstGeom prst="rect">
            <a:avLst/>
          </a:prstGeom>
          <a:noFill/>
          <a:ln/>
        </p:spPr>
        <p:txBody>
          <a:bodyPr wrap="square" lIns="0" tIns="0" rIns="0" bIns="0" rtlCol="0" anchor="t"/>
          <a:lstStyle/>
          <a:p>
            <a:pPr indent="0" marL="0">
              <a:buNone/>
            </a:pPr>
            <a:r>
              <a:rPr lang="en-US" sz="1400" b="1" dirty="0">
                <a:solidFill>
                  <a:schemeClr val="accent1"/>
                </a:solidFill>
              </a:rPr>
              <a:t>Teacher</a:t>
            </a:r>
            <a:endParaRPr lang="en-US" sz="1400" dirty="0"/>
          </a:p>
        </p:txBody>
      </p:sp>
      <p:sp>
        <p:nvSpPr>
          <p:cNvPr id="26" name="Text 24"/>
          <p:cNvSpPr txBox="1"/>
          <p:nvPr/>
        </p:nvSpPr>
        <p:spPr>
          <a:xfrm>
            <a:off x="4206240" y="2926080"/>
            <a:ext cx="1737360" cy="914400"/>
          </a:xfrm>
          <a:prstGeom prst="rect">
            <a:avLst/>
          </a:prstGeom>
          <a:noFill/>
          <a:ln/>
        </p:spPr>
        <p:txBody>
          <a:bodyPr wrap="square" lIns="0" tIns="0" rIns="0" bIns="0" rtlCol="0" anchor="t"/>
          <a:lstStyle/>
          <a:p>
            <a:pPr indent="0" marL="0">
              <a:buNone/>
            </a:pPr>
            <a:r>
              <a:rPr lang="en-US" sz="1200" dirty="0">
                <a:solidFill>
                  <a:schemeClr val="tx1"/>
                </a:solidFill>
              </a:rPr>
              <a:t>Teaches on the stream</a:t>
            </a:r>
            <a:endParaRPr lang="en-US" sz="1200" dirty="0"/>
          </a:p>
        </p:txBody>
      </p:sp>
      <p:sp>
        <p:nvSpPr>
          <p:cNvPr id="27" name="Shape 25"/>
          <p:cNvSpPr/>
          <p:nvPr/>
        </p:nvSpPr>
        <p:spPr>
          <a:xfrm>
            <a:off x="6355080" y="2514600"/>
            <a:ext cx="1965960" cy="1417320"/>
          </a:xfrm>
          <a:prstGeom prst="roundRect">
            <a:avLst>
              <a:gd name="adj" fmla="val 5161"/>
            </a:avLst>
          </a:prstGeom>
          <a:solidFill>
            <a:schemeClr val="accent6">
              <a:alpha val="12000"/>
            </a:schemeClr>
          </a:solidFill>
          <a:ln w="12700">
            <a:solidFill>
              <a:schemeClr val="bg1"/>
            </a:solidFill>
            <a:prstDash val="solid"/>
          </a:ln>
        </p:spPr>
      </p:sp>
      <p:sp>
        <p:nvSpPr>
          <p:cNvPr id="28" name="Text 26"/>
          <p:cNvSpPr txBox="1"/>
          <p:nvPr/>
        </p:nvSpPr>
        <p:spPr>
          <a:xfrm>
            <a:off x="6492240" y="2624328"/>
            <a:ext cx="1737360" cy="274320"/>
          </a:xfrm>
          <a:prstGeom prst="rect">
            <a:avLst/>
          </a:prstGeom>
          <a:noFill/>
          <a:ln/>
        </p:spPr>
        <p:txBody>
          <a:bodyPr wrap="square" lIns="0" tIns="0" rIns="0" bIns="0" rtlCol="0" anchor="t"/>
          <a:lstStyle/>
          <a:p>
            <a:pPr indent="0" marL="0">
              <a:buNone/>
            </a:pPr>
            <a:r>
              <a:rPr lang="en-US" sz="1400" b="1" dirty="0">
                <a:solidFill>
                  <a:schemeClr val="accent6"/>
                </a:solidFill>
              </a:rPr>
              <a:t>Students</a:t>
            </a:r>
            <a:endParaRPr lang="en-US" sz="1400" dirty="0"/>
          </a:p>
        </p:txBody>
      </p:sp>
      <p:sp>
        <p:nvSpPr>
          <p:cNvPr id="29" name="Text 27"/>
          <p:cNvSpPr txBox="1"/>
          <p:nvPr/>
        </p:nvSpPr>
        <p:spPr>
          <a:xfrm>
            <a:off x="6492240" y="2926080"/>
            <a:ext cx="1737360" cy="914400"/>
          </a:xfrm>
          <a:prstGeom prst="rect">
            <a:avLst/>
          </a:prstGeom>
          <a:noFill/>
          <a:ln/>
        </p:spPr>
        <p:txBody>
          <a:bodyPr wrap="square" lIns="0" tIns="0" rIns="0" bIns="0" rtlCol="0" anchor="t"/>
          <a:lstStyle/>
          <a:p>
            <a:pPr indent="0" marL="0">
              <a:buNone/>
            </a:pPr>
            <a:r>
              <a:rPr lang="en-US" sz="1200" dirty="0">
                <a:solidFill>
                  <a:schemeClr val="tx1"/>
                </a:solidFill>
              </a:rPr>
              <a:t>Tap or write on their phone</a:t>
            </a:r>
            <a:endParaRPr lang="en-US" sz="1200" dirty="0"/>
          </a:p>
        </p:txBody>
      </p:sp>
      <p:sp>
        <p:nvSpPr>
          <p:cNvPr id="30" name="Shape 28"/>
          <p:cNvSpPr/>
          <p:nvPr/>
        </p:nvSpPr>
        <p:spPr>
          <a:xfrm>
            <a:off x="6355080" y="4617720"/>
            <a:ext cx="1965960" cy="1417320"/>
          </a:xfrm>
          <a:prstGeom prst="roundRect">
            <a:avLst>
              <a:gd name="adj" fmla="val 5161"/>
            </a:avLst>
          </a:prstGeom>
          <a:solidFill>
            <a:schemeClr val="accent4">
              <a:alpha val="12000"/>
            </a:schemeClr>
          </a:solidFill>
          <a:ln w="12700">
            <a:solidFill>
              <a:schemeClr val="bg1"/>
            </a:solidFill>
            <a:prstDash val="solid"/>
          </a:ln>
        </p:spPr>
      </p:sp>
      <p:sp>
        <p:nvSpPr>
          <p:cNvPr id="31" name="Text 29"/>
          <p:cNvSpPr txBox="1"/>
          <p:nvPr/>
        </p:nvSpPr>
        <p:spPr>
          <a:xfrm>
            <a:off x="6492240" y="4727448"/>
            <a:ext cx="1737360" cy="274320"/>
          </a:xfrm>
          <a:prstGeom prst="rect">
            <a:avLst/>
          </a:prstGeom>
          <a:noFill/>
          <a:ln/>
        </p:spPr>
        <p:txBody>
          <a:bodyPr wrap="square" lIns="0" tIns="0" rIns="0" bIns="0" rtlCol="0" anchor="t"/>
          <a:lstStyle/>
          <a:p>
            <a:pPr indent="0" marL="0">
              <a:buNone/>
            </a:pPr>
            <a:r>
              <a:rPr lang="en-US" sz="1400" b="1" dirty="0">
                <a:solidFill>
                  <a:schemeClr val="accent4"/>
                </a:solidFill>
              </a:rPr>
              <a:t>AI tutor</a:t>
            </a:r>
            <a:endParaRPr lang="en-US" sz="1400" dirty="0"/>
          </a:p>
        </p:txBody>
      </p:sp>
      <p:sp>
        <p:nvSpPr>
          <p:cNvPr id="32" name="Text 30"/>
          <p:cNvSpPr txBox="1"/>
          <p:nvPr/>
        </p:nvSpPr>
        <p:spPr>
          <a:xfrm>
            <a:off x="6492240" y="5029200"/>
            <a:ext cx="1737360" cy="914400"/>
          </a:xfrm>
          <a:prstGeom prst="rect">
            <a:avLst/>
          </a:prstGeom>
          <a:noFill/>
          <a:ln/>
        </p:spPr>
        <p:txBody>
          <a:bodyPr wrap="square" lIns="0" tIns="0" rIns="0" bIns="0" rtlCol="0" anchor="t"/>
          <a:lstStyle/>
          <a:p>
            <a:pPr indent="0" marL="0">
              <a:buNone/>
            </a:pPr>
            <a:r>
              <a:rPr lang="en-US" sz="1200" dirty="0">
                <a:solidFill>
                  <a:schemeClr val="tx1"/>
                </a:solidFill>
              </a:rPr>
              <a:t>Coaches each student, one question at a time</a:t>
            </a:r>
            <a:endParaRPr lang="en-US" sz="1200" dirty="0"/>
          </a:p>
        </p:txBody>
      </p:sp>
      <p:sp>
        <p:nvSpPr>
          <p:cNvPr id="33" name="Shape 31"/>
          <p:cNvSpPr/>
          <p:nvPr/>
        </p:nvSpPr>
        <p:spPr>
          <a:xfrm>
            <a:off x="4069080" y="4617720"/>
            <a:ext cx="1965960" cy="1417320"/>
          </a:xfrm>
          <a:prstGeom prst="roundRect">
            <a:avLst>
              <a:gd name="adj" fmla="val 5161"/>
            </a:avLst>
          </a:prstGeom>
          <a:solidFill>
            <a:schemeClr val="accent2">
              <a:alpha val="12000"/>
            </a:schemeClr>
          </a:solidFill>
          <a:ln w="12700">
            <a:solidFill>
              <a:schemeClr val="bg1"/>
            </a:solidFill>
            <a:prstDash val="solid"/>
          </a:ln>
        </p:spPr>
      </p:sp>
      <p:sp>
        <p:nvSpPr>
          <p:cNvPr id="34" name="Text 32"/>
          <p:cNvSpPr txBox="1"/>
          <p:nvPr/>
        </p:nvSpPr>
        <p:spPr>
          <a:xfrm>
            <a:off x="4206240" y="4727448"/>
            <a:ext cx="1737360" cy="274320"/>
          </a:xfrm>
          <a:prstGeom prst="rect">
            <a:avLst/>
          </a:prstGeom>
          <a:noFill/>
          <a:ln/>
        </p:spPr>
        <p:txBody>
          <a:bodyPr wrap="square" lIns="0" tIns="0" rIns="0" bIns="0" rtlCol="0" anchor="t"/>
          <a:lstStyle/>
          <a:p>
            <a:pPr indent="0" marL="0">
              <a:buNone/>
            </a:pPr>
            <a:r>
              <a:rPr lang="en-US" sz="1400" b="1" dirty="0">
                <a:solidFill>
                  <a:schemeClr val="accent2"/>
                </a:solidFill>
              </a:rPr>
              <a:t>Dashboard</a:t>
            </a:r>
            <a:endParaRPr lang="en-US" sz="1400" dirty="0"/>
          </a:p>
        </p:txBody>
      </p:sp>
      <p:sp>
        <p:nvSpPr>
          <p:cNvPr id="35" name="Text 33"/>
          <p:cNvSpPr txBox="1"/>
          <p:nvPr/>
        </p:nvSpPr>
        <p:spPr>
          <a:xfrm>
            <a:off x="4206240" y="5029200"/>
            <a:ext cx="1737360" cy="914400"/>
          </a:xfrm>
          <a:prstGeom prst="rect">
            <a:avLst/>
          </a:prstGeom>
          <a:noFill/>
          <a:ln/>
        </p:spPr>
        <p:txBody>
          <a:bodyPr wrap="square" lIns="0" tIns="0" rIns="0" bIns="0" rtlCol="0" anchor="t"/>
          <a:lstStyle/>
          <a:p>
            <a:pPr indent="0" marL="0">
              <a:buNone/>
            </a:pPr>
            <a:r>
              <a:rPr lang="en-US" sz="1200" dirty="0">
                <a:solidFill>
                  <a:schemeClr val="tx1"/>
                </a:solidFill>
              </a:rPr>
              <a:t>Shows the teacher what the class needs</a:t>
            </a:r>
            <a:endParaRPr lang="en-US" sz="1200" dirty="0"/>
          </a:p>
        </p:txBody>
      </p:sp>
      <p:sp>
        <p:nvSpPr>
          <p:cNvPr id="36" name="Loop arrow"/>
          <p:cNvSpPr/>
          <p:nvPr/>
        </p:nvSpPr>
        <p:spPr>
          <a:xfrm>
            <a:off x="6053328" y="3218688"/>
            <a:ext cx="283464" cy="0"/>
          </a:xfrm>
          <a:prstGeom prst="line">
            <a:avLst/>
          </a:prstGeom>
          <a:noFill/>
          <a:ln w="25400">
            <a:solidFill>
              <a:schemeClr val="tx2"/>
            </a:solidFill>
            <a:prstDash val="solid"/>
            <a:tailEnd type="triangle"/>
          </a:ln>
        </p:spPr>
      </p:sp>
      <p:sp>
        <p:nvSpPr>
          <p:cNvPr id="37" name="Loop arrow"/>
          <p:cNvSpPr/>
          <p:nvPr/>
        </p:nvSpPr>
        <p:spPr>
          <a:xfrm>
            <a:off x="7333488" y="3950208"/>
            <a:ext cx="0" cy="640080"/>
          </a:xfrm>
          <a:prstGeom prst="line">
            <a:avLst/>
          </a:prstGeom>
          <a:noFill/>
          <a:ln w="25400">
            <a:solidFill>
              <a:schemeClr val="tx2"/>
            </a:solidFill>
            <a:prstDash val="solid"/>
            <a:tailEnd type="triangle"/>
          </a:ln>
        </p:spPr>
      </p:sp>
      <p:sp>
        <p:nvSpPr>
          <p:cNvPr id="38" name="Loop arrow"/>
          <p:cNvSpPr/>
          <p:nvPr/>
        </p:nvSpPr>
        <p:spPr>
          <a:xfrm flipH="1">
            <a:off x="6071616" y="5321808"/>
            <a:ext cx="265176" cy="0"/>
          </a:xfrm>
          <a:prstGeom prst="line">
            <a:avLst/>
          </a:prstGeom>
          <a:noFill/>
          <a:ln w="25400">
            <a:solidFill>
              <a:schemeClr val="tx2"/>
            </a:solidFill>
            <a:prstDash val="solid"/>
            <a:tailEnd type="triangle"/>
          </a:ln>
        </p:spPr>
      </p:sp>
      <p:sp>
        <p:nvSpPr>
          <p:cNvPr id="39" name="Loop arrow"/>
          <p:cNvSpPr/>
          <p:nvPr/>
        </p:nvSpPr>
        <p:spPr>
          <a:xfrm flipV="1">
            <a:off x="5047488" y="3950208"/>
            <a:ext cx="0" cy="640080"/>
          </a:xfrm>
          <a:prstGeom prst="line">
            <a:avLst/>
          </a:prstGeom>
          <a:noFill/>
          <a:ln w="25400">
            <a:solidFill>
              <a:schemeClr val="tx2"/>
            </a:solidFill>
            <a:prstDash val="solid"/>
            <a:tailEnd type="triangle"/>
          </a:ln>
        </p:spPr>
      </p:sp>
      <p:sp>
        <p:nvSpPr>
          <p:cNvPr id="40" name="Shape 38"/>
          <p:cNvSpPr/>
          <p:nvPr/>
        </p:nvSpPr>
        <p:spPr>
          <a:xfrm>
            <a:off x="9189720" y="2514600"/>
            <a:ext cx="2313432" cy="3520440"/>
          </a:xfrm>
          <a:prstGeom prst="roundRect">
            <a:avLst>
              <a:gd name="adj" fmla="val 3162"/>
            </a:avLst>
          </a:prstGeom>
          <a:solidFill>
            <a:schemeClr val="accent3">
              <a:alpha val="10000"/>
            </a:schemeClr>
          </a:solidFill>
          <a:ln w="12700">
            <a:solidFill>
              <a:schemeClr val="bg1"/>
            </a:solidFill>
            <a:prstDash val="solid"/>
          </a:ln>
        </p:spPr>
      </p:sp>
      <p:sp>
        <p:nvSpPr>
          <p:cNvPr id="41" name="Text 39"/>
          <p:cNvSpPr txBox="1"/>
          <p:nvPr/>
        </p:nvSpPr>
        <p:spPr>
          <a:xfrm>
            <a:off x="9372600" y="2651760"/>
            <a:ext cx="2011680" cy="292608"/>
          </a:xfrm>
          <a:prstGeom prst="rect">
            <a:avLst/>
          </a:prstGeom>
          <a:noFill/>
          <a:ln/>
        </p:spPr>
        <p:txBody>
          <a:bodyPr wrap="square" lIns="0" tIns="0" rIns="0" bIns="0" rtlCol="0" anchor="t"/>
          <a:lstStyle/>
          <a:p>
            <a:pPr indent="0" marL="0">
              <a:buNone/>
            </a:pPr>
            <a:r>
              <a:rPr lang="en-US" sz="1600" b="1" dirty="0">
                <a:solidFill>
                  <a:schemeClr val="accent3"/>
                </a:solidFill>
              </a:rPr>
              <a:t>Recap page</a:t>
            </a:r>
            <a:endParaRPr lang="en-US" sz="1600" dirty="0"/>
          </a:p>
        </p:txBody>
      </p:sp>
      <p:sp>
        <p:nvSpPr>
          <p:cNvPr id="42" name="Text 40"/>
          <p:cNvSpPr txBox="1"/>
          <p:nvPr/>
        </p:nvSpPr>
        <p:spPr>
          <a:xfrm>
            <a:off x="9372600" y="3017520"/>
            <a:ext cx="2011680" cy="28346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One page per student, by anh Đậu</a:t>
            </a:r>
            <a:endParaRPr lang="en-US" sz="1400" dirty="0"/>
          </a:p>
          <a:p>
            <a:pPr marL="342900" indent="-342900">
              <a:spcAft>
                <a:spcPts val="800"/>
              </a:spcAft>
              <a:buSzPct val="100000"/>
              <a:buChar char="•"/>
            </a:pPr>
            <a:r>
              <a:rPr lang="en-US" sz="1400" dirty="0">
                <a:solidFill>
                  <a:schemeClr val="tx1"/>
                </a:solidFill>
              </a:rPr>
              <a:t>Their side, sentences and paragraph</a:t>
            </a:r>
            <a:endParaRPr lang="en-US" sz="1400" dirty="0"/>
          </a:p>
          <a:p>
            <a:pPr marL="342900" indent="-342900">
              <a:spcAft>
                <a:spcPts val="800"/>
              </a:spcAft>
              <a:buSzPct val="100000"/>
              <a:buChar char="•"/>
            </a:pPr>
            <a:r>
              <a:rPr lang="en-US" sz="1400" dirty="0">
                <a:solidFill>
                  <a:schemeClr val="tx1"/>
                </a:solidFill>
              </a:rPr>
              <a:t>The one mistake to remember</a:t>
            </a:r>
            <a:endParaRPr lang="en-US" sz="140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594360"/>
          </a:xfrm>
          <a:prstGeom prst="rect">
            <a:avLst/>
          </a:prstGeom>
          <a:noFill/>
          <a:ln/>
        </p:spPr>
        <p:txBody>
          <a:bodyPr wrap="square" lIns="0" tIns="0" rIns="0" bIns="0" rtlCol="0" anchor="ctr"/>
          <a:lstStyle/>
          <a:p>
            <a:pPr algn="l" indent="0" marL="0">
              <a:buNone/>
            </a:pPr>
            <a:r>
              <a:rPr lang="en-US" sz="3200" b="1" dirty="0">
                <a:solidFill>
                  <a:schemeClr val="tx1"/>
                </a:solidFill>
              </a:rPr>
              <a:t>Before class: the lesson builder</a:t>
            </a:r>
            <a:endParaRPr lang="en-US" sz="3200" dirty="0"/>
          </a:p>
        </p:txBody>
      </p:sp>
      <p:sp>
        <p:nvSpPr>
          <p:cNvPr id="3" name="Text 0"/>
          <p:cNvSpPr/>
          <p:nvPr>
            <p:ph idx="101" type="body" hasCustomPrompt="1"/>
          </p:nvPr>
        </p:nvSpPr>
        <p:spPr>
          <a:xfrm>
            <a:off x="457200" y="868680"/>
            <a:ext cx="11247120" cy="365760"/>
          </a:xfrm>
          <a:prstGeom prst="rect">
            <a:avLst/>
          </a:prstGeom>
          <a:noFill/>
          <a:ln/>
        </p:spPr>
        <p:txBody>
          <a:bodyPr wrap="square" lIns="0" tIns="0" rIns="0" bIns="0" rtlCol="0" anchor="ctr"/>
          <a:lstStyle/>
          <a:p>
            <a:pPr indent="0" marL="0">
              <a:buNone/>
            </a:pPr>
            <a:r>
              <a:rPr lang="en-US" sz="1600" dirty="0">
                <a:solidFill>
                  <a:schemeClr val="tx2"/>
                </a:solidFill>
              </a:rPr>
              <a:t>Same teaching framework every class. Only the essay prompt changes, so prep takes ~10 minutes</a:t>
            </a:r>
            <a:endParaRPr lang="en-US" sz="1600" dirty="0"/>
          </a:p>
        </p:txBody>
      </p:sp>
      <p:sp>
        <p:nvSpPr>
          <p:cNvPr id="4" name="Builder frame"/>
          <p:cNvSpPr/>
          <p:nvPr/>
        </p:nvSpPr>
        <p:spPr>
          <a:xfrm>
            <a:off x="457200" y="1417320"/>
            <a:ext cx="11274552" cy="4892040"/>
          </a:xfrm>
          <a:prstGeom prst="roundRect">
            <a:avLst>
              <a:gd name="adj" fmla="val 2243"/>
            </a:avLst>
          </a:prstGeom>
          <a:solidFill>
            <a:schemeClr val="bg1"/>
          </a:solidFill>
          <a:ln w="12700">
            <a:solidFill>
              <a:schemeClr val="bg1"/>
            </a:solidFill>
            <a:prstDash val="solid"/>
          </a:ln>
          <a:effectLst>
            <a:outerShdw sx="100000" sy="100000" kx="0" ky="0" algn="bl" rotWithShape="0" blurRad="101600" dist="25400" dir="5400000">
              <a:srgbClr val="1A1B2E">
                <a:alpha val="12000"/>
              </a:srgbClr>
            </a:outerShdw>
          </a:effectLst>
        </p:spPr>
      </p:sp>
      <p:sp>
        <p:nvSpPr>
          <p:cNvPr id="5" name="Text 3"/>
          <p:cNvSpPr txBox="1"/>
          <p:nvPr/>
        </p:nvSpPr>
        <p:spPr>
          <a:xfrm>
            <a:off x="731520" y="1645920"/>
            <a:ext cx="3566160" cy="292608"/>
          </a:xfrm>
          <a:prstGeom prst="rect">
            <a:avLst/>
          </a:prstGeom>
          <a:noFill/>
          <a:ln/>
        </p:spPr>
        <p:txBody>
          <a:bodyPr wrap="square" lIns="0" tIns="0" rIns="0" bIns="0" rtlCol="0" anchor="t"/>
          <a:lstStyle/>
          <a:p>
            <a:pPr indent="0" marL="0">
              <a:buNone/>
            </a:pPr>
            <a:r>
              <a:rPr lang="en-US" sz="1600" b="1" dirty="0">
                <a:solidFill>
                  <a:schemeClr val="tx1"/>
                </a:solidFill>
              </a:rPr>
              <a:t>1. Paste the essay prompt</a:t>
            </a:r>
            <a:endParaRPr lang="en-US" sz="1600" dirty="0"/>
          </a:p>
        </p:txBody>
      </p:sp>
      <p:sp>
        <p:nvSpPr>
          <p:cNvPr id="6" name="Shape 4"/>
          <p:cNvSpPr/>
          <p:nvPr/>
        </p:nvSpPr>
        <p:spPr>
          <a:xfrm>
            <a:off x="731520" y="2057400"/>
            <a:ext cx="3566160" cy="2103120"/>
          </a:xfrm>
          <a:prstGeom prst="roundRect">
            <a:avLst>
              <a:gd name="adj" fmla="val 3478"/>
            </a:avLst>
          </a:prstGeom>
          <a:solidFill>
            <a:schemeClr val="bg1"/>
          </a:solidFill>
          <a:ln w="12700">
            <a:solidFill>
              <a:schemeClr val="accent5"/>
            </a:solidFill>
            <a:prstDash val="solid"/>
          </a:ln>
        </p:spPr>
      </p:sp>
      <p:sp>
        <p:nvSpPr>
          <p:cNvPr id="7" name="Text 5"/>
          <p:cNvSpPr txBox="1"/>
          <p:nvPr/>
        </p:nvSpPr>
        <p:spPr>
          <a:xfrm>
            <a:off x="896112" y="2194560"/>
            <a:ext cx="3246120" cy="1828800"/>
          </a:xfrm>
          <a:prstGeom prst="rect">
            <a:avLst/>
          </a:prstGeom>
          <a:noFill/>
          <a:ln/>
        </p:spPr>
        <p:txBody>
          <a:bodyPr wrap="square" lIns="0" tIns="0" rIns="0" bIns="0" rtlCol="0" anchor="t"/>
          <a:lstStyle/>
          <a:p>
            <a:pPr indent="0" marL="0">
              <a:buNone/>
            </a:pPr>
            <a:r>
              <a:rPr lang="en-US" sz="1400" dirty="0">
                <a:solidFill>
                  <a:schemeClr val="tx1"/>
                </a:solidFill>
              </a:rPr>
              <a:t>Some people think governments should spend more on public transport, while others think they should build more roads. Discuss both views and give your own opinion.</a:t>
            </a:r>
            <a:endParaRPr lang="en-US" sz="1400" dirty="0"/>
          </a:p>
        </p:txBody>
      </p:sp>
      <p:sp>
        <p:nvSpPr>
          <p:cNvPr id="8" name="Draft button"/>
          <p:cNvSpPr/>
          <p:nvPr/>
        </p:nvSpPr>
        <p:spPr>
          <a:xfrm>
            <a:off x="731520" y="4343400"/>
            <a:ext cx="3566160" cy="457200"/>
          </a:xfrm>
          <a:prstGeom prst="roundRect">
            <a:avLst>
              <a:gd name="adj" fmla="val 50000"/>
            </a:avLst>
          </a:prstGeom>
          <a:solidFill>
            <a:schemeClr val="accent1"/>
          </a:solidFill>
          <a:ln w="12700">
            <a:solidFill>
              <a:schemeClr val="bg1"/>
            </a:solidFill>
            <a:prstDash val="solid"/>
          </a:ln>
        </p:spPr>
      </p:sp>
      <p:sp>
        <p:nvSpPr>
          <p:cNvPr id="9" name="Text 7"/>
          <p:cNvSpPr txBox="1"/>
          <p:nvPr/>
        </p:nvSpPr>
        <p:spPr>
          <a:xfrm>
            <a:off x="731520" y="4343400"/>
            <a:ext cx="3566160" cy="457200"/>
          </a:xfrm>
          <a:prstGeom prst="rect">
            <a:avLst/>
          </a:prstGeom>
          <a:noFill/>
          <a:ln/>
        </p:spPr>
        <p:txBody>
          <a:bodyPr wrap="square" lIns="0" tIns="0" rIns="0" bIns="0" rtlCol="0" anchor="ctr"/>
          <a:lstStyle/>
          <a:p>
            <a:pPr algn="ctr" indent="0" marL="0">
              <a:buNone/>
            </a:pPr>
            <a:r>
              <a:rPr lang="en-US" sz="1400" b="1" dirty="0">
                <a:solidFill>
                  <a:schemeClr val="bg1"/>
                </a:solidFill>
              </a:rPr>
              <a:t>Draft the lesson →</a:t>
            </a:r>
            <a:endParaRPr lang="en-US" sz="1400" dirty="0"/>
          </a:p>
        </p:txBody>
      </p:sp>
      <p:sp>
        <p:nvSpPr>
          <p:cNvPr id="10" name="Text 8"/>
          <p:cNvSpPr txBox="1"/>
          <p:nvPr/>
        </p:nvSpPr>
        <p:spPr>
          <a:xfrm>
            <a:off x="731520" y="5029200"/>
            <a:ext cx="3566160" cy="1005840"/>
          </a:xfrm>
          <a:prstGeom prst="rect">
            <a:avLst/>
          </a:prstGeom>
          <a:noFill/>
          <a:ln/>
        </p:spPr>
        <p:txBody>
          <a:bodyPr wrap="square" lIns="0" tIns="0" rIns="0" bIns="0" rtlCol="0" anchor="t"/>
          <a:lstStyle/>
          <a:p>
            <a:pPr indent="0" marL="0">
              <a:buNone/>
            </a:pPr>
            <a:r>
              <a:rPr lang="en-US" sz="1200" dirty="0">
                <a:solidFill>
                  <a:schemeClr val="tx2"/>
                </a:solidFill>
              </a:rPr>
              <a:t>The framework stays the same:</a:t>
            </a:r>
            <a:endParaRPr lang="en-US" sz="1200" dirty="0"/>
          </a:p>
          <a:p>
            <a:pPr indent="0" marL="0">
              <a:buNone/>
            </a:pPr>
            <a:r>
              <a:rPr lang="en-US" sz="1200" dirty="0">
                <a:solidFill>
                  <a:schemeClr val="tx2"/>
                </a:solidFill>
              </a:rPr>
              <a:t>pick a side → topic sentence → benefits → Impact / Explain / Example → paragraph</a:t>
            </a:r>
            <a:endParaRPr lang="en-US" sz="1200" dirty="0"/>
          </a:p>
        </p:txBody>
      </p:sp>
      <p:sp>
        <p:nvSpPr>
          <p:cNvPr id="11" name="Text 9"/>
          <p:cNvSpPr txBox="1"/>
          <p:nvPr/>
        </p:nvSpPr>
        <p:spPr>
          <a:xfrm>
            <a:off x="4663440" y="1645920"/>
            <a:ext cx="6766560" cy="292608"/>
          </a:xfrm>
          <a:prstGeom prst="rect">
            <a:avLst/>
          </a:prstGeom>
          <a:noFill/>
          <a:ln/>
        </p:spPr>
        <p:txBody>
          <a:bodyPr wrap="square" lIns="0" tIns="0" rIns="0" bIns="0" rtlCol="0" anchor="t"/>
          <a:lstStyle/>
          <a:p>
            <a:pPr indent="0" marL="0">
              <a:buNone/>
            </a:pPr>
            <a:r>
              <a:rPr lang="en-US" sz="1600" b="1" dirty="0">
                <a:solidFill>
                  <a:schemeClr val="tx1"/>
                </a:solidFill>
              </a:rPr>
              <a:t>2. Check what AI drafted, then approve</a:t>
            </a:r>
            <a:endParaRPr lang="en-US" sz="1600" dirty="0"/>
          </a:p>
        </p:txBody>
      </p:sp>
      <p:sp>
        <p:nvSpPr>
          <p:cNvPr id="12" name="Shape 10"/>
          <p:cNvSpPr/>
          <p:nvPr/>
        </p:nvSpPr>
        <p:spPr>
          <a:xfrm>
            <a:off x="4663440" y="2057400"/>
            <a:ext cx="6812280" cy="566928"/>
          </a:xfrm>
          <a:prstGeom prst="roundRect">
            <a:avLst>
              <a:gd name="adj" fmla="val 12903"/>
            </a:avLst>
          </a:prstGeom>
          <a:solidFill>
            <a:schemeClr val="accent3">
              <a:alpha val="8000"/>
            </a:schemeClr>
          </a:solidFill>
          <a:ln w="12700">
            <a:solidFill>
              <a:schemeClr val="bg1"/>
            </a:solidFill>
            <a:prstDash val="solid"/>
          </a:ln>
        </p:spPr>
      </p:sp>
      <p:sp>
        <p:nvSpPr>
          <p:cNvPr id="13" name="Approve tick"/>
          <p:cNvSpPr/>
          <p:nvPr/>
        </p:nvSpPr>
        <p:spPr>
          <a:xfrm>
            <a:off x="4800600" y="2203704"/>
            <a:ext cx="274320" cy="274320"/>
          </a:xfrm>
          <a:prstGeom prst="ellipse">
            <a:avLst/>
          </a:prstGeom>
          <a:solidFill>
            <a:schemeClr val="accent3"/>
          </a:solidFill>
          <a:ln w="15875">
            <a:solidFill>
              <a:schemeClr val="accent3"/>
            </a:solidFill>
            <a:prstDash val="solid"/>
          </a:ln>
        </p:spPr>
      </p:sp>
      <p:sp>
        <p:nvSpPr>
          <p:cNvPr id="14" name="Text 12"/>
          <p:cNvSpPr txBox="1"/>
          <p:nvPr/>
        </p:nvSpPr>
        <p:spPr>
          <a:xfrm>
            <a:off x="4800600" y="2203704"/>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a:t>
            </a:r>
            <a:endParaRPr lang="en-US" sz="1200" dirty="0"/>
          </a:p>
        </p:txBody>
      </p:sp>
      <p:sp>
        <p:nvSpPr>
          <p:cNvPr id="15" name="Text 13"/>
          <p:cNvSpPr txBox="1"/>
          <p:nvPr/>
        </p:nvSpPr>
        <p:spPr>
          <a:xfrm>
            <a:off x="5257800" y="2130552"/>
            <a:ext cx="2103120" cy="420624"/>
          </a:xfrm>
          <a:prstGeom prst="rect">
            <a:avLst/>
          </a:prstGeom>
          <a:noFill/>
          <a:ln/>
        </p:spPr>
        <p:txBody>
          <a:bodyPr wrap="square" lIns="0" tIns="0" rIns="0" bIns="0" rtlCol="0" anchor="ctr"/>
          <a:lstStyle/>
          <a:p>
            <a:pPr indent="0" marL="0">
              <a:buNone/>
            </a:pPr>
            <a:r>
              <a:rPr lang="en-US" sz="1400" b="1" dirty="0">
                <a:solidFill>
                  <a:schemeClr val="tx1"/>
                </a:solidFill>
              </a:rPr>
              <a:t>Two sides</a:t>
            </a:r>
            <a:endParaRPr lang="en-US" sz="1400" dirty="0"/>
          </a:p>
        </p:txBody>
      </p:sp>
      <p:sp>
        <p:nvSpPr>
          <p:cNvPr id="16" name="Text 14"/>
          <p:cNvSpPr txBox="1"/>
          <p:nvPr/>
        </p:nvSpPr>
        <p:spPr>
          <a:xfrm>
            <a:off x="7406640" y="2130552"/>
            <a:ext cx="3931920" cy="420624"/>
          </a:xfrm>
          <a:prstGeom prst="rect">
            <a:avLst/>
          </a:prstGeom>
          <a:noFill/>
          <a:ln/>
        </p:spPr>
        <p:txBody>
          <a:bodyPr wrap="square" lIns="0" tIns="0" rIns="0" bIns="0" rtlCol="0" anchor="ctr"/>
          <a:lstStyle/>
          <a:p>
            <a:pPr indent="0" marL="0">
              <a:buNone/>
            </a:pPr>
            <a:r>
              <a:rPr lang="en-US" sz="1200" dirty="0">
                <a:solidFill>
                  <a:schemeClr val="tx2"/>
                </a:solidFill>
              </a:rPr>
              <a:t>Public transport  ·  More roads</a:t>
            </a:r>
            <a:endParaRPr lang="en-US" sz="1200" dirty="0"/>
          </a:p>
        </p:txBody>
      </p:sp>
      <p:sp>
        <p:nvSpPr>
          <p:cNvPr id="17" name="Shape 15"/>
          <p:cNvSpPr/>
          <p:nvPr/>
        </p:nvSpPr>
        <p:spPr>
          <a:xfrm>
            <a:off x="4663440" y="2724912"/>
            <a:ext cx="6812280" cy="566928"/>
          </a:xfrm>
          <a:prstGeom prst="roundRect">
            <a:avLst>
              <a:gd name="adj" fmla="val 12903"/>
            </a:avLst>
          </a:prstGeom>
          <a:solidFill>
            <a:schemeClr val="accent3">
              <a:alpha val="8000"/>
            </a:schemeClr>
          </a:solidFill>
          <a:ln w="12700">
            <a:solidFill>
              <a:schemeClr val="bg1"/>
            </a:solidFill>
            <a:prstDash val="solid"/>
          </a:ln>
        </p:spPr>
      </p:sp>
      <p:sp>
        <p:nvSpPr>
          <p:cNvPr id="18" name="Approve tick"/>
          <p:cNvSpPr/>
          <p:nvPr/>
        </p:nvSpPr>
        <p:spPr>
          <a:xfrm>
            <a:off x="4800600" y="2871216"/>
            <a:ext cx="274320" cy="274320"/>
          </a:xfrm>
          <a:prstGeom prst="ellipse">
            <a:avLst/>
          </a:prstGeom>
          <a:solidFill>
            <a:schemeClr val="accent3"/>
          </a:solidFill>
          <a:ln w="15875">
            <a:solidFill>
              <a:schemeClr val="accent3"/>
            </a:solidFill>
            <a:prstDash val="solid"/>
          </a:ln>
        </p:spPr>
      </p:sp>
      <p:sp>
        <p:nvSpPr>
          <p:cNvPr id="19" name="Text 17"/>
          <p:cNvSpPr txBox="1"/>
          <p:nvPr/>
        </p:nvSpPr>
        <p:spPr>
          <a:xfrm>
            <a:off x="4800600" y="2871216"/>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a:t>
            </a:r>
            <a:endParaRPr lang="en-US" sz="1200" dirty="0"/>
          </a:p>
        </p:txBody>
      </p:sp>
      <p:sp>
        <p:nvSpPr>
          <p:cNvPr id="20" name="Text 18"/>
          <p:cNvSpPr txBox="1"/>
          <p:nvPr/>
        </p:nvSpPr>
        <p:spPr>
          <a:xfrm>
            <a:off x="5257800" y="2798064"/>
            <a:ext cx="2103120" cy="420624"/>
          </a:xfrm>
          <a:prstGeom prst="rect">
            <a:avLst/>
          </a:prstGeom>
          <a:noFill/>
          <a:ln/>
        </p:spPr>
        <p:txBody>
          <a:bodyPr wrap="square" lIns="0" tIns="0" rIns="0" bIns="0" rtlCol="0" anchor="ctr"/>
          <a:lstStyle/>
          <a:p>
            <a:pPr indent="0" marL="0">
              <a:buNone/>
            </a:pPr>
            <a:r>
              <a:rPr lang="en-US" sz="1400" b="1" dirty="0">
                <a:solidFill>
                  <a:schemeClr val="tx1"/>
                </a:solidFill>
              </a:rPr>
              <a:t>Gợi ý ideas</a:t>
            </a:r>
            <a:endParaRPr lang="en-US" sz="1400" dirty="0"/>
          </a:p>
        </p:txBody>
      </p:sp>
      <p:sp>
        <p:nvSpPr>
          <p:cNvPr id="21" name="Text 19"/>
          <p:cNvSpPr txBox="1"/>
          <p:nvPr/>
        </p:nvSpPr>
        <p:spPr>
          <a:xfrm>
            <a:off x="7406640" y="2798064"/>
            <a:ext cx="3931920" cy="420624"/>
          </a:xfrm>
          <a:prstGeom prst="rect">
            <a:avLst/>
          </a:prstGeom>
          <a:noFill/>
          <a:ln/>
        </p:spPr>
        <p:txBody>
          <a:bodyPr wrap="square" lIns="0" tIns="0" rIns="0" bIns="0" rtlCol="0" anchor="ctr"/>
          <a:lstStyle/>
          <a:p>
            <a:pPr indent="0" marL="0">
              <a:buNone/>
            </a:pPr>
            <a:r>
              <a:rPr lang="en-US" sz="1200" dirty="0">
                <a:solidFill>
                  <a:schemeClr val="tx2"/>
                </a:solidFill>
              </a:rPr>
              <a:t>4 per side, e.g. “cuts traffic jams”, “cleaner air”</a:t>
            </a:r>
            <a:endParaRPr lang="en-US" sz="1200" dirty="0"/>
          </a:p>
        </p:txBody>
      </p:sp>
      <p:sp>
        <p:nvSpPr>
          <p:cNvPr id="22" name="Shape 20"/>
          <p:cNvSpPr/>
          <p:nvPr/>
        </p:nvSpPr>
        <p:spPr>
          <a:xfrm>
            <a:off x="4663440" y="3392424"/>
            <a:ext cx="6812280" cy="566928"/>
          </a:xfrm>
          <a:prstGeom prst="roundRect">
            <a:avLst>
              <a:gd name="adj" fmla="val 12903"/>
            </a:avLst>
          </a:prstGeom>
          <a:solidFill>
            <a:schemeClr val="accent3">
              <a:alpha val="8000"/>
            </a:schemeClr>
          </a:solidFill>
          <a:ln w="12700">
            <a:solidFill>
              <a:schemeClr val="bg1"/>
            </a:solidFill>
            <a:prstDash val="solid"/>
          </a:ln>
        </p:spPr>
      </p:sp>
      <p:sp>
        <p:nvSpPr>
          <p:cNvPr id="23" name="Approve tick"/>
          <p:cNvSpPr/>
          <p:nvPr/>
        </p:nvSpPr>
        <p:spPr>
          <a:xfrm>
            <a:off x="4800600" y="3538728"/>
            <a:ext cx="274320" cy="274320"/>
          </a:xfrm>
          <a:prstGeom prst="ellipse">
            <a:avLst/>
          </a:prstGeom>
          <a:solidFill>
            <a:schemeClr val="accent3"/>
          </a:solidFill>
          <a:ln w="15875">
            <a:solidFill>
              <a:schemeClr val="accent3"/>
            </a:solidFill>
            <a:prstDash val="solid"/>
          </a:ln>
        </p:spPr>
      </p:sp>
      <p:sp>
        <p:nvSpPr>
          <p:cNvPr id="24" name="Text 22"/>
          <p:cNvSpPr txBox="1"/>
          <p:nvPr/>
        </p:nvSpPr>
        <p:spPr>
          <a:xfrm>
            <a:off x="4800600" y="3538728"/>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a:t>
            </a:r>
            <a:endParaRPr lang="en-US" sz="1200" dirty="0"/>
          </a:p>
        </p:txBody>
      </p:sp>
      <p:sp>
        <p:nvSpPr>
          <p:cNvPr id="25" name="Text 23"/>
          <p:cNvSpPr txBox="1"/>
          <p:nvPr/>
        </p:nvSpPr>
        <p:spPr>
          <a:xfrm>
            <a:off x="5257800" y="3465576"/>
            <a:ext cx="2103120" cy="420624"/>
          </a:xfrm>
          <a:prstGeom prst="rect">
            <a:avLst/>
          </a:prstGeom>
          <a:noFill/>
          <a:ln/>
        </p:spPr>
        <p:txBody>
          <a:bodyPr wrap="square" lIns="0" tIns="0" rIns="0" bIns="0" rtlCol="0" anchor="ctr"/>
          <a:lstStyle/>
          <a:p>
            <a:pPr indent="0" marL="0">
              <a:buNone/>
            </a:pPr>
            <a:r>
              <a:rPr lang="en-US" sz="1400" b="1" dirty="0">
                <a:solidFill>
                  <a:schemeClr val="tx1"/>
                </a:solidFill>
              </a:rPr>
              <a:t>Model topic sentences</a:t>
            </a:r>
            <a:endParaRPr lang="en-US" sz="1400" dirty="0"/>
          </a:p>
        </p:txBody>
      </p:sp>
      <p:sp>
        <p:nvSpPr>
          <p:cNvPr id="26" name="Text 24"/>
          <p:cNvSpPr txBox="1"/>
          <p:nvPr/>
        </p:nvSpPr>
        <p:spPr>
          <a:xfrm>
            <a:off x="7406640" y="3465576"/>
            <a:ext cx="3931920" cy="420624"/>
          </a:xfrm>
          <a:prstGeom prst="rect">
            <a:avLst/>
          </a:prstGeom>
          <a:noFill/>
          <a:ln/>
        </p:spPr>
        <p:txBody>
          <a:bodyPr wrap="square" lIns="0" tIns="0" rIns="0" bIns="0" rtlCol="0" anchor="ctr"/>
          <a:lstStyle/>
          <a:p>
            <a:pPr indent="0" marL="0">
              <a:buNone/>
            </a:pPr>
            <a:r>
              <a:rPr lang="en-US" sz="1200" dirty="0">
                <a:solidFill>
                  <a:schemeClr val="tx2"/>
                </a:solidFill>
              </a:rPr>
              <a:t>One per side, using the template</a:t>
            </a:r>
            <a:endParaRPr lang="en-US" sz="1200" dirty="0"/>
          </a:p>
        </p:txBody>
      </p:sp>
      <p:sp>
        <p:nvSpPr>
          <p:cNvPr id="27" name="Shape 25"/>
          <p:cNvSpPr/>
          <p:nvPr/>
        </p:nvSpPr>
        <p:spPr>
          <a:xfrm>
            <a:off x="4663440" y="4059936"/>
            <a:ext cx="6812280" cy="566928"/>
          </a:xfrm>
          <a:prstGeom prst="roundRect">
            <a:avLst>
              <a:gd name="adj" fmla="val 12903"/>
            </a:avLst>
          </a:prstGeom>
          <a:solidFill>
            <a:schemeClr val="accent3">
              <a:alpha val="8000"/>
            </a:schemeClr>
          </a:solidFill>
          <a:ln w="12700">
            <a:solidFill>
              <a:schemeClr val="bg1"/>
            </a:solidFill>
            <a:prstDash val="solid"/>
          </a:ln>
        </p:spPr>
      </p:sp>
      <p:sp>
        <p:nvSpPr>
          <p:cNvPr id="28" name="Approve tick"/>
          <p:cNvSpPr/>
          <p:nvPr/>
        </p:nvSpPr>
        <p:spPr>
          <a:xfrm>
            <a:off x="4800600" y="4206240"/>
            <a:ext cx="274320" cy="274320"/>
          </a:xfrm>
          <a:prstGeom prst="ellipse">
            <a:avLst/>
          </a:prstGeom>
          <a:solidFill>
            <a:schemeClr val="accent3"/>
          </a:solidFill>
          <a:ln w="15875">
            <a:solidFill>
              <a:schemeClr val="accent3"/>
            </a:solidFill>
            <a:prstDash val="solid"/>
          </a:ln>
        </p:spPr>
      </p:sp>
      <p:sp>
        <p:nvSpPr>
          <p:cNvPr id="29" name="Text 27"/>
          <p:cNvSpPr txBox="1"/>
          <p:nvPr/>
        </p:nvSpPr>
        <p:spPr>
          <a:xfrm>
            <a:off x="4800600" y="4206240"/>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a:t>
            </a:r>
            <a:endParaRPr lang="en-US" sz="1200" dirty="0"/>
          </a:p>
        </p:txBody>
      </p:sp>
      <p:sp>
        <p:nvSpPr>
          <p:cNvPr id="30" name="Text 28"/>
          <p:cNvSpPr txBox="1"/>
          <p:nvPr/>
        </p:nvSpPr>
        <p:spPr>
          <a:xfrm>
            <a:off x="5257800" y="4133088"/>
            <a:ext cx="2103120" cy="420624"/>
          </a:xfrm>
          <a:prstGeom prst="rect">
            <a:avLst/>
          </a:prstGeom>
          <a:noFill/>
          <a:ln/>
        </p:spPr>
        <p:txBody>
          <a:bodyPr wrap="square" lIns="0" tIns="0" rIns="0" bIns="0" rtlCol="0" anchor="ctr"/>
          <a:lstStyle/>
          <a:p>
            <a:pPr indent="0" marL="0">
              <a:buNone/>
            </a:pPr>
            <a:r>
              <a:rPr lang="en-US" sz="1400" b="1" dirty="0">
                <a:solidFill>
                  <a:schemeClr val="tx1"/>
                </a:solidFill>
              </a:rPr>
              <a:t>Accepted versions of X</a:t>
            </a:r>
            <a:endParaRPr lang="en-US" sz="1400" dirty="0"/>
          </a:p>
        </p:txBody>
      </p:sp>
      <p:sp>
        <p:nvSpPr>
          <p:cNvPr id="31" name="Text 29"/>
          <p:cNvSpPr txBox="1"/>
          <p:nvPr/>
        </p:nvSpPr>
        <p:spPr>
          <a:xfrm>
            <a:off x="7406640" y="4133088"/>
            <a:ext cx="3931920" cy="420624"/>
          </a:xfrm>
          <a:prstGeom prst="rect">
            <a:avLst/>
          </a:prstGeom>
          <a:noFill/>
          <a:ln/>
        </p:spPr>
        <p:txBody>
          <a:bodyPr wrap="square" lIns="0" tIns="0" rIns="0" bIns="0" rtlCol="0" anchor="ctr"/>
          <a:lstStyle/>
          <a:p>
            <a:pPr indent="0" marL="0">
              <a:buNone/>
            </a:pPr>
            <a:r>
              <a:rPr lang="en-US" sz="1200" dirty="0">
                <a:solidFill>
                  <a:schemeClr val="tx2"/>
                </a:solidFill>
              </a:rPr>
              <a:t>“spending more on public transport”, “investing in buses and trains” …</a:t>
            </a:r>
            <a:endParaRPr lang="en-US" sz="1200" dirty="0"/>
          </a:p>
        </p:txBody>
      </p:sp>
      <p:sp>
        <p:nvSpPr>
          <p:cNvPr id="32" name="Shape 30"/>
          <p:cNvSpPr/>
          <p:nvPr/>
        </p:nvSpPr>
        <p:spPr>
          <a:xfrm>
            <a:off x="4663440" y="4727448"/>
            <a:ext cx="6812280" cy="566928"/>
          </a:xfrm>
          <a:prstGeom prst="roundRect">
            <a:avLst>
              <a:gd name="adj" fmla="val 12903"/>
            </a:avLst>
          </a:prstGeom>
          <a:solidFill>
            <a:schemeClr val="bg2"/>
          </a:solidFill>
          <a:ln w="12700">
            <a:solidFill>
              <a:schemeClr val="bg1"/>
            </a:solidFill>
            <a:prstDash val="solid"/>
          </a:ln>
        </p:spPr>
      </p:sp>
      <p:sp>
        <p:nvSpPr>
          <p:cNvPr id="33" name="Approve tick"/>
          <p:cNvSpPr/>
          <p:nvPr/>
        </p:nvSpPr>
        <p:spPr>
          <a:xfrm>
            <a:off x="4800600" y="4873752"/>
            <a:ext cx="274320" cy="274320"/>
          </a:xfrm>
          <a:prstGeom prst="ellipse">
            <a:avLst/>
          </a:prstGeom>
          <a:solidFill>
            <a:schemeClr val="bg1"/>
          </a:solidFill>
          <a:ln w="15875">
            <a:solidFill>
              <a:schemeClr val="accent5"/>
            </a:solidFill>
            <a:prstDash val="solid"/>
          </a:ln>
        </p:spPr>
      </p:sp>
      <p:sp>
        <p:nvSpPr>
          <p:cNvPr id="34" name="Text 32"/>
          <p:cNvSpPr txBox="1"/>
          <p:nvPr/>
        </p:nvSpPr>
        <p:spPr>
          <a:xfrm>
            <a:off x="5257800" y="4800600"/>
            <a:ext cx="2103120" cy="420624"/>
          </a:xfrm>
          <a:prstGeom prst="rect">
            <a:avLst/>
          </a:prstGeom>
          <a:noFill/>
          <a:ln/>
        </p:spPr>
        <p:txBody>
          <a:bodyPr wrap="square" lIns="0" tIns="0" rIns="0" bIns="0" rtlCol="0" anchor="ctr"/>
          <a:lstStyle/>
          <a:p>
            <a:pPr indent="0" marL="0">
              <a:buNone/>
            </a:pPr>
            <a:r>
              <a:rPr lang="en-US" sz="1400" b="1" dirty="0">
                <a:solidFill>
                  <a:schemeClr val="tx1"/>
                </a:solidFill>
              </a:rPr>
              <a:t>Model developments</a:t>
            </a:r>
            <a:endParaRPr lang="en-US" sz="1400" dirty="0"/>
          </a:p>
        </p:txBody>
      </p:sp>
      <p:sp>
        <p:nvSpPr>
          <p:cNvPr id="35" name="Text 33"/>
          <p:cNvSpPr txBox="1"/>
          <p:nvPr/>
        </p:nvSpPr>
        <p:spPr>
          <a:xfrm>
            <a:off x="7406640" y="4800600"/>
            <a:ext cx="3931920" cy="420624"/>
          </a:xfrm>
          <a:prstGeom prst="rect">
            <a:avLst/>
          </a:prstGeom>
          <a:noFill/>
          <a:ln/>
        </p:spPr>
        <p:txBody>
          <a:bodyPr wrap="square" lIns="0" tIns="0" rIns="0" bIns="0" rtlCol="0" anchor="ctr"/>
          <a:lstStyle/>
          <a:p>
            <a:pPr indent="0" marL="0">
              <a:buNone/>
            </a:pPr>
            <a:r>
              <a:rPr lang="en-US" sz="1200" dirty="0">
                <a:solidFill>
                  <a:schemeClr val="tx2"/>
                </a:solidFill>
              </a:rPr>
              <a:t>Impact · Explain · Example, for each side</a:t>
            </a:r>
            <a:endParaRPr lang="en-US" sz="1200" dirty="0"/>
          </a:p>
        </p:txBody>
      </p:sp>
      <p:sp>
        <p:nvSpPr>
          <p:cNvPr id="36" name="Shape 34"/>
          <p:cNvSpPr/>
          <p:nvPr/>
        </p:nvSpPr>
        <p:spPr>
          <a:xfrm>
            <a:off x="4663440" y="5394960"/>
            <a:ext cx="6812280" cy="566928"/>
          </a:xfrm>
          <a:prstGeom prst="roundRect">
            <a:avLst>
              <a:gd name="adj" fmla="val 12903"/>
            </a:avLst>
          </a:prstGeom>
          <a:solidFill>
            <a:schemeClr val="bg2"/>
          </a:solidFill>
          <a:ln w="12700">
            <a:solidFill>
              <a:schemeClr val="bg1"/>
            </a:solidFill>
            <a:prstDash val="solid"/>
          </a:ln>
        </p:spPr>
      </p:sp>
      <p:sp>
        <p:nvSpPr>
          <p:cNvPr id="37" name="Approve tick"/>
          <p:cNvSpPr/>
          <p:nvPr/>
        </p:nvSpPr>
        <p:spPr>
          <a:xfrm>
            <a:off x="4800600" y="5541264"/>
            <a:ext cx="274320" cy="274320"/>
          </a:xfrm>
          <a:prstGeom prst="ellipse">
            <a:avLst/>
          </a:prstGeom>
          <a:solidFill>
            <a:schemeClr val="bg1"/>
          </a:solidFill>
          <a:ln w="15875">
            <a:solidFill>
              <a:schemeClr val="accent5"/>
            </a:solidFill>
            <a:prstDash val="solid"/>
          </a:ln>
        </p:spPr>
      </p:sp>
      <p:sp>
        <p:nvSpPr>
          <p:cNvPr id="38" name="Text 36"/>
          <p:cNvSpPr txBox="1"/>
          <p:nvPr/>
        </p:nvSpPr>
        <p:spPr>
          <a:xfrm>
            <a:off x="5257800" y="5468112"/>
            <a:ext cx="2103120" cy="420624"/>
          </a:xfrm>
          <a:prstGeom prst="rect">
            <a:avLst/>
          </a:prstGeom>
          <a:noFill/>
          <a:ln/>
        </p:spPr>
        <p:txBody>
          <a:bodyPr wrap="square" lIns="0" tIns="0" rIns="0" bIns="0" rtlCol="0" anchor="ctr"/>
          <a:lstStyle/>
          <a:p>
            <a:pPr indent="0" marL="0">
              <a:buNone/>
            </a:pPr>
            <a:r>
              <a:rPr lang="en-US" sz="1400" b="1" dirty="0">
                <a:solidFill>
                  <a:schemeClr val="tx1"/>
                </a:solidFill>
              </a:rPr>
              <a:t>Expected mistakes</a:t>
            </a:r>
            <a:endParaRPr lang="en-US" sz="1400" dirty="0"/>
          </a:p>
        </p:txBody>
      </p:sp>
      <p:sp>
        <p:nvSpPr>
          <p:cNvPr id="39" name="Text 37"/>
          <p:cNvSpPr txBox="1"/>
          <p:nvPr/>
        </p:nvSpPr>
        <p:spPr>
          <a:xfrm>
            <a:off x="7406640" y="5468112"/>
            <a:ext cx="3931920" cy="420624"/>
          </a:xfrm>
          <a:prstGeom prst="rect">
            <a:avLst/>
          </a:prstGeom>
          <a:noFill/>
          <a:ln/>
        </p:spPr>
        <p:txBody>
          <a:bodyPr wrap="square" lIns="0" tIns="0" rIns="0" bIns="0" rtlCol="0" anchor="ctr"/>
          <a:lstStyle/>
          <a:p>
            <a:pPr indent="0" marL="0">
              <a:buNone/>
            </a:pPr>
            <a:r>
              <a:rPr lang="en-US" sz="1200" dirty="0">
                <a:solidFill>
                  <a:schemeClr val="tx2"/>
                </a:solidFill>
              </a:rPr>
              <a:t>12 carried over from past classes + 3 new for this topic</a:t>
            </a:r>
            <a:endParaRPr lang="en-US" sz="120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594360"/>
          </a:xfrm>
          <a:prstGeom prst="rect">
            <a:avLst/>
          </a:prstGeom>
          <a:noFill/>
          <a:ln/>
        </p:spPr>
        <p:txBody>
          <a:bodyPr wrap="square" lIns="0" tIns="0" rIns="0" bIns="0" rtlCol="0" anchor="ctr"/>
          <a:lstStyle/>
          <a:p>
            <a:pPr algn="l" indent="0" marL="0">
              <a:buNone/>
            </a:pPr>
            <a:r>
              <a:rPr lang="en-US" sz="3200" b="1" dirty="0">
                <a:solidFill>
                  <a:schemeClr val="tx1"/>
                </a:solidFill>
              </a:rPr>
              <a:t>Step 1 · Pick a side</a:t>
            </a:r>
            <a:endParaRPr lang="en-US" sz="3200" dirty="0"/>
          </a:p>
        </p:txBody>
      </p:sp>
      <p:sp>
        <p:nvSpPr>
          <p:cNvPr id="3" name="Text 0"/>
          <p:cNvSpPr/>
          <p:nvPr>
            <p:ph idx="101" type="body" hasCustomPrompt="1"/>
          </p:nvPr>
        </p:nvSpPr>
        <p:spPr>
          <a:xfrm>
            <a:off x="457200" y="868680"/>
            <a:ext cx="11247120" cy="365760"/>
          </a:xfrm>
          <a:prstGeom prst="rect">
            <a:avLst/>
          </a:prstGeom>
          <a:noFill/>
          <a:ln/>
        </p:spPr>
        <p:txBody>
          <a:bodyPr wrap="square" lIns="0" tIns="0" rIns="0" bIns="0" rtlCol="0" anchor="ctr"/>
          <a:lstStyle/>
          <a:p>
            <a:pPr indent="0" marL="0">
              <a:buNone/>
            </a:pPr>
            <a:r>
              <a:rPr lang="en-US" sz="1600" dirty="0">
                <a:solidFill>
                  <a:schemeClr val="tx2"/>
                </a:solidFill>
              </a:rPr>
              <a:t>One tap. The choice is saved, so the AI tutor knows what each student is writing about</a:t>
            </a:r>
            <a:endParaRPr lang="en-US" sz="1600" dirty="0"/>
          </a:p>
        </p:txBody>
      </p:sp>
      <p:sp>
        <p:nvSpPr>
          <p:cNvPr id="4" name="Label: student"/>
          <p:cNvSpPr txBox="1"/>
          <p:nvPr/>
        </p:nvSpPr>
        <p:spPr>
          <a:xfrm>
            <a:off x="685800" y="1325880"/>
            <a:ext cx="292608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WHAT THE STUDENT SEES</a:t>
            </a:r>
            <a:endParaRPr lang="en-US" sz="1100" dirty="0"/>
          </a:p>
        </p:txBody>
      </p:sp>
      <p:sp>
        <p:nvSpPr>
          <p:cNvPr id="5" name="Label: teacher"/>
          <p:cNvSpPr txBox="1"/>
          <p:nvPr/>
        </p:nvSpPr>
        <p:spPr>
          <a:xfrm>
            <a:off x="4069080" y="1325880"/>
            <a:ext cx="548640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WHAT THE TEACHER SEES</a:t>
            </a:r>
            <a:endParaRPr lang="en-US" sz="1100" dirty="0"/>
          </a:p>
        </p:txBody>
      </p:sp>
      <p:sp>
        <p:nvSpPr>
          <p:cNvPr id="6" name="Phone frame"/>
          <p:cNvSpPr/>
          <p:nvPr/>
        </p:nvSpPr>
        <p:spPr>
          <a:xfrm>
            <a:off x="685800" y="1645920"/>
            <a:ext cx="2834640" cy="4709160"/>
          </a:xfrm>
          <a:prstGeom prst="roundRect">
            <a:avLst>
              <a:gd name="adj" fmla="val 11290"/>
            </a:avLst>
          </a:prstGeom>
          <a:solidFill>
            <a:schemeClr val="tx1"/>
          </a:solidFill>
          <a:ln w="12700">
            <a:solidFill>
              <a:schemeClr val="tx1"/>
            </a:solidFill>
            <a:prstDash val="solid"/>
          </a:ln>
          <a:effectLst>
            <a:outerShdw sx="100000" sy="100000" kx="0" ky="0" algn="bl" rotWithShape="0" blurRad="101600" dist="25400" dir="5400000">
              <a:srgbClr val="1A1B2E">
                <a:alpha val="12000"/>
              </a:srgbClr>
            </a:outerShdw>
          </a:effectLst>
        </p:spPr>
      </p:sp>
      <p:sp>
        <p:nvSpPr>
          <p:cNvPr id="7" name="Phone screen"/>
          <p:cNvSpPr/>
          <p:nvPr/>
        </p:nvSpPr>
        <p:spPr>
          <a:xfrm>
            <a:off x="795528" y="1755648"/>
            <a:ext cx="2615184" cy="4489704"/>
          </a:xfrm>
          <a:prstGeom prst="roundRect">
            <a:avLst>
              <a:gd name="adj" fmla="val 8741"/>
            </a:avLst>
          </a:prstGeom>
          <a:solidFill>
            <a:schemeClr val="bg1"/>
          </a:solidFill>
          <a:ln w="12700">
            <a:solidFill>
              <a:schemeClr val="bg1"/>
            </a:solidFill>
            <a:prstDash val="solid"/>
          </a:ln>
        </p:spPr>
      </p:sp>
      <p:sp>
        <p:nvSpPr>
          <p:cNvPr id="8" name="Live pill"/>
          <p:cNvSpPr/>
          <p:nvPr/>
        </p:nvSpPr>
        <p:spPr>
          <a:xfrm>
            <a:off x="932688" y="1901952"/>
            <a:ext cx="566928" cy="219456"/>
          </a:xfrm>
          <a:prstGeom prst="roundRect">
            <a:avLst>
              <a:gd name="adj" fmla="val 50000"/>
            </a:avLst>
          </a:prstGeom>
          <a:solidFill>
            <a:schemeClr val="accent2"/>
          </a:solidFill>
          <a:ln w="12700">
            <a:solidFill>
              <a:schemeClr val="bg1"/>
            </a:solidFill>
            <a:prstDash val="solid"/>
          </a:ln>
        </p:spPr>
      </p:sp>
      <p:sp>
        <p:nvSpPr>
          <p:cNvPr id="9" name="Text 7"/>
          <p:cNvSpPr txBox="1"/>
          <p:nvPr/>
        </p:nvSpPr>
        <p:spPr>
          <a:xfrm>
            <a:off x="932688" y="1901952"/>
            <a:ext cx="566928" cy="219456"/>
          </a:xfrm>
          <a:prstGeom prst="rect">
            <a:avLst/>
          </a:prstGeom>
          <a:noFill/>
          <a:ln/>
        </p:spPr>
        <p:txBody>
          <a:bodyPr wrap="square" lIns="0" tIns="0" rIns="0" bIns="0" rtlCol="0" anchor="ctr"/>
          <a:lstStyle/>
          <a:p>
            <a:pPr algn="ctr" indent="0" marL="0">
              <a:buNone/>
            </a:pPr>
            <a:r>
              <a:rPr lang="en-US" sz="1000" b="1" dirty="0">
                <a:solidFill>
                  <a:schemeClr val="bg1"/>
                </a:solidFill>
              </a:rPr>
              <a:t>● LIVE</a:t>
            </a:r>
            <a:endParaRPr lang="en-US" sz="1000" dirty="0"/>
          </a:p>
        </p:txBody>
      </p:sp>
      <p:sp>
        <p:nvSpPr>
          <p:cNvPr id="10" name="Text 8"/>
          <p:cNvSpPr txBox="1"/>
          <p:nvPr/>
        </p:nvSpPr>
        <p:spPr>
          <a:xfrm>
            <a:off x="1901952" y="1901952"/>
            <a:ext cx="1371600" cy="219456"/>
          </a:xfrm>
          <a:prstGeom prst="rect">
            <a:avLst/>
          </a:prstGeom>
          <a:noFill/>
          <a:ln/>
        </p:spPr>
        <p:txBody>
          <a:bodyPr wrap="square" lIns="0" tIns="0" rIns="0" bIns="0" rtlCol="0" anchor="ctr"/>
          <a:lstStyle/>
          <a:p>
            <a:pPr algn="r" indent="0" marL="0">
              <a:buNone/>
            </a:pPr>
            <a:r>
              <a:rPr lang="en-US" sz="1000" dirty="0">
                <a:solidFill>
                  <a:schemeClr val="tx2"/>
                </a:solidFill>
              </a:rPr>
              <a:t>Step 1 of 5</a:t>
            </a:r>
            <a:endParaRPr lang="en-US" sz="1000" dirty="0"/>
          </a:p>
        </p:txBody>
      </p:sp>
      <p:sp>
        <p:nvSpPr>
          <p:cNvPr id="11" name="Dashboard frame"/>
          <p:cNvSpPr/>
          <p:nvPr/>
        </p:nvSpPr>
        <p:spPr>
          <a:xfrm>
            <a:off x="4069080" y="1645920"/>
            <a:ext cx="7680960" cy="4709160"/>
          </a:xfrm>
          <a:prstGeom prst="roundRect">
            <a:avLst>
              <a:gd name="adj" fmla="val 2330"/>
            </a:avLst>
          </a:prstGeom>
          <a:solidFill>
            <a:schemeClr val="bg1"/>
          </a:solidFill>
          <a:ln w="12700">
            <a:solidFill>
              <a:schemeClr val="bg1"/>
            </a:solidFill>
            <a:prstDash val="solid"/>
          </a:ln>
          <a:effectLst>
            <a:outerShdw sx="100000" sy="100000" kx="0" ky="0" algn="bl" rotWithShape="0" blurRad="101600" dist="25400" dir="5400000">
              <a:srgbClr val="1A1B2E">
                <a:alpha val="12000"/>
              </a:srgbClr>
            </a:outerShdw>
          </a:effectLst>
        </p:spPr>
      </p:sp>
      <p:sp>
        <p:nvSpPr>
          <p:cNvPr id="12" name="Text 10"/>
          <p:cNvSpPr txBox="1"/>
          <p:nvPr/>
        </p:nvSpPr>
        <p:spPr>
          <a:xfrm>
            <a:off x="4251960" y="1764792"/>
            <a:ext cx="1737360" cy="329184"/>
          </a:xfrm>
          <a:prstGeom prst="rect">
            <a:avLst/>
          </a:prstGeom>
          <a:noFill/>
          <a:ln/>
        </p:spPr>
        <p:txBody>
          <a:bodyPr wrap="square" lIns="0" tIns="0" rIns="0" bIns="0" rtlCol="0" anchor="ctr"/>
          <a:lstStyle/>
          <a:p>
            <a:pPr indent="0" marL="0">
              <a:buNone/>
            </a:pPr>
            <a:r>
              <a:rPr lang="en-US" sz="1300" b="1" dirty="0">
                <a:solidFill>
                  <a:schemeClr val="tx1"/>
                </a:solidFill>
              </a:rPr>
              <a:t>Teacher dashboard</a:t>
            </a:r>
            <a:endParaRPr lang="en-US" sz="1300" dirty="0"/>
          </a:p>
        </p:txBody>
      </p:sp>
      <p:sp>
        <p:nvSpPr>
          <p:cNvPr id="13" name="Live pill"/>
          <p:cNvSpPr/>
          <p:nvPr/>
        </p:nvSpPr>
        <p:spPr>
          <a:xfrm>
            <a:off x="5989320" y="1819656"/>
            <a:ext cx="566928" cy="219456"/>
          </a:xfrm>
          <a:prstGeom prst="roundRect">
            <a:avLst>
              <a:gd name="adj" fmla="val 50000"/>
            </a:avLst>
          </a:prstGeom>
          <a:solidFill>
            <a:schemeClr val="accent2"/>
          </a:solidFill>
          <a:ln w="12700">
            <a:solidFill>
              <a:schemeClr val="bg1"/>
            </a:solidFill>
            <a:prstDash val="solid"/>
          </a:ln>
        </p:spPr>
      </p:sp>
      <p:sp>
        <p:nvSpPr>
          <p:cNvPr id="14" name="Text 12"/>
          <p:cNvSpPr txBox="1"/>
          <p:nvPr/>
        </p:nvSpPr>
        <p:spPr>
          <a:xfrm>
            <a:off x="5989320" y="1819656"/>
            <a:ext cx="566928" cy="219456"/>
          </a:xfrm>
          <a:prstGeom prst="rect">
            <a:avLst/>
          </a:prstGeom>
          <a:noFill/>
          <a:ln/>
        </p:spPr>
        <p:txBody>
          <a:bodyPr wrap="square" lIns="0" tIns="0" rIns="0" bIns="0" rtlCol="0" anchor="ctr"/>
          <a:lstStyle/>
          <a:p>
            <a:pPr algn="ctr" indent="0" marL="0">
              <a:buNone/>
            </a:pPr>
            <a:r>
              <a:rPr lang="en-US" sz="1000" b="1" dirty="0">
                <a:solidFill>
                  <a:schemeClr val="bg1"/>
                </a:solidFill>
              </a:rPr>
              <a:t>● LIVE</a:t>
            </a:r>
            <a:endParaRPr lang="en-US" sz="1000" dirty="0"/>
          </a:p>
        </p:txBody>
      </p:sp>
      <p:sp>
        <p:nvSpPr>
          <p:cNvPr id="15" name="Text 13"/>
          <p:cNvSpPr txBox="1"/>
          <p:nvPr/>
        </p:nvSpPr>
        <p:spPr>
          <a:xfrm>
            <a:off x="6647688" y="1764792"/>
            <a:ext cx="1280160" cy="329184"/>
          </a:xfrm>
          <a:prstGeom prst="rect">
            <a:avLst/>
          </a:prstGeom>
          <a:noFill/>
          <a:ln/>
        </p:spPr>
        <p:txBody>
          <a:bodyPr wrap="square" lIns="0" tIns="0" rIns="0" bIns="0" rtlCol="0" anchor="ctr"/>
          <a:lstStyle/>
          <a:p>
            <a:pPr indent="0" marL="0">
              <a:buNone/>
            </a:pPr>
            <a:r>
              <a:rPr lang="en-US" sz="1100" dirty="0">
                <a:solidFill>
                  <a:schemeClr val="tx2"/>
                </a:solidFill>
              </a:rPr>
              <a:t>1,284 students</a:t>
            </a:r>
            <a:endParaRPr lang="en-US" sz="1100" dirty="0"/>
          </a:p>
        </p:txBody>
      </p:sp>
      <p:sp>
        <p:nvSpPr>
          <p:cNvPr id="16" name="Step 1 dot"/>
          <p:cNvSpPr/>
          <p:nvPr/>
        </p:nvSpPr>
        <p:spPr>
          <a:xfrm>
            <a:off x="8001000" y="1810512"/>
            <a:ext cx="246888" cy="246888"/>
          </a:xfrm>
          <a:prstGeom prst="ellipse">
            <a:avLst/>
          </a:prstGeom>
          <a:solidFill>
            <a:schemeClr val="accent1"/>
          </a:solidFill>
          <a:ln w="12700">
            <a:solidFill>
              <a:schemeClr val="accent1"/>
            </a:solidFill>
            <a:prstDash val="solid"/>
          </a:ln>
        </p:spPr>
      </p:sp>
      <p:sp>
        <p:nvSpPr>
          <p:cNvPr id="17" name="Text 15"/>
          <p:cNvSpPr txBox="1"/>
          <p:nvPr/>
        </p:nvSpPr>
        <p:spPr>
          <a:xfrm>
            <a:off x="8001000" y="1810512"/>
            <a:ext cx="246888" cy="246888"/>
          </a:xfrm>
          <a:prstGeom prst="rect">
            <a:avLst/>
          </a:prstGeom>
          <a:no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18" name="Step 2 dot"/>
          <p:cNvSpPr/>
          <p:nvPr/>
        </p:nvSpPr>
        <p:spPr>
          <a:xfrm>
            <a:off x="8330184" y="1810512"/>
            <a:ext cx="246888" cy="246888"/>
          </a:xfrm>
          <a:prstGeom prst="ellipse">
            <a:avLst/>
          </a:prstGeom>
          <a:solidFill>
            <a:schemeClr val="bg1"/>
          </a:solidFill>
          <a:ln w="12700">
            <a:solidFill>
              <a:schemeClr val="accent1"/>
            </a:solidFill>
            <a:prstDash val="solid"/>
          </a:ln>
        </p:spPr>
      </p:sp>
      <p:sp>
        <p:nvSpPr>
          <p:cNvPr id="19" name="Text 17"/>
          <p:cNvSpPr txBox="1"/>
          <p:nvPr/>
        </p:nvSpPr>
        <p:spPr>
          <a:xfrm>
            <a:off x="8330184" y="1810512"/>
            <a:ext cx="246888" cy="246888"/>
          </a:xfrm>
          <a:prstGeom prst="rect">
            <a:avLst/>
          </a:prstGeom>
          <a:noFill/>
          <a:ln/>
        </p:spPr>
        <p:txBody>
          <a:bodyPr wrap="square" lIns="0" tIns="0" rIns="0" bIns="0" rtlCol="0" anchor="ctr"/>
          <a:lstStyle/>
          <a:p>
            <a:pPr algn="ctr" indent="0" marL="0">
              <a:buNone/>
            </a:pPr>
            <a:r>
              <a:rPr lang="en-US" sz="1000" b="1" dirty="0">
                <a:solidFill>
                  <a:schemeClr val="accent1"/>
                </a:solidFill>
              </a:rPr>
              <a:t>2</a:t>
            </a:r>
            <a:endParaRPr lang="en-US" sz="1000" dirty="0"/>
          </a:p>
        </p:txBody>
      </p:sp>
      <p:sp>
        <p:nvSpPr>
          <p:cNvPr id="20" name="Step 3 dot"/>
          <p:cNvSpPr/>
          <p:nvPr/>
        </p:nvSpPr>
        <p:spPr>
          <a:xfrm>
            <a:off x="8659368" y="1810512"/>
            <a:ext cx="246888" cy="246888"/>
          </a:xfrm>
          <a:prstGeom prst="ellipse">
            <a:avLst/>
          </a:prstGeom>
          <a:solidFill>
            <a:schemeClr val="bg1"/>
          </a:solidFill>
          <a:ln w="12700">
            <a:solidFill>
              <a:schemeClr val="accent1"/>
            </a:solidFill>
            <a:prstDash val="solid"/>
          </a:ln>
        </p:spPr>
      </p:sp>
      <p:sp>
        <p:nvSpPr>
          <p:cNvPr id="21" name="Text 19"/>
          <p:cNvSpPr txBox="1"/>
          <p:nvPr/>
        </p:nvSpPr>
        <p:spPr>
          <a:xfrm>
            <a:off x="8659368" y="1810512"/>
            <a:ext cx="246888" cy="246888"/>
          </a:xfrm>
          <a:prstGeom prst="rect">
            <a:avLst/>
          </a:prstGeom>
          <a:noFill/>
          <a:ln/>
        </p:spPr>
        <p:txBody>
          <a:bodyPr wrap="square" lIns="0" tIns="0" rIns="0" bIns="0" rtlCol="0" anchor="ctr"/>
          <a:lstStyle/>
          <a:p>
            <a:pPr algn="ctr" indent="0" marL="0">
              <a:buNone/>
            </a:pPr>
            <a:r>
              <a:rPr lang="en-US" sz="1000" b="1" dirty="0">
                <a:solidFill>
                  <a:schemeClr val="accent1"/>
                </a:solidFill>
              </a:rPr>
              <a:t>3</a:t>
            </a:r>
            <a:endParaRPr lang="en-US" sz="1000" dirty="0"/>
          </a:p>
        </p:txBody>
      </p:sp>
      <p:sp>
        <p:nvSpPr>
          <p:cNvPr id="22" name="Step 4 dot"/>
          <p:cNvSpPr/>
          <p:nvPr/>
        </p:nvSpPr>
        <p:spPr>
          <a:xfrm>
            <a:off x="8988552" y="1810512"/>
            <a:ext cx="246888" cy="246888"/>
          </a:xfrm>
          <a:prstGeom prst="ellipse">
            <a:avLst/>
          </a:prstGeom>
          <a:solidFill>
            <a:schemeClr val="bg1"/>
          </a:solidFill>
          <a:ln w="12700">
            <a:solidFill>
              <a:schemeClr val="accent1"/>
            </a:solidFill>
            <a:prstDash val="solid"/>
          </a:ln>
        </p:spPr>
      </p:sp>
      <p:sp>
        <p:nvSpPr>
          <p:cNvPr id="23" name="Text 21"/>
          <p:cNvSpPr txBox="1"/>
          <p:nvPr/>
        </p:nvSpPr>
        <p:spPr>
          <a:xfrm>
            <a:off x="8988552" y="1810512"/>
            <a:ext cx="246888" cy="246888"/>
          </a:xfrm>
          <a:prstGeom prst="rect">
            <a:avLst/>
          </a:prstGeom>
          <a:noFill/>
          <a:ln/>
        </p:spPr>
        <p:txBody>
          <a:bodyPr wrap="square" lIns="0" tIns="0" rIns="0" bIns="0" rtlCol="0" anchor="ctr"/>
          <a:lstStyle/>
          <a:p>
            <a:pPr algn="ctr" indent="0" marL="0">
              <a:buNone/>
            </a:pPr>
            <a:r>
              <a:rPr lang="en-US" sz="1000" b="1" dirty="0">
                <a:solidFill>
                  <a:schemeClr val="accent1"/>
                </a:solidFill>
              </a:rPr>
              <a:t>4</a:t>
            </a:r>
            <a:endParaRPr lang="en-US" sz="1000" dirty="0"/>
          </a:p>
        </p:txBody>
      </p:sp>
      <p:sp>
        <p:nvSpPr>
          <p:cNvPr id="24" name="Step 5 dot"/>
          <p:cNvSpPr/>
          <p:nvPr/>
        </p:nvSpPr>
        <p:spPr>
          <a:xfrm>
            <a:off x="9317736" y="1810512"/>
            <a:ext cx="246888" cy="246888"/>
          </a:xfrm>
          <a:prstGeom prst="ellipse">
            <a:avLst/>
          </a:prstGeom>
          <a:solidFill>
            <a:schemeClr val="bg1"/>
          </a:solidFill>
          <a:ln w="12700">
            <a:solidFill>
              <a:schemeClr val="accent1"/>
            </a:solidFill>
            <a:prstDash val="solid"/>
          </a:ln>
        </p:spPr>
      </p:sp>
      <p:sp>
        <p:nvSpPr>
          <p:cNvPr id="25" name="Text 23"/>
          <p:cNvSpPr txBox="1"/>
          <p:nvPr/>
        </p:nvSpPr>
        <p:spPr>
          <a:xfrm>
            <a:off x="9317736" y="1810512"/>
            <a:ext cx="246888" cy="246888"/>
          </a:xfrm>
          <a:prstGeom prst="rect">
            <a:avLst/>
          </a:prstGeom>
          <a:noFill/>
          <a:ln/>
        </p:spPr>
        <p:txBody>
          <a:bodyPr wrap="square" lIns="0" tIns="0" rIns="0" bIns="0" rtlCol="0" anchor="ctr"/>
          <a:lstStyle/>
          <a:p>
            <a:pPr algn="ctr" indent="0" marL="0">
              <a:buNone/>
            </a:pPr>
            <a:r>
              <a:rPr lang="en-US" sz="1000" b="1" dirty="0">
                <a:solidFill>
                  <a:schemeClr val="accent1"/>
                </a:solidFill>
              </a:rPr>
              <a:t>5</a:t>
            </a:r>
            <a:endParaRPr lang="en-US" sz="1000" dirty="0"/>
          </a:p>
        </p:txBody>
      </p:sp>
      <p:sp>
        <p:nvSpPr>
          <p:cNvPr id="26" name="Step 6 dot"/>
          <p:cNvSpPr/>
          <p:nvPr/>
        </p:nvSpPr>
        <p:spPr>
          <a:xfrm>
            <a:off x="9646920" y="1810512"/>
            <a:ext cx="246888" cy="246888"/>
          </a:xfrm>
          <a:prstGeom prst="ellipse">
            <a:avLst/>
          </a:prstGeom>
          <a:solidFill>
            <a:schemeClr val="bg1"/>
          </a:solidFill>
          <a:ln w="12700">
            <a:solidFill>
              <a:schemeClr val="accent1"/>
            </a:solidFill>
            <a:prstDash val="solid"/>
          </a:ln>
        </p:spPr>
      </p:sp>
      <p:sp>
        <p:nvSpPr>
          <p:cNvPr id="27" name="Text 25"/>
          <p:cNvSpPr txBox="1"/>
          <p:nvPr/>
        </p:nvSpPr>
        <p:spPr>
          <a:xfrm>
            <a:off x="9646920" y="1810512"/>
            <a:ext cx="246888" cy="246888"/>
          </a:xfrm>
          <a:prstGeom prst="rect">
            <a:avLst/>
          </a:prstGeom>
          <a:noFill/>
          <a:ln/>
        </p:spPr>
        <p:txBody>
          <a:bodyPr wrap="square" lIns="0" tIns="0" rIns="0" bIns="0" rtlCol="0" anchor="ctr"/>
          <a:lstStyle/>
          <a:p>
            <a:pPr algn="ctr" indent="0" marL="0">
              <a:buNone/>
            </a:pPr>
            <a:r>
              <a:rPr lang="en-US" sz="1000" b="1" dirty="0">
                <a:solidFill>
                  <a:schemeClr val="accent1"/>
                </a:solidFill>
              </a:rPr>
              <a:t>6</a:t>
            </a:r>
            <a:endParaRPr lang="en-US" sz="1000" dirty="0"/>
          </a:p>
        </p:txBody>
      </p:sp>
      <p:sp>
        <p:nvSpPr>
          <p:cNvPr id="28" name="Next step button"/>
          <p:cNvSpPr/>
          <p:nvPr/>
        </p:nvSpPr>
        <p:spPr>
          <a:xfrm>
            <a:off x="10104120" y="1783080"/>
            <a:ext cx="1463040" cy="310896"/>
          </a:xfrm>
          <a:prstGeom prst="roundRect">
            <a:avLst>
              <a:gd name="adj" fmla="val 50000"/>
            </a:avLst>
          </a:prstGeom>
          <a:solidFill>
            <a:schemeClr val="accent1"/>
          </a:solidFill>
          <a:ln w="12700">
            <a:solidFill>
              <a:schemeClr val="bg1"/>
            </a:solidFill>
            <a:prstDash val="solid"/>
          </a:ln>
        </p:spPr>
      </p:sp>
      <p:sp>
        <p:nvSpPr>
          <p:cNvPr id="29" name="Text 27"/>
          <p:cNvSpPr txBox="1"/>
          <p:nvPr/>
        </p:nvSpPr>
        <p:spPr>
          <a:xfrm>
            <a:off x="10104120" y="1783080"/>
            <a:ext cx="1463040" cy="310896"/>
          </a:xfrm>
          <a:prstGeom prst="rect">
            <a:avLst/>
          </a:prstGeom>
          <a:noFill/>
          <a:ln/>
        </p:spPr>
        <p:txBody>
          <a:bodyPr wrap="square" lIns="0" tIns="0" rIns="0" bIns="0" rtlCol="0" anchor="ctr"/>
          <a:lstStyle/>
          <a:p>
            <a:pPr algn="ctr" indent="0" marL="0">
              <a:buNone/>
            </a:pPr>
            <a:r>
              <a:rPr lang="en-US" sz="1100" b="1" dirty="0">
                <a:solidFill>
                  <a:schemeClr val="bg1"/>
                </a:solidFill>
              </a:rPr>
              <a:t>Next step →</a:t>
            </a:r>
            <a:endParaRPr lang="en-US" sz="1100" dirty="0"/>
          </a:p>
        </p:txBody>
      </p:sp>
      <p:sp>
        <p:nvSpPr>
          <p:cNvPr id="30" name="Header divider"/>
          <p:cNvSpPr/>
          <p:nvPr/>
        </p:nvSpPr>
        <p:spPr>
          <a:xfrm>
            <a:off x="4206240" y="2240280"/>
            <a:ext cx="7406640" cy="0"/>
          </a:xfrm>
          <a:prstGeom prst="line">
            <a:avLst/>
          </a:prstGeom>
          <a:noFill/>
          <a:ln w="19050">
            <a:solidFill>
              <a:schemeClr val="bg2"/>
            </a:solidFill>
            <a:prstDash val="solid"/>
          </a:ln>
        </p:spPr>
      </p:sp>
      <p:sp>
        <p:nvSpPr>
          <p:cNvPr id="31" name="Text 29"/>
          <p:cNvSpPr txBox="1"/>
          <p:nvPr/>
        </p:nvSpPr>
        <p:spPr>
          <a:xfrm>
            <a:off x="932688" y="2240280"/>
            <a:ext cx="2340864" cy="274320"/>
          </a:xfrm>
          <a:prstGeom prst="rect">
            <a:avLst/>
          </a:prstGeom>
          <a:noFill/>
          <a:ln/>
        </p:spPr>
        <p:txBody>
          <a:bodyPr wrap="square" lIns="0" tIns="0" rIns="0" bIns="0" rtlCol="0" anchor="t"/>
          <a:lstStyle/>
          <a:p>
            <a:pPr indent="0" marL="0">
              <a:buNone/>
            </a:pPr>
            <a:r>
              <a:rPr lang="en-US" sz="1300" b="1" dirty="0">
                <a:solidFill>
                  <a:schemeClr val="tx1"/>
                </a:solidFill>
              </a:rPr>
              <a:t>Which side do you favour?</a:t>
            </a:r>
            <a:endParaRPr lang="en-US" sz="1300" dirty="0"/>
          </a:p>
        </p:txBody>
      </p:sp>
      <p:sp>
        <p:nvSpPr>
          <p:cNvPr id="32" name="Shape 30"/>
          <p:cNvSpPr/>
          <p:nvPr/>
        </p:nvSpPr>
        <p:spPr>
          <a:xfrm>
            <a:off x="932688" y="2578608"/>
            <a:ext cx="2340864" cy="1143000"/>
          </a:xfrm>
          <a:prstGeom prst="roundRect">
            <a:avLst>
              <a:gd name="adj" fmla="val 6400"/>
            </a:avLst>
          </a:prstGeom>
          <a:solidFill>
            <a:schemeClr val="bg2"/>
          </a:solidFill>
          <a:ln w="12700">
            <a:solidFill>
              <a:schemeClr val="bg1"/>
            </a:solidFill>
            <a:prstDash val="solid"/>
          </a:ln>
        </p:spPr>
      </p:sp>
      <p:sp>
        <p:nvSpPr>
          <p:cNvPr id="33" name="Text 31"/>
          <p:cNvSpPr txBox="1"/>
          <p:nvPr/>
        </p:nvSpPr>
        <p:spPr>
          <a:xfrm>
            <a:off x="1024128" y="2651760"/>
            <a:ext cx="2157984" cy="1005840"/>
          </a:xfrm>
          <a:prstGeom prst="rect">
            <a:avLst/>
          </a:prstGeom>
          <a:noFill/>
          <a:ln/>
        </p:spPr>
        <p:txBody>
          <a:bodyPr wrap="square" lIns="0" tIns="0" rIns="0" bIns="0" rtlCol="0" anchor="ctr"/>
          <a:lstStyle/>
          <a:p>
            <a:pPr indent="0" marL="0">
              <a:buNone/>
            </a:pPr>
            <a:r>
              <a:rPr lang="en-US" sz="1100" dirty="0">
                <a:solidFill>
                  <a:schemeClr val="tx1"/>
                </a:solidFill>
              </a:rPr>
              <a:t>Study all subjects at school, or only the subjects you are good at or find interesting?</a:t>
            </a:r>
            <a:endParaRPr lang="en-US" sz="1100" dirty="0"/>
          </a:p>
        </p:txBody>
      </p:sp>
      <p:sp>
        <p:nvSpPr>
          <p:cNvPr id="34" name="Side A (chosen)"/>
          <p:cNvSpPr/>
          <p:nvPr/>
        </p:nvSpPr>
        <p:spPr>
          <a:xfrm>
            <a:off x="932688" y="3840480"/>
            <a:ext cx="2340864" cy="566928"/>
          </a:xfrm>
          <a:prstGeom prst="roundRect">
            <a:avLst>
              <a:gd name="adj" fmla="val 19355"/>
            </a:avLst>
          </a:prstGeom>
          <a:solidFill>
            <a:schemeClr val="accent1"/>
          </a:solidFill>
          <a:ln w="12700">
            <a:solidFill>
              <a:schemeClr val="bg1"/>
            </a:solidFill>
            <a:prstDash val="solid"/>
          </a:ln>
        </p:spPr>
      </p:sp>
      <p:sp>
        <p:nvSpPr>
          <p:cNvPr id="35" name="Text 33"/>
          <p:cNvSpPr txBox="1"/>
          <p:nvPr/>
        </p:nvSpPr>
        <p:spPr>
          <a:xfrm>
            <a:off x="1069848" y="3840480"/>
            <a:ext cx="2103120" cy="566928"/>
          </a:xfrm>
          <a:prstGeom prst="rect">
            <a:avLst/>
          </a:prstGeom>
          <a:noFill/>
          <a:ln/>
        </p:spPr>
        <p:txBody>
          <a:bodyPr wrap="square" lIns="0" tIns="0" rIns="0" bIns="0" rtlCol="0" anchor="ctr"/>
          <a:lstStyle/>
          <a:p>
            <a:pPr indent="0" marL="0">
              <a:buNone/>
            </a:pPr>
            <a:r>
              <a:rPr lang="en-US" sz="1300" b="1" dirty="0">
                <a:solidFill>
                  <a:schemeClr val="bg1"/>
                </a:solidFill>
              </a:rPr>
              <a:t>✓  All subjects</a:t>
            </a:r>
            <a:endParaRPr lang="en-US" sz="1300" dirty="0"/>
          </a:p>
        </p:txBody>
      </p:sp>
      <p:sp>
        <p:nvSpPr>
          <p:cNvPr id="36" name="Side B"/>
          <p:cNvSpPr/>
          <p:nvPr/>
        </p:nvSpPr>
        <p:spPr>
          <a:xfrm>
            <a:off x="932688" y="4498848"/>
            <a:ext cx="2340864" cy="566928"/>
          </a:xfrm>
          <a:prstGeom prst="roundRect">
            <a:avLst>
              <a:gd name="adj" fmla="val 19355"/>
            </a:avLst>
          </a:prstGeom>
          <a:solidFill>
            <a:schemeClr val="bg1"/>
          </a:solidFill>
          <a:ln w="15875">
            <a:solidFill>
              <a:schemeClr val="accent1"/>
            </a:solidFill>
            <a:prstDash val="solid"/>
          </a:ln>
        </p:spPr>
      </p:sp>
      <p:sp>
        <p:nvSpPr>
          <p:cNvPr id="37" name="Text 35"/>
          <p:cNvSpPr txBox="1"/>
          <p:nvPr/>
        </p:nvSpPr>
        <p:spPr>
          <a:xfrm>
            <a:off x="1069848" y="4498848"/>
            <a:ext cx="2103120" cy="566928"/>
          </a:xfrm>
          <a:prstGeom prst="rect">
            <a:avLst/>
          </a:prstGeom>
          <a:noFill/>
          <a:ln/>
        </p:spPr>
        <p:txBody>
          <a:bodyPr wrap="square" lIns="0" tIns="0" rIns="0" bIns="0" rtlCol="0" anchor="ctr"/>
          <a:lstStyle/>
          <a:p>
            <a:pPr indent="0" marL="0">
              <a:buNone/>
            </a:pPr>
            <a:r>
              <a:rPr lang="en-US" sz="1200" b="1" dirty="0">
                <a:solidFill>
                  <a:schemeClr val="accent1"/>
                </a:solidFill>
              </a:rPr>
              <a:t>Only subjects I'm good at or like</a:t>
            </a:r>
            <a:endParaRPr lang="en-US" sz="1200" dirty="0"/>
          </a:p>
        </p:txBody>
      </p:sp>
      <p:sp>
        <p:nvSpPr>
          <p:cNvPr id="38" name="Text 36"/>
          <p:cNvSpPr txBox="1"/>
          <p:nvPr/>
        </p:nvSpPr>
        <p:spPr>
          <a:xfrm>
            <a:off x="932688" y="5166360"/>
            <a:ext cx="2340864" cy="457200"/>
          </a:xfrm>
          <a:prstGeom prst="rect">
            <a:avLst/>
          </a:prstGeom>
          <a:noFill/>
          <a:ln/>
        </p:spPr>
        <p:txBody>
          <a:bodyPr wrap="square" lIns="0" tIns="0" rIns="0" bIns="0" rtlCol="0" anchor="t"/>
          <a:lstStyle/>
          <a:p>
            <a:pPr indent="0" marL="0">
              <a:buNone/>
            </a:pPr>
            <a:r>
              <a:rPr lang="en-US" sz="1000" dirty="0">
                <a:solidFill>
                  <a:schemeClr val="tx2"/>
                </a:solidFill>
              </a:rPr>
              <a:t>Saved. Your tutor will help you write about this side.</a:t>
            </a:r>
            <a:endParaRPr lang="en-US" sz="1000" dirty="0"/>
          </a:p>
        </p:txBody>
      </p:sp>
      <p:sp>
        <p:nvSpPr>
          <p:cNvPr id="39" name="Confusion toggle"/>
          <p:cNvSpPr/>
          <p:nvPr/>
        </p:nvSpPr>
        <p:spPr>
          <a:xfrm>
            <a:off x="932688" y="5760720"/>
            <a:ext cx="2340864" cy="365760"/>
          </a:xfrm>
          <a:prstGeom prst="roundRect">
            <a:avLst>
              <a:gd name="adj" fmla="val 50000"/>
            </a:avLst>
          </a:prstGeom>
          <a:solidFill>
            <a:schemeClr val="bg2"/>
          </a:solidFill>
          <a:ln w="12700">
            <a:solidFill>
              <a:schemeClr val="bg1"/>
            </a:solidFill>
            <a:prstDash val="solid"/>
          </a:ln>
        </p:spPr>
      </p:sp>
      <p:sp>
        <p:nvSpPr>
          <p:cNvPr id="40" name="Toggle selected"/>
          <p:cNvSpPr/>
          <p:nvPr/>
        </p:nvSpPr>
        <p:spPr>
          <a:xfrm>
            <a:off x="932688" y="5760720"/>
            <a:ext cx="1170432" cy="365760"/>
          </a:xfrm>
          <a:prstGeom prst="roundRect">
            <a:avLst>
              <a:gd name="adj" fmla="val 50000"/>
            </a:avLst>
          </a:prstGeom>
          <a:solidFill>
            <a:schemeClr val="accent3"/>
          </a:solidFill>
          <a:ln w="12700">
            <a:solidFill>
              <a:schemeClr val="bg1"/>
            </a:solidFill>
            <a:prstDash val="solid"/>
          </a:ln>
        </p:spPr>
      </p:sp>
      <p:sp>
        <p:nvSpPr>
          <p:cNvPr id="41" name="Text 39"/>
          <p:cNvSpPr txBox="1"/>
          <p:nvPr/>
        </p:nvSpPr>
        <p:spPr>
          <a:xfrm>
            <a:off x="932688" y="5760720"/>
            <a:ext cx="1170432" cy="365760"/>
          </a:xfrm>
          <a:prstGeom prst="rect">
            <a:avLst/>
          </a:prstGeom>
          <a:noFill/>
          <a:ln/>
        </p:spPr>
        <p:txBody>
          <a:bodyPr wrap="square" lIns="0" tIns="0" rIns="0" bIns="0" rtlCol="0" anchor="ctr"/>
          <a:lstStyle/>
          <a:p>
            <a:pPr algn="ctr" indent="0" marL="0">
              <a:buNone/>
            </a:pPr>
            <a:r>
              <a:rPr lang="en-US" sz="1000" b="1" dirty="0">
                <a:solidFill>
                  <a:schemeClr val="bg1"/>
                </a:solidFill>
              </a:rPr>
              <a:t>Understand</a:t>
            </a:r>
            <a:endParaRPr lang="en-US" sz="1000" dirty="0"/>
          </a:p>
        </p:txBody>
      </p:sp>
      <p:sp>
        <p:nvSpPr>
          <p:cNvPr id="42" name="Text 40"/>
          <p:cNvSpPr txBox="1"/>
          <p:nvPr/>
        </p:nvSpPr>
        <p:spPr>
          <a:xfrm>
            <a:off x="2103120" y="5760720"/>
            <a:ext cx="1170432" cy="365760"/>
          </a:xfrm>
          <a:prstGeom prst="rect">
            <a:avLst/>
          </a:prstGeom>
          <a:noFill/>
          <a:ln/>
        </p:spPr>
        <p:txBody>
          <a:bodyPr wrap="square" lIns="0" tIns="0" rIns="0" bIns="0" rtlCol="0" anchor="ctr"/>
          <a:lstStyle/>
          <a:p>
            <a:pPr algn="ctr" indent="0" marL="0">
              <a:buNone/>
            </a:pPr>
            <a:r>
              <a:rPr lang="en-US" sz="1000" b="1" dirty="0">
                <a:solidFill>
                  <a:schemeClr val="tx2"/>
                </a:solidFill>
              </a:rPr>
              <a:t>Don't understand</a:t>
            </a:r>
            <a:endParaRPr lang="en-US" sz="1000" dirty="0"/>
          </a:p>
        </p:txBody>
      </p:sp>
      <p:sp>
        <p:nvSpPr>
          <p:cNvPr id="43" name="Text 41"/>
          <p:cNvSpPr txBox="1"/>
          <p:nvPr/>
        </p:nvSpPr>
        <p:spPr>
          <a:xfrm>
            <a:off x="4251960" y="2377440"/>
            <a:ext cx="5394960" cy="292608"/>
          </a:xfrm>
          <a:prstGeom prst="rect">
            <a:avLst/>
          </a:prstGeom>
          <a:noFill/>
          <a:ln/>
        </p:spPr>
        <p:txBody>
          <a:bodyPr wrap="square" lIns="0" tIns="0" rIns="0" bIns="0" rtlCol="0" anchor="t"/>
          <a:lstStyle/>
          <a:p>
            <a:pPr indent="0" marL="0">
              <a:buNone/>
            </a:pPr>
            <a:r>
              <a:rPr lang="en-US" sz="1500" b="1" dirty="0">
                <a:solidFill>
                  <a:schemeClr val="tx1"/>
                </a:solidFill>
              </a:rPr>
              <a:t>Which side did the class pick?</a:t>
            </a:r>
            <a:endParaRPr lang="en-US" sz="1500" dirty="0"/>
          </a:p>
        </p:txBody>
      </p:sp>
      <p:graphicFrame>
        <p:nvGraphicFramePr>
          <p:cNvPr id="44" name="Side split chart" descr=""/>
          <p:cNvGraphicFramePr/>
          <p:nvPr/>
        </p:nvGraphicFramePr>
        <p:xfrm>
          <a:off x="4251960" y="2697480"/>
          <a:ext cx="3017520" cy="3429000"/>
        </p:xfrm>
        <a:graphic xmlns:a="http://schemas.openxmlformats.org/drawingml/2006/main">
          <a:graphicData uri="http://schemas.openxmlformats.org/drawingml/2006/chart">
            <c:chart xmlns:c="http://schemas.openxmlformats.org/drawingml/2006/chart" r:id="rId1"/>
          </a:graphicData>
        </a:graphic>
      </p:graphicFrame>
      <p:sp>
        <p:nvSpPr>
          <p:cNvPr id="45" name="Text 42"/>
          <p:cNvSpPr txBox="1"/>
          <p:nvPr/>
        </p:nvSpPr>
        <p:spPr>
          <a:xfrm>
            <a:off x="7452360" y="2743200"/>
            <a:ext cx="2194560" cy="640080"/>
          </a:xfrm>
          <a:prstGeom prst="rect">
            <a:avLst/>
          </a:prstGeom>
          <a:noFill/>
          <a:ln/>
        </p:spPr>
        <p:txBody>
          <a:bodyPr wrap="square" lIns="0" tIns="0" rIns="0" bIns="0" rtlCol="0" anchor="t"/>
          <a:lstStyle/>
          <a:p>
            <a:pPr indent="0" marL="0">
              <a:buNone/>
            </a:pPr>
            <a:r>
              <a:rPr lang="en-US" sz="4000" b="1" dirty="0">
                <a:solidFill>
                  <a:schemeClr val="accent1"/>
                </a:solidFill>
              </a:rPr>
              <a:t>1,251</a:t>
            </a:r>
            <a:endParaRPr lang="en-US" sz="4000" dirty="0"/>
          </a:p>
        </p:txBody>
      </p:sp>
      <p:sp>
        <p:nvSpPr>
          <p:cNvPr id="46" name="Text 43"/>
          <p:cNvSpPr txBox="1"/>
          <p:nvPr/>
        </p:nvSpPr>
        <p:spPr>
          <a:xfrm>
            <a:off x="7452360" y="3383280"/>
            <a:ext cx="2103120" cy="457200"/>
          </a:xfrm>
          <a:prstGeom prst="rect">
            <a:avLst/>
          </a:prstGeom>
          <a:noFill/>
          <a:ln/>
        </p:spPr>
        <p:txBody>
          <a:bodyPr wrap="square" lIns="0" tIns="0" rIns="0" bIns="0" rtlCol="0" anchor="t"/>
          <a:lstStyle/>
          <a:p>
            <a:pPr indent="0" marL="0">
              <a:buNone/>
            </a:pPr>
            <a:r>
              <a:rPr lang="en-US" sz="1200" dirty="0">
                <a:solidFill>
                  <a:schemeClr val="tx2"/>
                </a:solidFill>
              </a:rPr>
              <a:t>students picked a side in 40 seconds</a:t>
            </a:r>
            <a:endParaRPr lang="en-US" sz="1200" dirty="0"/>
          </a:p>
        </p:txBody>
      </p:sp>
      <p:sp>
        <p:nvSpPr>
          <p:cNvPr id="47" name="Shape 44"/>
          <p:cNvSpPr/>
          <p:nvPr/>
        </p:nvSpPr>
        <p:spPr>
          <a:xfrm>
            <a:off x="7452360" y="4069080"/>
            <a:ext cx="2194560" cy="2057400"/>
          </a:xfrm>
          <a:prstGeom prst="roundRect">
            <a:avLst>
              <a:gd name="adj" fmla="val 3556"/>
            </a:avLst>
          </a:prstGeom>
          <a:solidFill>
            <a:schemeClr val="accent1">
              <a:alpha val="8000"/>
            </a:schemeClr>
          </a:solidFill>
          <a:ln w="12700">
            <a:solidFill>
              <a:schemeClr val="bg1"/>
            </a:solidFill>
            <a:prstDash val="solid"/>
          </a:ln>
        </p:spPr>
      </p:sp>
      <p:sp>
        <p:nvSpPr>
          <p:cNvPr id="48" name="Text 45"/>
          <p:cNvSpPr txBox="1"/>
          <p:nvPr/>
        </p:nvSpPr>
        <p:spPr>
          <a:xfrm>
            <a:off x="7589520" y="4160520"/>
            <a:ext cx="1920240" cy="256032"/>
          </a:xfrm>
          <a:prstGeom prst="rect">
            <a:avLst/>
          </a:prstGeom>
          <a:noFill/>
          <a:ln/>
        </p:spPr>
        <p:txBody>
          <a:bodyPr wrap="square" lIns="0" tIns="0" rIns="0" bIns="0" rtlCol="0" anchor="t"/>
          <a:lstStyle/>
          <a:p>
            <a:pPr indent="0" marL="0">
              <a:buNone/>
            </a:pPr>
            <a:r>
              <a:rPr lang="en-US" sz="1100" b="1" dirty="0">
                <a:solidFill>
                  <a:schemeClr val="accent1"/>
                </a:solidFill>
              </a:rPr>
              <a:t>Say on stream</a:t>
            </a:r>
            <a:endParaRPr lang="en-US" sz="1100" dirty="0"/>
          </a:p>
        </p:txBody>
      </p:sp>
      <p:sp>
        <p:nvSpPr>
          <p:cNvPr id="49" name="Text 46"/>
          <p:cNvSpPr txBox="1"/>
          <p:nvPr/>
        </p:nvSpPr>
        <p:spPr>
          <a:xfrm>
            <a:off x="7589520" y="4462272"/>
            <a:ext cx="1920240" cy="1554480"/>
          </a:xfrm>
          <a:prstGeom prst="rect">
            <a:avLst/>
          </a:prstGeom>
          <a:noFill/>
          <a:ln/>
        </p:spPr>
        <p:txBody>
          <a:bodyPr wrap="square" lIns="0" tIns="0" rIns="0" bIns="0" rtlCol="0" anchor="t"/>
          <a:lstStyle/>
          <a:p>
            <a:pPr indent="0" marL="0">
              <a:buNone/>
            </a:pPr>
            <a:r>
              <a:rPr lang="en-US" sz="1300" i="1" dirty="0">
                <a:solidFill>
                  <a:schemeClr val="tx1"/>
                </a:solidFill>
              </a:rPr>
              <a:t>“62% of you want all subjects. Let's see if you can defend it!”</a:t>
            </a:r>
            <a:endParaRPr lang="en-US" sz="1300" dirty="0"/>
          </a:p>
        </p:txBody>
      </p:sp>
      <p:sp>
        <p:nvSpPr>
          <p:cNvPr id="50" name="Confusion meter panel"/>
          <p:cNvSpPr/>
          <p:nvPr/>
        </p:nvSpPr>
        <p:spPr>
          <a:xfrm>
            <a:off x="9829800" y="2377440"/>
            <a:ext cx="1783080" cy="3840480"/>
          </a:xfrm>
          <a:prstGeom prst="roundRect">
            <a:avLst>
              <a:gd name="adj" fmla="val 4103"/>
            </a:avLst>
          </a:prstGeom>
          <a:solidFill>
            <a:schemeClr val="bg2"/>
          </a:solidFill>
          <a:ln w="12700">
            <a:solidFill>
              <a:schemeClr val="bg1"/>
            </a:solidFill>
            <a:prstDash val="solid"/>
          </a:ln>
        </p:spPr>
      </p:sp>
      <p:sp>
        <p:nvSpPr>
          <p:cNvPr id="51" name="Text 48"/>
          <p:cNvSpPr txBox="1"/>
          <p:nvPr/>
        </p:nvSpPr>
        <p:spPr>
          <a:xfrm>
            <a:off x="9966960" y="2514600"/>
            <a:ext cx="1508760" cy="274320"/>
          </a:xfrm>
          <a:prstGeom prst="rect">
            <a:avLst/>
          </a:prstGeom>
          <a:noFill/>
          <a:ln/>
        </p:spPr>
        <p:txBody>
          <a:bodyPr wrap="square" lIns="0" tIns="0" rIns="0" bIns="0" rtlCol="0" anchor="t"/>
          <a:lstStyle/>
          <a:p>
            <a:pPr indent="0" marL="0">
              <a:buNone/>
            </a:pPr>
            <a:r>
              <a:rPr lang="en-US" sz="1200" b="1" dirty="0">
                <a:solidFill>
                  <a:schemeClr val="tx1"/>
                </a:solidFill>
              </a:rPr>
              <a:t>Don't understand</a:t>
            </a:r>
            <a:endParaRPr lang="en-US" sz="1200" dirty="0"/>
          </a:p>
        </p:txBody>
      </p:sp>
      <p:sp>
        <p:nvSpPr>
          <p:cNvPr id="52" name="Text 49"/>
          <p:cNvSpPr txBox="1"/>
          <p:nvPr/>
        </p:nvSpPr>
        <p:spPr>
          <a:xfrm>
            <a:off x="9966960" y="2834640"/>
            <a:ext cx="1508760" cy="777240"/>
          </a:xfrm>
          <a:prstGeom prst="rect">
            <a:avLst/>
          </a:prstGeom>
          <a:noFill/>
          <a:ln/>
        </p:spPr>
        <p:txBody>
          <a:bodyPr wrap="square" lIns="0" tIns="0" rIns="0" bIns="0" rtlCol="0" anchor="ctr"/>
          <a:lstStyle/>
          <a:p>
            <a:pPr indent="0" marL="0">
              <a:buNone/>
            </a:pPr>
            <a:r>
              <a:rPr lang="en-US" sz="4400" b="1" dirty="0">
                <a:solidFill>
                  <a:schemeClr val="tx1"/>
                </a:solidFill>
              </a:rPr>
              <a:t>6%</a:t>
            </a:r>
            <a:endParaRPr lang="en-US" sz="4400" dirty="0"/>
          </a:p>
        </p:txBody>
      </p:sp>
      <p:sp>
        <p:nvSpPr>
          <p:cNvPr id="53" name="Text 50"/>
          <p:cNvSpPr txBox="1"/>
          <p:nvPr/>
        </p:nvSpPr>
        <p:spPr>
          <a:xfrm>
            <a:off x="9966960" y="3639312"/>
            <a:ext cx="1508760" cy="228600"/>
          </a:xfrm>
          <a:prstGeom prst="rect">
            <a:avLst/>
          </a:prstGeom>
          <a:noFill/>
          <a:ln/>
        </p:spPr>
        <p:txBody>
          <a:bodyPr wrap="square" lIns="0" tIns="0" rIns="0" bIns="0" rtlCol="0" anchor="t"/>
          <a:lstStyle/>
          <a:p>
            <a:pPr indent="0" marL="0">
              <a:buNone/>
            </a:pPr>
            <a:r>
              <a:rPr lang="en-US" sz="1000" dirty="0">
                <a:solidFill>
                  <a:schemeClr val="tx2"/>
                </a:solidFill>
              </a:rPr>
              <a:t>77 students right now</a:t>
            </a:r>
            <a:endParaRPr lang="en-US" sz="1000" dirty="0"/>
          </a:p>
        </p:txBody>
      </p:sp>
      <p:sp>
        <p:nvSpPr>
          <p:cNvPr id="54" name="Meter track"/>
          <p:cNvSpPr/>
          <p:nvPr/>
        </p:nvSpPr>
        <p:spPr>
          <a:xfrm>
            <a:off x="9966960" y="4023360"/>
            <a:ext cx="1508760" cy="146304"/>
          </a:xfrm>
          <a:prstGeom prst="roundRect">
            <a:avLst>
              <a:gd name="adj" fmla="val 50000"/>
            </a:avLst>
          </a:prstGeom>
          <a:solidFill>
            <a:schemeClr val="bg1"/>
          </a:solidFill>
          <a:ln w="9525">
            <a:solidFill>
              <a:schemeClr val="accent5"/>
            </a:solidFill>
            <a:prstDash val="solid"/>
          </a:ln>
        </p:spPr>
      </p:sp>
      <p:sp>
        <p:nvSpPr>
          <p:cNvPr id="55" name="Meter fill"/>
          <p:cNvSpPr/>
          <p:nvPr/>
        </p:nvSpPr>
        <p:spPr>
          <a:xfrm>
            <a:off x="9966960" y="4023360"/>
            <a:ext cx="146304" cy="146304"/>
          </a:xfrm>
          <a:prstGeom prst="roundRect">
            <a:avLst>
              <a:gd name="adj" fmla="val 50000"/>
            </a:avLst>
          </a:prstGeom>
          <a:solidFill>
            <a:schemeClr val="accent3"/>
          </a:solidFill>
          <a:ln w="12700">
            <a:solidFill>
              <a:schemeClr val="bg1"/>
            </a:solidFill>
            <a:prstDash val="solid"/>
          </a:ln>
        </p:spPr>
      </p:sp>
      <p:sp>
        <p:nvSpPr>
          <p:cNvPr id="56" name="Alert threshold"/>
          <p:cNvSpPr/>
          <p:nvPr/>
        </p:nvSpPr>
        <p:spPr>
          <a:xfrm>
            <a:off x="10419588" y="3950208"/>
            <a:ext cx="0" cy="292608"/>
          </a:xfrm>
          <a:prstGeom prst="line">
            <a:avLst/>
          </a:prstGeom>
          <a:noFill/>
          <a:ln w="15875">
            <a:solidFill>
              <a:schemeClr val="tx1"/>
            </a:solidFill>
            <a:prstDash val="dash"/>
          </a:ln>
        </p:spPr>
      </p:sp>
      <p:sp>
        <p:nvSpPr>
          <p:cNvPr id="57" name="Text 54"/>
          <p:cNvSpPr txBox="1"/>
          <p:nvPr/>
        </p:nvSpPr>
        <p:spPr>
          <a:xfrm>
            <a:off x="9966960" y="4297680"/>
            <a:ext cx="1508760" cy="201168"/>
          </a:xfrm>
          <a:prstGeom prst="rect">
            <a:avLst/>
          </a:prstGeom>
          <a:noFill/>
          <a:ln/>
        </p:spPr>
        <p:txBody>
          <a:bodyPr wrap="square" lIns="0" tIns="0" rIns="0" bIns="0" rtlCol="0" anchor="t"/>
          <a:lstStyle/>
          <a:p>
            <a:pPr indent="0" marL="0">
              <a:buNone/>
            </a:pPr>
            <a:r>
              <a:rPr lang="en-US" sz="1000" dirty="0">
                <a:solidFill>
                  <a:schemeClr val="tx2"/>
                </a:solidFill>
              </a:rPr>
              <a:t>Alert at 30%</a:t>
            </a:r>
            <a:endParaRPr lang="en-US" sz="1000" dirty="0"/>
          </a:p>
        </p:txBody>
      </p:sp>
      <p:sp>
        <p:nvSpPr>
          <p:cNvPr id="58" name="Text 55"/>
          <p:cNvSpPr txBox="1"/>
          <p:nvPr/>
        </p:nvSpPr>
        <p:spPr>
          <a:xfrm>
            <a:off x="9966960" y="4892040"/>
            <a:ext cx="1508760" cy="548640"/>
          </a:xfrm>
          <a:prstGeom prst="rect">
            <a:avLst/>
          </a:prstGeom>
          <a:noFill/>
          <a:ln/>
        </p:spPr>
        <p:txBody>
          <a:bodyPr wrap="square" lIns="0" tIns="0" rIns="0" bIns="0" rtlCol="0" anchor="t"/>
          <a:lstStyle/>
          <a:p>
            <a:pPr indent="0" marL="0">
              <a:buNone/>
            </a:pPr>
            <a:r>
              <a:rPr lang="en-US" sz="1200" b="1" dirty="0">
                <a:solidFill>
                  <a:schemeClr val="accent3"/>
                </a:solidFill>
              </a:rPr>
              <a:t>Class is following.</a:t>
            </a:r>
            <a:endParaRPr lang="en-US" sz="1200" dirty="0"/>
          </a:p>
          <a:p>
            <a:pPr indent="0" marL="0">
              <a:buNone/>
            </a:pPr>
            <a:r>
              <a:rPr lang="en-US" sz="1200" b="1" dirty="0">
                <a:solidFill>
                  <a:schemeClr val="accent3"/>
                </a:solidFill>
              </a:rPr>
              <a:t>Keep going.</a:t>
            </a:r>
            <a:endParaRPr lang="en-US" sz="120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594360"/>
          </a:xfrm>
          <a:prstGeom prst="rect">
            <a:avLst/>
          </a:prstGeom>
          <a:noFill/>
          <a:ln/>
        </p:spPr>
        <p:txBody>
          <a:bodyPr wrap="square" lIns="0" tIns="0" rIns="0" bIns="0" rtlCol="0" anchor="ctr"/>
          <a:lstStyle/>
          <a:p>
            <a:pPr algn="l" indent="0" marL="0">
              <a:buNone/>
            </a:pPr>
            <a:r>
              <a:rPr lang="en-US" sz="3200" b="1" dirty="0">
                <a:solidFill>
                  <a:schemeClr val="tx1"/>
                </a:solidFill>
              </a:rPr>
              <a:t>Step 2 · Topic sentence</a:t>
            </a:r>
            <a:endParaRPr lang="en-US" sz="3200" dirty="0"/>
          </a:p>
        </p:txBody>
      </p:sp>
      <p:sp>
        <p:nvSpPr>
          <p:cNvPr id="3" name="Text 0"/>
          <p:cNvSpPr/>
          <p:nvPr>
            <p:ph idx="101" type="body" hasCustomPrompt="1"/>
          </p:nvPr>
        </p:nvSpPr>
        <p:spPr>
          <a:xfrm>
            <a:off x="457200" y="868680"/>
            <a:ext cx="11247120" cy="365760"/>
          </a:xfrm>
          <a:prstGeom prst="rect">
            <a:avLst/>
          </a:prstGeom>
          <a:noFill/>
          <a:ln/>
        </p:spPr>
        <p:txBody>
          <a:bodyPr wrap="square" lIns="0" tIns="0" rIns="0" bIns="0" rtlCol="0" anchor="ctr"/>
          <a:lstStyle/>
          <a:p>
            <a:pPr indent="0" marL="0">
              <a:buNone/>
            </a:pPr>
            <a:r>
              <a:rPr lang="en-US" sz="1600" dirty="0">
                <a:solidFill>
                  <a:schemeClr val="tx2"/>
                </a:solidFill>
              </a:rPr>
              <a:t>Students write one sentence. The tutor gives a hint, not the answer. The teacher sees the top mistake</a:t>
            </a:r>
            <a:endParaRPr lang="en-US" sz="1600" dirty="0"/>
          </a:p>
        </p:txBody>
      </p:sp>
      <p:sp>
        <p:nvSpPr>
          <p:cNvPr id="4" name="Label: student"/>
          <p:cNvSpPr txBox="1"/>
          <p:nvPr/>
        </p:nvSpPr>
        <p:spPr>
          <a:xfrm>
            <a:off x="685800" y="1325880"/>
            <a:ext cx="292608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WHAT THE STUDENT SEES</a:t>
            </a:r>
            <a:endParaRPr lang="en-US" sz="1100" dirty="0"/>
          </a:p>
        </p:txBody>
      </p:sp>
      <p:sp>
        <p:nvSpPr>
          <p:cNvPr id="5" name="Label: teacher"/>
          <p:cNvSpPr txBox="1"/>
          <p:nvPr/>
        </p:nvSpPr>
        <p:spPr>
          <a:xfrm>
            <a:off x="4069080" y="1325880"/>
            <a:ext cx="548640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WHAT THE TEACHER SEES</a:t>
            </a:r>
            <a:endParaRPr lang="en-US" sz="1100" dirty="0"/>
          </a:p>
        </p:txBody>
      </p:sp>
      <p:sp>
        <p:nvSpPr>
          <p:cNvPr id="6" name="Phone frame"/>
          <p:cNvSpPr/>
          <p:nvPr/>
        </p:nvSpPr>
        <p:spPr>
          <a:xfrm>
            <a:off x="685800" y="1645920"/>
            <a:ext cx="2834640" cy="4709160"/>
          </a:xfrm>
          <a:prstGeom prst="roundRect">
            <a:avLst>
              <a:gd name="adj" fmla="val 11290"/>
            </a:avLst>
          </a:prstGeom>
          <a:solidFill>
            <a:schemeClr val="tx1"/>
          </a:solidFill>
          <a:ln w="12700">
            <a:solidFill>
              <a:schemeClr val="tx1"/>
            </a:solidFill>
            <a:prstDash val="solid"/>
          </a:ln>
          <a:effectLst>
            <a:outerShdw sx="100000" sy="100000" kx="0" ky="0" algn="bl" rotWithShape="0" blurRad="101600" dist="25400" dir="5400000">
              <a:srgbClr val="1A1B2E">
                <a:alpha val="12000"/>
              </a:srgbClr>
            </a:outerShdw>
          </a:effectLst>
        </p:spPr>
      </p:sp>
      <p:sp>
        <p:nvSpPr>
          <p:cNvPr id="7" name="Phone screen"/>
          <p:cNvSpPr/>
          <p:nvPr/>
        </p:nvSpPr>
        <p:spPr>
          <a:xfrm>
            <a:off x="795528" y="1755648"/>
            <a:ext cx="2615184" cy="4489704"/>
          </a:xfrm>
          <a:prstGeom prst="roundRect">
            <a:avLst>
              <a:gd name="adj" fmla="val 8741"/>
            </a:avLst>
          </a:prstGeom>
          <a:solidFill>
            <a:schemeClr val="bg1"/>
          </a:solidFill>
          <a:ln w="12700">
            <a:solidFill>
              <a:schemeClr val="bg1"/>
            </a:solidFill>
            <a:prstDash val="solid"/>
          </a:ln>
        </p:spPr>
      </p:sp>
      <p:sp>
        <p:nvSpPr>
          <p:cNvPr id="8" name="Live pill"/>
          <p:cNvSpPr/>
          <p:nvPr/>
        </p:nvSpPr>
        <p:spPr>
          <a:xfrm>
            <a:off x="932688" y="1901952"/>
            <a:ext cx="566928" cy="219456"/>
          </a:xfrm>
          <a:prstGeom prst="roundRect">
            <a:avLst>
              <a:gd name="adj" fmla="val 50000"/>
            </a:avLst>
          </a:prstGeom>
          <a:solidFill>
            <a:schemeClr val="accent2"/>
          </a:solidFill>
          <a:ln w="12700">
            <a:solidFill>
              <a:schemeClr val="bg1"/>
            </a:solidFill>
            <a:prstDash val="solid"/>
          </a:ln>
        </p:spPr>
      </p:sp>
      <p:sp>
        <p:nvSpPr>
          <p:cNvPr id="9" name="Text 7"/>
          <p:cNvSpPr txBox="1"/>
          <p:nvPr/>
        </p:nvSpPr>
        <p:spPr>
          <a:xfrm>
            <a:off x="932688" y="1901952"/>
            <a:ext cx="566928" cy="219456"/>
          </a:xfrm>
          <a:prstGeom prst="rect">
            <a:avLst/>
          </a:prstGeom>
          <a:noFill/>
          <a:ln/>
        </p:spPr>
        <p:txBody>
          <a:bodyPr wrap="square" lIns="0" tIns="0" rIns="0" bIns="0" rtlCol="0" anchor="ctr"/>
          <a:lstStyle/>
          <a:p>
            <a:pPr algn="ctr" indent="0" marL="0">
              <a:buNone/>
            </a:pPr>
            <a:r>
              <a:rPr lang="en-US" sz="1000" b="1" dirty="0">
                <a:solidFill>
                  <a:schemeClr val="bg1"/>
                </a:solidFill>
              </a:rPr>
              <a:t>● LIVE</a:t>
            </a:r>
            <a:endParaRPr lang="en-US" sz="1000" dirty="0"/>
          </a:p>
        </p:txBody>
      </p:sp>
      <p:sp>
        <p:nvSpPr>
          <p:cNvPr id="10" name="Text 8"/>
          <p:cNvSpPr txBox="1"/>
          <p:nvPr/>
        </p:nvSpPr>
        <p:spPr>
          <a:xfrm>
            <a:off x="1901952" y="1901952"/>
            <a:ext cx="1371600" cy="219456"/>
          </a:xfrm>
          <a:prstGeom prst="rect">
            <a:avLst/>
          </a:prstGeom>
          <a:noFill/>
          <a:ln/>
        </p:spPr>
        <p:txBody>
          <a:bodyPr wrap="square" lIns="0" tIns="0" rIns="0" bIns="0" rtlCol="0" anchor="ctr"/>
          <a:lstStyle/>
          <a:p>
            <a:pPr algn="r" indent="0" marL="0">
              <a:buNone/>
            </a:pPr>
            <a:r>
              <a:rPr lang="en-US" sz="1000" dirty="0">
                <a:solidFill>
                  <a:schemeClr val="tx2"/>
                </a:solidFill>
              </a:rPr>
              <a:t>Step 2 of 5</a:t>
            </a:r>
            <a:endParaRPr lang="en-US" sz="1000" dirty="0"/>
          </a:p>
        </p:txBody>
      </p:sp>
      <p:sp>
        <p:nvSpPr>
          <p:cNvPr id="11" name="Dashboard frame"/>
          <p:cNvSpPr/>
          <p:nvPr/>
        </p:nvSpPr>
        <p:spPr>
          <a:xfrm>
            <a:off x="4069080" y="1645920"/>
            <a:ext cx="7680960" cy="4709160"/>
          </a:xfrm>
          <a:prstGeom prst="roundRect">
            <a:avLst>
              <a:gd name="adj" fmla="val 2330"/>
            </a:avLst>
          </a:prstGeom>
          <a:solidFill>
            <a:schemeClr val="bg1"/>
          </a:solidFill>
          <a:ln w="12700">
            <a:solidFill>
              <a:schemeClr val="bg1"/>
            </a:solidFill>
            <a:prstDash val="solid"/>
          </a:ln>
          <a:effectLst>
            <a:outerShdw sx="100000" sy="100000" kx="0" ky="0" algn="bl" rotWithShape="0" blurRad="101600" dist="25400" dir="5400000">
              <a:srgbClr val="1A1B2E">
                <a:alpha val="12000"/>
              </a:srgbClr>
            </a:outerShdw>
          </a:effectLst>
        </p:spPr>
      </p:sp>
      <p:sp>
        <p:nvSpPr>
          <p:cNvPr id="12" name="Text 10"/>
          <p:cNvSpPr txBox="1"/>
          <p:nvPr/>
        </p:nvSpPr>
        <p:spPr>
          <a:xfrm>
            <a:off x="4251960" y="1764792"/>
            <a:ext cx="1737360" cy="329184"/>
          </a:xfrm>
          <a:prstGeom prst="rect">
            <a:avLst/>
          </a:prstGeom>
          <a:noFill/>
          <a:ln/>
        </p:spPr>
        <p:txBody>
          <a:bodyPr wrap="square" lIns="0" tIns="0" rIns="0" bIns="0" rtlCol="0" anchor="ctr"/>
          <a:lstStyle/>
          <a:p>
            <a:pPr indent="0" marL="0">
              <a:buNone/>
            </a:pPr>
            <a:r>
              <a:rPr lang="en-US" sz="1300" b="1" dirty="0">
                <a:solidFill>
                  <a:schemeClr val="tx1"/>
                </a:solidFill>
              </a:rPr>
              <a:t>Teacher dashboard</a:t>
            </a:r>
            <a:endParaRPr lang="en-US" sz="1300" dirty="0"/>
          </a:p>
        </p:txBody>
      </p:sp>
      <p:sp>
        <p:nvSpPr>
          <p:cNvPr id="13" name="Live pill"/>
          <p:cNvSpPr/>
          <p:nvPr/>
        </p:nvSpPr>
        <p:spPr>
          <a:xfrm>
            <a:off x="5989320" y="1819656"/>
            <a:ext cx="566928" cy="219456"/>
          </a:xfrm>
          <a:prstGeom prst="roundRect">
            <a:avLst>
              <a:gd name="adj" fmla="val 50000"/>
            </a:avLst>
          </a:prstGeom>
          <a:solidFill>
            <a:schemeClr val="accent2"/>
          </a:solidFill>
          <a:ln w="12700">
            <a:solidFill>
              <a:schemeClr val="bg1"/>
            </a:solidFill>
            <a:prstDash val="solid"/>
          </a:ln>
        </p:spPr>
      </p:sp>
      <p:sp>
        <p:nvSpPr>
          <p:cNvPr id="14" name="Text 12"/>
          <p:cNvSpPr txBox="1"/>
          <p:nvPr/>
        </p:nvSpPr>
        <p:spPr>
          <a:xfrm>
            <a:off x="5989320" y="1819656"/>
            <a:ext cx="566928" cy="219456"/>
          </a:xfrm>
          <a:prstGeom prst="rect">
            <a:avLst/>
          </a:prstGeom>
          <a:noFill/>
          <a:ln/>
        </p:spPr>
        <p:txBody>
          <a:bodyPr wrap="square" lIns="0" tIns="0" rIns="0" bIns="0" rtlCol="0" anchor="ctr"/>
          <a:lstStyle/>
          <a:p>
            <a:pPr algn="ctr" indent="0" marL="0">
              <a:buNone/>
            </a:pPr>
            <a:r>
              <a:rPr lang="en-US" sz="1000" b="1" dirty="0">
                <a:solidFill>
                  <a:schemeClr val="bg1"/>
                </a:solidFill>
              </a:rPr>
              <a:t>● LIVE</a:t>
            </a:r>
            <a:endParaRPr lang="en-US" sz="1000" dirty="0"/>
          </a:p>
        </p:txBody>
      </p:sp>
      <p:sp>
        <p:nvSpPr>
          <p:cNvPr id="15" name="Text 13"/>
          <p:cNvSpPr txBox="1"/>
          <p:nvPr/>
        </p:nvSpPr>
        <p:spPr>
          <a:xfrm>
            <a:off x="6647688" y="1764792"/>
            <a:ext cx="1280160" cy="329184"/>
          </a:xfrm>
          <a:prstGeom prst="rect">
            <a:avLst/>
          </a:prstGeom>
          <a:noFill/>
          <a:ln/>
        </p:spPr>
        <p:txBody>
          <a:bodyPr wrap="square" lIns="0" tIns="0" rIns="0" bIns="0" rtlCol="0" anchor="ctr"/>
          <a:lstStyle/>
          <a:p>
            <a:pPr indent="0" marL="0">
              <a:buNone/>
            </a:pPr>
            <a:r>
              <a:rPr lang="en-US" sz="1100" dirty="0">
                <a:solidFill>
                  <a:schemeClr val="tx2"/>
                </a:solidFill>
              </a:rPr>
              <a:t>1,284 students</a:t>
            </a:r>
            <a:endParaRPr lang="en-US" sz="1100" dirty="0"/>
          </a:p>
        </p:txBody>
      </p:sp>
      <p:sp>
        <p:nvSpPr>
          <p:cNvPr id="16" name="Step 1 dot"/>
          <p:cNvSpPr/>
          <p:nvPr/>
        </p:nvSpPr>
        <p:spPr>
          <a:xfrm>
            <a:off x="8001000" y="1810512"/>
            <a:ext cx="246888" cy="246888"/>
          </a:xfrm>
          <a:prstGeom prst="ellipse">
            <a:avLst/>
          </a:prstGeom>
          <a:solidFill>
            <a:schemeClr val="accent1">
              <a:alpha val="20000"/>
            </a:schemeClr>
          </a:solidFill>
          <a:ln w="12700">
            <a:solidFill>
              <a:schemeClr val="accent1"/>
            </a:solidFill>
            <a:prstDash val="solid"/>
          </a:ln>
        </p:spPr>
      </p:sp>
      <p:sp>
        <p:nvSpPr>
          <p:cNvPr id="17" name="Text 15"/>
          <p:cNvSpPr txBox="1"/>
          <p:nvPr/>
        </p:nvSpPr>
        <p:spPr>
          <a:xfrm>
            <a:off x="8001000" y="1810512"/>
            <a:ext cx="246888" cy="246888"/>
          </a:xfrm>
          <a:prstGeom prst="rect">
            <a:avLst/>
          </a:prstGeom>
          <a:noFill/>
          <a:ln/>
        </p:spPr>
        <p:txBody>
          <a:bodyPr wrap="square" lIns="0" tIns="0" rIns="0" bIns="0" rtlCol="0" anchor="ctr"/>
          <a:lstStyle/>
          <a:p>
            <a:pPr algn="ctr" indent="0" marL="0">
              <a:buNone/>
            </a:pPr>
            <a:r>
              <a:rPr lang="en-US" sz="1000" b="1" dirty="0">
                <a:solidFill>
                  <a:schemeClr val="accent1"/>
                </a:solidFill>
              </a:rPr>
              <a:t>1</a:t>
            </a:r>
            <a:endParaRPr lang="en-US" sz="1000" dirty="0"/>
          </a:p>
        </p:txBody>
      </p:sp>
      <p:sp>
        <p:nvSpPr>
          <p:cNvPr id="18" name="Step 2 dot"/>
          <p:cNvSpPr/>
          <p:nvPr/>
        </p:nvSpPr>
        <p:spPr>
          <a:xfrm>
            <a:off x="8330184" y="1810512"/>
            <a:ext cx="246888" cy="246888"/>
          </a:xfrm>
          <a:prstGeom prst="ellipse">
            <a:avLst/>
          </a:prstGeom>
          <a:solidFill>
            <a:schemeClr val="accent1"/>
          </a:solidFill>
          <a:ln w="12700">
            <a:solidFill>
              <a:schemeClr val="accent1"/>
            </a:solidFill>
            <a:prstDash val="solid"/>
          </a:ln>
        </p:spPr>
      </p:sp>
      <p:sp>
        <p:nvSpPr>
          <p:cNvPr id="19" name="Text 17"/>
          <p:cNvSpPr txBox="1"/>
          <p:nvPr/>
        </p:nvSpPr>
        <p:spPr>
          <a:xfrm>
            <a:off x="8330184" y="1810512"/>
            <a:ext cx="246888" cy="246888"/>
          </a:xfrm>
          <a:prstGeom prst="rect">
            <a:avLst/>
          </a:prstGeom>
          <a:no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20" name="Step 3 dot"/>
          <p:cNvSpPr/>
          <p:nvPr/>
        </p:nvSpPr>
        <p:spPr>
          <a:xfrm>
            <a:off x="8659368" y="1810512"/>
            <a:ext cx="246888" cy="246888"/>
          </a:xfrm>
          <a:prstGeom prst="ellipse">
            <a:avLst/>
          </a:prstGeom>
          <a:solidFill>
            <a:schemeClr val="bg1"/>
          </a:solidFill>
          <a:ln w="12700">
            <a:solidFill>
              <a:schemeClr val="accent1"/>
            </a:solidFill>
            <a:prstDash val="solid"/>
          </a:ln>
        </p:spPr>
      </p:sp>
      <p:sp>
        <p:nvSpPr>
          <p:cNvPr id="21" name="Text 19"/>
          <p:cNvSpPr txBox="1"/>
          <p:nvPr/>
        </p:nvSpPr>
        <p:spPr>
          <a:xfrm>
            <a:off x="8659368" y="1810512"/>
            <a:ext cx="246888" cy="246888"/>
          </a:xfrm>
          <a:prstGeom prst="rect">
            <a:avLst/>
          </a:prstGeom>
          <a:noFill/>
          <a:ln/>
        </p:spPr>
        <p:txBody>
          <a:bodyPr wrap="square" lIns="0" tIns="0" rIns="0" bIns="0" rtlCol="0" anchor="ctr"/>
          <a:lstStyle/>
          <a:p>
            <a:pPr algn="ctr" indent="0" marL="0">
              <a:buNone/>
            </a:pPr>
            <a:r>
              <a:rPr lang="en-US" sz="1000" b="1" dirty="0">
                <a:solidFill>
                  <a:schemeClr val="accent1"/>
                </a:solidFill>
              </a:rPr>
              <a:t>3</a:t>
            </a:r>
            <a:endParaRPr lang="en-US" sz="1000" dirty="0"/>
          </a:p>
        </p:txBody>
      </p:sp>
      <p:sp>
        <p:nvSpPr>
          <p:cNvPr id="22" name="Step 4 dot"/>
          <p:cNvSpPr/>
          <p:nvPr/>
        </p:nvSpPr>
        <p:spPr>
          <a:xfrm>
            <a:off x="8988552" y="1810512"/>
            <a:ext cx="246888" cy="246888"/>
          </a:xfrm>
          <a:prstGeom prst="ellipse">
            <a:avLst/>
          </a:prstGeom>
          <a:solidFill>
            <a:schemeClr val="bg1"/>
          </a:solidFill>
          <a:ln w="12700">
            <a:solidFill>
              <a:schemeClr val="accent1"/>
            </a:solidFill>
            <a:prstDash val="solid"/>
          </a:ln>
        </p:spPr>
      </p:sp>
      <p:sp>
        <p:nvSpPr>
          <p:cNvPr id="23" name="Text 21"/>
          <p:cNvSpPr txBox="1"/>
          <p:nvPr/>
        </p:nvSpPr>
        <p:spPr>
          <a:xfrm>
            <a:off x="8988552" y="1810512"/>
            <a:ext cx="246888" cy="246888"/>
          </a:xfrm>
          <a:prstGeom prst="rect">
            <a:avLst/>
          </a:prstGeom>
          <a:noFill/>
          <a:ln/>
        </p:spPr>
        <p:txBody>
          <a:bodyPr wrap="square" lIns="0" tIns="0" rIns="0" bIns="0" rtlCol="0" anchor="ctr"/>
          <a:lstStyle/>
          <a:p>
            <a:pPr algn="ctr" indent="0" marL="0">
              <a:buNone/>
            </a:pPr>
            <a:r>
              <a:rPr lang="en-US" sz="1000" b="1" dirty="0">
                <a:solidFill>
                  <a:schemeClr val="accent1"/>
                </a:solidFill>
              </a:rPr>
              <a:t>4</a:t>
            </a:r>
            <a:endParaRPr lang="en-US" sz="1000" dirty="0"/>
          </a:p>
        </p:txBody>
      </p:sp>
      <p:sp>
        <p:nvSpPr>
          <p:cNvPr id="24" name="Step 5 dot"/>
          <p:cNvSpPr/>
          <p:nvPr/>
        </p:nvSpPr>
        <p:spPr>
          <a:xfrm>
            <a:off x="9317736" y="1810512"/>
            <a:ext cx="246888" cy="246888"/>
          </a:xfrm>
          <a:prstGeom prst="ellipse">
            <a:avLst/>
          </a:prstGeom>
          <a:solidFill>
            <a:schemeClr val="bg1"/>
          </a:solidFill>
          <a:ln w="12700">
            <a:solidFill>
              <a:schemeClr val="accent1"/>
            </a:solidFill>
            <a:prstDash val="solid"/>
          </a:ln>
        </p:spPr>
      </p:sp>
      <p:sp>
        <p:nvSpPr>
          <p:cNvPr id="25" name="Text 23"/>
          <p:cNvSpPr txBox="1"/>
          <p:nvPr/>
        </p:nvSpPr>
        <p:spPr>
          <a:xfrm>
            <a:off x="9317736" y="1810512"/>
            <a:ext cx="246888" cy="246888"/>
          </a:xfrm>
          <a:prstGeom prst="rect">
            <a:avLst/>
          </a:prstGeom>
          <a:noFill/>
          <a:ln/>
        </p:spPr>
        <p:txBody>
          <a:bodyPr wrap="square" lIns="0" tIns="0" rIns="0" bIns="0" rtlCol="0" anchor="ctr"/>
          <a:lstStyle/>
          <a:p>
            <a:pPr algn="ctr" indent="0" marL="0">
              <a:buNone/>
            </a:pPr>
            <a:r>
              <a:rPr lang="en-US" sz="1000" b="1" dirty="0">
                <a:solidFill>
                  <a:schemeClr val="accent1"/>
                </a:solidFill>
              </a:rPr>
              <a:t>5</a:t>
            </a:r>
            <a:endParaRPr lang="en-US" sz="1000" dirty="0"/>
          </a:p>
        </p:txBody>
      </p:sp>
      <p:sp>
        <p:nvSpPr>
          <p:cNvPr id="26" name="Step 6 dot"/>
          <p:cNvSpPr/>
          <p:nvPr/>
        </p:nvSpPr>
        <p:spPr>
          <a:xfrm>
            <a:off x="9646920" y="1810512"/>
            <a:ext cx="246888" cy="246888"/>
          </a:xfrm>
          <a:prstGeom prst="ellipse">
            <a:avLst/>
          </a:prstGeom>
          <a:solidFill>
            <a:schemeClr val="bg1"/>
          </a:solidFill>
          <a:ln w="12700">
            <a:solidFill>
              <a:schemeClr val="accent1"/>
            </a:solidFill>
            <a:prstDash val="solid"/>
          </a:ln>
        </p:spPr>
      </p:sp>
      <p:sp>
        <p:nvSpPr>
          <p:cNvPr id="27" name="Text 25"/>
          <p:cNvSpPr txBox="1"/>
          <p:nvPr/>
        </p:nvSpPr>
        <p:spPr>
          <a:xfrm>
            <a:off x="9646920" y="1810512"/>
            <a:ext cx="246888" cy="246888"/>
          </a:xfrm>
          <a:prstGeom prst="rect">
            <a:avLst/>
          </a:prstGeom>
          <a:noFill/>
          <a:ln/>
        </p:spPr>
        <p:txBody>
          <a:bodyPr wrap="square" lIns="0" tIns="0" rIns="0" bIns="0" rtlCol="0" anchor="ctr"/>
          <a:lstStyle/>
          <a:p>
            <a:pPr algn="ctr" indent="0" marL="0">
              <a:buNone/>
            </a:pPr>
            <a:r>
              <a:rPr lang="en-US" sz="1000" b="1" dirty="0">
                <a:solidFill>
                  <a:schemeClr val="accent1"/>
                </a:solidFill>
              </a:rPr>
              <a:t>6</a:t>
            </a:r>
            <a:endParaRPr lang="en-US" sz="1000" dirty="0"/>
          </a:p>
        </p:txBody>
      </p:sp>
      <p:sp>
        <p:nvSpPr>
          <p:cNvPr id="28" name="Next step button"/>
          <p:cNvSpPr/>
          <p:nvPr/>
        </p:nvSpPr>
        <p:spPr>
          <a:xfrm>
            <a:off x="10104120" y="1783080"/>
            <a:ext cx="1463040" cy="310896"/>
          </a:xfrm>
          <a:prstGeom prst="roundRect">
            <a:avLst>
              <a:gd name="adj" fmla="val 50000"/>
            </a:avLst>
          </a:prstGeom>
          <a:solidFill>
            <a:schemeClr val="accent1"/>
          </a:solidFill>
          <a:ln w="12700">
            <a:solidFill>
              <a:schemeClr val="bg1"/>
            </a:solidFill>
            <a:prstDash val="solid"/>
          </a:ln>
        </p:spPr>
      </p:sp>
      <p:sp>
        <p:nvSpPr>
          <p:cNvPr id="29" name="Text 27"/>
          <p:cNvSpPr txBox="1"/>
          <p:nvPr/>
        </p:nvSpPr>
        <p:spPr>
          <a:xfrm>
            <a:off x="10104120" y="1783080"/>
            <a:ext cx="1463040" cy="310896"/>
          </a:xfrm>
          <a:prstGeom prst="rect">
            <a:avLst/>
          </a:prstGeom>
          <a:noFill/>
          <a:ln/>
        </p:spPr>
        <p:txBody>
          <a:bodyPr wrap="square" lIns="0" tIns="0" rIns="0" bIns="0" rtlCol="0" anchor="ctr"/>
          <a:lstStyle/>
          <a:p>
            <a:pPr algn="ctr" indent="0" marL="0">
              <a:buNone/>
            </a:pPr>
            <a:r>
              <a:rPr lang="en-US" sz="1100" b="1" dirty="0">
                <a:solidFill>
                  <a:schemeClr val="bg1"/>
                </a:solidFill>
              </a:rPr>
              <a:t>Next step →</a:t>
            </a:r>
            <a:endParaRPr lang="en-US" sz="1100" dirty="0"/>
          </a:p>
        </p:txBody>
      </p:sp>
      <p:sp>
        <p:nvSpPr>
          <p:cNvPr id="30" name="Header divider"/>
          <p:cNvSpPr/>
          <p:nvPr/>
        </p:nvSpPr>
        <p:spPr>
          <a:xfrm>
            <a:off x="4206240" y="2240280"/>
            <a:ext cx="7406640" cy="0"/>
          </a:xfrm>
          <a:prstGeom prst="line">
            <a:avLst/>
          </a:prstGeom>
          <a:noFill/>
          <a:ln w="19050">
            <a:solidFill>
              <a:schemeClr val="bg2"/>
            </a:solidFill>
            <a:prstDash val="solid"/>
          </a:ln>
        </p:spPr>
      </p:sp>
      <p:sp>
        <p:nvSpPr>
          <p:cNvPr id="31" name="Text 29"/>
          <p:cNvSpPr txBox="1"/>
          <p:nvPr/>
        </p:nvSpPr>
        <p:spPr>
          <a:xfrm>
            <a:off x="932688" y="2240280"/>
            <a:ext cx="2340864" cy="274320"/>
          </a:xfrm>
          <a:prstGeom prst="rect">
            <a:avLst/>
          </a:prstGeom>
          <a:noFill/>
          <a:ln/>
        </p:spPr>
        <p:txBody>
          <a:bodyPr wrap="square" lIns="0" tIns="0" rIns="0" bIns="0" rtlCol="0" anchor="t"/>
          <a:lstStyle/>
          <a:p>
            <a:pPr indent="0" marL="0">
              <a:buNone/>
            </a:pPr>
            <a:r>
              <a:rPr lang="en-US" sz="1300" b="1" dirty="0">
                <a:solidFill>
                  <a:schemeClr val="tx1"/>
                </a:solidFill>
              </a:rPr>
              <a:t>Write your topic sentence</a:t>
            </a:r>
            <a:endParaRPr lang="en-US" sz="1300" dirty="0"/>
          </a:p>
        </p:txBody>
      </p:sp>
      <p:sp>
        <p:nvSpPr>
          <p:cNvPr id="32" name="Shape 30"/>
          <p:cNvSpPr/>
          <p:nvPr/>
        </p:nvSpPr>
        <p:spPr>
          <a:xfrm>
            <a:off x="932688" y="2560320"/>
            <a:ext cx="2340864" cy="713232"/>
          </a:xfrm>
          <a:prstGeom prst="roundRect">
            <a:avLst>
              <a:gd name="adj" fmla="val 10256"/>
            </a:avLst>
          </a:prstGeom>
          <a:solidFill>
            <a:schemeClr val="accent4">
              <a:alpha val="15000"/>
            </a:schemeClr>
          </a:solidFill>
          <a:ln w="12700">
            <a:solidFill>
              <a:schemeClr val="bg1"/>
            </a:solidFill>
            <a:prstDash val="solid"/>
          </a:ln>
        </p:spPr>
      </p:sp>
      <p:sp>
        <p:nvSpPr>
          <p:cNvPr id="33" name="Text 31"/>
          <p:cNvSpPr txBox="1"/>
          <p:nvPr/>
        </p:nvSpPr>
        <p:spPr>
          <a:xfrm>
            <a:off x="1024128" y="2606040"/>
            <a:ext cx="2157984" cy="621792"/>
          </a:xfrm>
          <a:prstGeom prst="rect">
            <a:avLst/>
          </a:prstGeom>
          <a:noFill/>
          <a:ln/>
        </p:spPr>
        <p:txBody>
          <a:bodyPr wrap="square" lIns="0" tIns="0" rIns="0" bIns="0" rtlCol="0" anchor="ctr"/>
          <a:lstStyle/>
          <a:p>
            <a:pPr indent="0" marL="0">
              <a:buNone/>
            </a:pPr>
            <a:r>
              <a:rPr lang="en-US" sz="1000" i="1" dirty="0">
                <a:solidFill>
                  <a:schemeClr val="tx1"/>
                </a:solidFill>
              </a:rPr>
              <a:t>I am personally in favor of X because it brings about many significant benefits.</a:t>
            </a:r>
            <a:endParaRPr lang="en-US" sz="1000" dirty="0"/>
          </a:p>
        </p:txBody>
      </p:sp>
      <p:sp>
        <p:nvSpPr>
          <p:cNvPr id="34" name="Shape 32"/>
          <p:cNvSpPr/>
          <p:nvPr/>
        </p:nvSpPr>
        <p:spPr>
          <a:xfrm>
            <a:off x="932688" y="3364992"/>
            <a:ext cx="2340864" cy="868680"/>
          </a:xfrm>
          <a:prstGeom prst="roundRect">
            <a:avLst>
              <a:gd name="adj" fmla="val 8421"/>
            </a:avLst>
          </a:prstGeom>
          <a:solidFill>
            <a:schemeClr val="bg1"/>
          </a:solidFill>
          <a:ln w="12700">
            <a:solidFill>
              <a:schemeClr val="accent5"/>
            </a:solidFill>
            <a:prstDash val="solid"/>
          </a:ln>
        </p:spPr>
      </p:sp>
      <p:sp>
        <p:nvSpPr>
          <p:cNvPr id="35" name="Text 33"/>
          <p:cNvSpPr txBox="1"/>
          <p:nvPr/>
        </p:nvSpPr>
        <p:spPr>
          <a:xfrm>
            <a:off x="1024128" y="3419856"/>
            <a:ext cx="2157984" cy="777240"/>
          </a:xfrm>
          <a:prstGeom prst="rect">
            <a:avLst/>
          </a:prstGeom>
          <a:noFill/>
          <a:ln/>
        </p:spPr>
        <p:txBody>
          <a:bodyPr wrap="square" lIns="0" tIns="0" rIns="0" bIns="0" rtlCol="0" anchor="ctr"/>
          <a:lstStyle/>
          <a:p>
            <a:pPr indent="0" marL="0">
              <a:buNone/>
            </a:pPr>
            <a:r>
              <a:rPr lang="en-US" sz="1100" dirty="0">
                <a:solidFill>
                  <a:schemeClr val="tx1"/>
                </a:solidFill>
              </a:rPr>
              <a:t>I am personally in favor of </a:t>
            </a:r>
            <a:pPr indent="0" marL="0">
              <a:buNone/>
            </a:pPr>
            <a:r>
              <a:rPr lang="en-US" sz="1100" b="1" u="wavy" dirty="0">
                <a:solidFill>
                  <a:schemeClr val="accent2"/>
                </a:solidFill>
                <a:uFill>
                  <a:solidFill>
                    <a:schemeClr val="accent2"/>
                  </a:solidFill>
                </a:uFill>
              </a:rPr>
              <a:t>study</a:t>
            </a:r>
            <a:pPr indent="0" marL="0">
              <a:buNone/>
            </a:pPr>
            <a:r>
              <a:rPr lang="en-US" sz="1100" dirty="0">
                <a:solidFill>
                  <a:schemeClr val="tx1"/>
                </a:solidFill>
              </a:rPr>
              <a:t> all subjects because it brings about many significant benefits.</a:t>
            </a:r>
            <a:endParaRPr lang="en-US" sz="1100" dirty="0"/>
          </a:p>
        </p:txBody>
      </p:sp>
      <p:sp>
        <p:nvSpPr>
          <p:cNvPr id="36" name="Tutor bubble"/>
          <p:cNvSpPr/>
          <p:nvPr/>
        </p:nvSpPr>
        <p:spPr>
          <a:xfrm>
            <a:off x="932688" y="4343400"/>
            <a:ext cx="2340864" cy="1280160"/>
          </a:xfrm>
          <a:prstGeom prst="roundRect">
            <a:avLst>
              <a:gd name="adj" fmla="val 5714"/>
            </a:avLst>
          </a:prstGeom>
          <a:solidFill>
            <a:schemeClr val="accent1">
              <a:alpha val="10000"/>
            </a:schemeClr>
          </a:solidFill>
          <a:ln w="12700">
            <a:solidFill>
              <a:schemeClr val="bg1"/>
            </a:solidFill>
            <a:prstDash val="solid"/>
          </a:ln>
        </p:spPr>
      </p:sp>
      <p:sp>
        <p:nvSpPr>
          <p:cNvPr id="37" name="Text 35"/>
          <p:cNvSpPr txBox="1"/>
          <p:nvPr/>
        </p:nvSpPr>
        <p:spPr>
          <a:xfrm>
            <a:off x="1024128" y="4416552"/>
            <a:ext cx="2157984" cy="201168"/>
          </a:xfrm>
          <a:prstGeom prst="rect">
            <a:avLst/>
          </a:prstGeom>
          <a:noFill/>
          <a:ln/>
        </p:spPr>
        <p:txBody>
          <a:bodyPr wrap="square" lIns="0" tIns="0" rIns="0" bIns="0" rtlCol="0" anchor="t"/>
          <a:lstStyle/>
          <a:p>
            <a:pPr indent="0" marL="0">
              <a:buNone/>
            </a:pPr>
            <a:r>
              <a:rPr lang="en-US" sz="1000" b="1" dirty="0">
                <a:solidFill>
                  <a:schemeClr val="accent1"/>
                </a:solidFill>
              </a:rPr>
              <a:t>Tutor · hint 1 of 2</a:t>
            </a:r>
            <a:endParaRPr lang="en-US" sz="1000" dirty="0"/>
          </a:p>
        </p:txBody>
      </p:sp>
      <p:sp>
        <p:nvSpPr>
          <p:cNvPr id="38" name="Text 36"/>
          <p:cNvSpPr txBox="1"/>
          <p:nvPr/>
        </p:nvSpPr>
        <p:spPr>
          <a:xfrm>
            <a:off x="1024128" y="4617720"/>
            <a:ext cx="2157984" cy="950976"/>
          </a:xfrm>
          <a:prstGeom prst="rect">
            <a:avLst/>
          </a:prstGeom>
          <a:noFill/>
          <a:ln/>
        </p:spPr>
        <p:txBody>
          <a:bodyPr wrap="square" lIns="0" tIns="0" rIns="0" bIns="0" rtlCol="0" anchor="t"/>
          <a:lstStyle/>
          <a:p>
            <a:pPr indent="0" marL="0">
              <a:buNone/>
            </a:pPr>
            <a:r>
              <a:rPr lang="en-US" sz="1100" dirty="0">
                <a:solidFill>
                  <a:schemeClr val="tx1"/>
                </a:solidFill>
              </a:rPr>
              <a:t>Look at the word right after “of”. What form does a verb take after a preposition?</a:t>
            </a:r>
            <a:endParaRPr lang="en-US" sz="1100" dirty="0"/>
          </a:p>
        </p:txBody>
      </p:sp>
      <p:sp>
        <p:nvSpPr>
          <p:cNvPr id="39" name="Confusion toggle"/>
          <p:cNvSpPr/>
          <p:nvPr/>
        </p:nvSpPr>
        <p:spPr>
          <a:xfrm>
            <a:off x="932688" y="5760720"/>
            <a:ext cx="2340864" cy="365760"/>
          </a:xfrm>
          <a:prstGeom prst="roundRect">
            <a:avLst>
              <a:gd name="adj" fmla="val 50000"/>
            </a:avLst>
          </a:prstGeom>
          <a:solidFill>
            <a:schemeClr val="bg2"/>
          </a:solidFill>
          <a:ln w="12700">
            <a:solidFill>
              <a:schemeClr val="bg1"/>
            </a:solidFill>
            <a:prstDash val="solid"/>
          </a:ln>
        </p:spPr>
      </p:sp>
      <p:sp>
        <p:nvSpPr>
          <p:cNvPr id="40" name="Toggle selected"/>
          <p:cNvSpPr/>
          <p:nvPr/>
        </p:nvSpPr>
        <p:spPr>
          <a:xfrm>
            <a:off x="2103120" y="5760720"/>
            <a:ext cx="1170432" cy="365760"/>
          </a:xfrm>
          <a:prstGeom prst="roundRect">
            <a:avLst>
              <a:gd name="adj" fmla="val 50000"/>
            </a:avLst>
          </a:prstGeom>
          <a:solidFill>
            <a:schemeClr val="accent2"/>
          </a:solidFill>
          <a:ln w="12700">
            <a:solidFill>
              <a:schemeClr val="bg1"/>
            </a:solidFill>
            <a:prstDash val="solid"/>
          </a:ln>
        </p:spPr>
      </p:sp>
      <p:sp>
        <p:nvSpPr>
          <p:cNvPr id="41" name="Text 39"/>
          <p:cNvSpPr txBox="1"/>
          <p:nvPr/>
        </p:nvSpPr>
        <p:spPr>
          <a:xfrm>
            <a:off x="932688" y="5760720"/>
            <a:ext cx="1170432" cy="365760"/>
          </a:xfrm>
          <a:prstGeom prst="rect">
            <a:avLst/>
          </a:prstGeom>
          <a:noFill/>
          <a:ln/>
        </p:spPr>
        <p:txBody>
          <a:bodyPr wrap="square" lIns="0" tIns="0" rIns="0" bIns="0" rtlCol="0" anchor="ctr"/>
          <a:lstStyle/>
          <a:p>
            <a:pPr algn="ctr" indent="0" marL="0">
              <a:buNone/>
            </a:pPr>
            <a:r>
              <a:rPr lang="en-US" sz="1000" b="1" dirty="0">
                <a:solidFill>
                  <a:schemeClr val="tx2"/>
                </a:solidFill>
              </a:rPr>
              <a:t>Understand</a:t>
            </a:r>
            <a:endParaRPr lang="en-US" sz="1000" dirty="0"/>
          </a:p>
        </p:txBody>
      </p:sp>
      <p:sp>
        <p:nvSpPr>
          <p:cNvPr id="42" name="Text 40"/>
          <p:cNvSpPr txBox="1"/>
          <p:nvPr/>
        </p:nvSpPr>
        <p:spPr>
          <a:xfrm>
            <a:off x="2103120" y="5760720"/>
            <a:ext cx="1170432" cy="365760"/>
          </a:xfrm>
          <a:prstGeom prst="rect">
            <a:avLst/>
          </a:prstGeom>
          <a:noFill/>
          <a:ln/>
        </p:spPr>
        <p:txBody>
          <a:bodyPr wrap="square" lIns="0" tIns="0" rIns="0" bIns="0" rtlCol="0" anchor="ctr"/>
          <a:lstStyle/>
          <a:p>
            <a:pPr algn="ctr" indent="0" marL="0">
              <a:buNone/>
            </a:pPr>
            <a:r>
              <a:rPr lang="en-US" sz="1000" b="1" dirty="0">
                <a:solidFill>
                  <a:schemeClr val="bg1"/>
                </a:solidFill>
              </a:rPr>
              <a:t>Don't understand</a:t>
            </a:r>
            <a:endParaRPr lang="en-US" sz="1000" dirty="0"/>
          </a:p>
        </p:txBody>
      </p:sp>
      <p:sp>
        <p:nvSpPr>
          <p:cNvPr id="43" name="Text 41"/>
          <p:cNvSpPr txBox="1"/>
          <p:nvPr/>
        </p:nvSpPr>
        <p:spPr>
          <a:xfrm>
            <a:off x="4251960" y="2377440"/>
            <a:ext cx="5394960" cy="292608"/>
          </a:xfrm>
          <a:prstGeom prst="rect">
            <a:avLst/>
          </a:prstGeom>
          <a:noFill/>
          <a:ln/>
        </p:spPr>
        <p:txBody>
          <a:bodyPr wrap="square" lIns="0" tIns="0" rIns="0" bIns="0" rtlCol="0" anchor="t"/>
          <a:lstStyle/>
          <a:p>
            <a:pPr indent="0" marL="0">
              <a:buNone/>
            </a:pPr>
            <a:r>
              <a:rPr lang="en-US" sz="1500" b="1" dirty="0">
                <a:solidFill>
                  <a:schemeClr val="tx1"/>
                </a:solidFill>
              </a:rPr>
              <a:t>Mistakes in 1,106 topic sentences</a:t>
            </a:r>
            <a:endParaRPr lang="en-US" sz="1500" dirty="0"/>
          </a:p>
        </p:txBody>
      </p:sp>
      <p:graphicFrame>
        <p:nvGraphicFramePr>
          <p:cNvPr id="44" name="Mistake chart" descr=""/>
          <p:cNvGraphicFramePr/>
          <p:nvPr/>
        </p:nvGraphicFramePr>
        <p:xfrm>
          <a:off x="4160520" y="2697480"/>
          <a:ext cx="3337560" cy="3520440"/>
        </p:xfrm>
        <a:graphic xmlns:a="http://schemas.openxmlformats.org/drawingml/2006/main">
          <a:graphicData uri="http://schemas.openxmlformats.org/drawingml/2006/chart">
            <c:chart xmlns:c="http://schemas.openxmlformats.org/drawingml/2006/chart" r:id="rId1"/>
          </a:graphicData>
        </a:graphic>
      </p:graphicFrame>
      <p:sp>
        <p:nvSpPr>
          <p:cNvPr id="45" name="Shape 42"/>
          <p:cNvSpPr/>
          <p:nvPr/>
        </p:nvSpPr>
        <p:spPr>
          <a:xfrm>
            <a:off x="7589520" y="2697480"/>
            <a:ext cx="2103120" cy="3520440"/>
          </a:xfrm>
          <a:prstGeom prst="roundRect">
            <a:avLst>
              <a:gd name="adj" fmla="val 3478"/>
            </a:avLst>
          </a:prstGeom>
          <a:solidFill>
            <a:schemeClr val="accent2">
              <a:alpha val="10000"/>
            </a:schemeClr>
          </a:solidFill>
          <a:ln w="12700">
            <a:solidFill>
              <a:schemeClr val="bg1"/>
            </a:solidFill>
            <a:prstDash val="solid"/>
          </a:ln>
        </p:spPr>
      </p:sp>
      <p:sp>
        <p:nvSpPr>
          <p:cNvPr id="46" name="Text 43"/>
          <p:cNvSpPr txBox="1"/>
          <p:nvPr/>
        </p:nvSpPr>
        <p:spPr>
          <a:xfrm>
            <a:off x="7726680" y="2807208"/>
            <a:ext cx="1828800" cy="228600"/>
          </a:xfrm>
          <a:prstGeom prst="rect">
            <a:avLst/>
          </a:prstGeom>
          <a:noFill/>
          <a:ln/>
        </p:spPr>
        <p:txBody>
          <a:bodyPr wrap="square" lIns="0" tIns="0" rIns="0" bIns="0" rtlCol="0" anchor="t"/>
          <a:lstStyle/>
          <a:p>
            <a:pPr indent="0" marL="0">
              <a:buNone/>
            </a:pPr>
            <a:r>
              <a:rPr lang="en-US" sz="1000" b="1" spc="100" kern="0" dirty="0">
                <a:solidFill>
                  <a:schemeClr val="accent2"/>
                </a:solidFill>
              </a:rPr>
              <a:t>MOST COMMON</a:t>
            </a:r>
            <a:endParaRPr lang="en-US" sz="1000" dirty="0"/>
          </a:p>
        </p:txBody>
      </p:sp>
      <p:sp>
        <p:nvSpPr>
          <p:cNvPr id="47" name="Text 44"/>
          <p:cNvSpPr txBox="1"/>
          <p:nvPr/>
        </p:nvSpPr>
        <p:spPr>
          <a:xfrm>
            <a:off x="7726680" y="3063240"/>
            <a:ext cx="1828800" cy="731520"/>
          </a:xfrm>
          <a:prstGeom prst="rect">
            <a:avLst/>
          </a:prstGeom>
          <a:noFill/>
          <a:ln/>
        </p:spPr>
        <p:txBody>
          <a:bodyPr wrap="square" lIns="0" tIns="0" rIns="0" bIns="0" rtlCol="0" anchor="t"/>
          <a:lstStyle/>
          <a:p>
            <a:pPr indent="0" marL="0">
              <a:buNone/>
            </a:pPr>
            <a:r>
              <a:rPr lang="en-US" sz="1500" b="1" dirty="0">
                <a:solidFill>
                  <a:schemeClr val="tx1"/>
                </a:solidFill>
              </a:rPr>
              <a:t>41% wrote “in favor of study”</a:t>
            </a:r>
            <a:endParaRPr lang="en-US" sz="1500" dirty="0"/>
          </a:p>
        </p:txBody>
      </p:sp>
      <p:sp>
        <p:nvSpPr>
          <p:cNvPr id="48" name="Text 45"/>
          <p:cNvSpPr txBox="1"/>
          <p:nvPr/>
        </p:nvSpPr>
        <p:spPr>
          <a:xfrm>
            <a:off x="7726680" y="3931920"/>
            <a:ext cx="1828800" cy="228600"/>
          </a:xfrm>
          <a:prstGeom prst="rect">
            <a:avLst/>
          </a:prstGeom>
          <a:noFill/>
          <a:ln/>
        </p:spPr>
        <p:txBody>
          <a:bodyPr wrap="square" lIns="0" tIns="0" rIns="0" bIns="0" rtlCol="0" anchor="t"/>
          <a:lstStyle/>
          <a:p>
            <a:pPr indent="0" marL="0">
              <a:buNone/>
            </a:pPr>
            <a:r>
              <a:rPr lang="en-US" sz="1100" b="1" dirty="0">
                <a:solidFill>
                  <a:schemeClr val="tx2"/>
                </a:solidFill>
              </a:rPr>
              <a:t>Teach:</a:t>
            </a:r>
            <a:endParaRPr lang="en-US" sz="1100" dirty="0"/>
          </a:p>
        </p:txBody>
      </p:sp>
      <p:sp>
        <p:nvSpPr>
          <p:cNvPr id="49" name="Text 46"/>
          <p:cNvSpPr txBox="1"/>
          <p:nvPr/>
        </p:nvSpPr>
        <p:spPr>
          <a:xfrm>
            <a:off x="7726680" y="4160520"/>
            <a:ext cx="1828800" cy="685800"/>
          </a:xfrm>
          <a:prstGeom prst="rect">
            <a:avLst/>
          </a:prstGeom>
          <a:noFill/>
          <a:ln/>
        </p:spPr>
        <p:txBody>
          <a:bodyPr wrap="square" lIns="0" tIns="0" rIns="0" bIns="0" rtlCol="0" anchor="t"/>
          <a:lstStyle/>
          <a:p>
            <a:pPr indent="0" marL="0">
              <a:buNone/>
            </a:pPr>
            <a:r>
              <a:rPr lang="en-US" sz="1300" dirty="0">
                <a:solidFill>
                  <a:schemeClr val="tx1"/>
                </a:solidFill>
              </a:rPr>
              <a:t>in favor of + V-ing</a:t>
            </a:r>
            <a:endParaRPr lang="en-US" sz="1300" dirty="0"/>
          </a:p>
          <a:p>
            <a:pPr indent="0" marL="0">
              <a:buNone/>
            </a:pPr>
            <a:r>
              <a:rPr lang="en-US" sz="1300" dirty="0">
                <a:solidFill>
                  <a:schemeClr val="tx1"/>
                </a:solidFill>
              </a:rPr>
              <a:t>→ in favor of studying</a:t>
            </a:r>
            <a:endParaRPr lang="en-US" sz="1300" dirty="0"/>
          </a:p>
        </p:txBody>
      </p:sp>
      <p:sp>
        <p:nvSpPr>
          <p:cNvPr id="50" name="Text 47"/>
          <p:cNvSpPr txBox="1"/>
          <p:nvPr/>
        </p:nvSpPr>
        <p:spPr>
          <a:xfrm>
            <a:off x="7726680" y="4983480"/>
            <a:ext cx="1828800" cy="1097280"/>
          </a:xfrm>
          <a:prstGeom prst="rect">
            <a:avLst/>
          </a:prstGeom>
          <a:noFill/>
          <a:ln/>
        </p:spPr>
        <p:txBody>
          <a:bodyPr wrap="square" lIns="0" tIns="0" rIns="0" bIns="0" rtlCol="0" anchor="t"/>
          <a:lstStyle/>
          <a:p>
            <a:pPr indent="0" marL="0">
              <a:buNone/>
            </a:pPr>
            <a:r>
              <a:rPr lang="en-US" sz="1100" dirty="0">
                <a:solidFill>
                  <a:schemeClr val="tx2"/>
                </a:solidFill>
              </a:rPr>
              <a:t>Example answers:</a:t>
            </a:r>
            <a:endParaRPr lang="en-US" sz="1100" dirty="0"/>
          </a:p>
          <a:p>
            <a:pPr indent="0" marL="0">
              <a:buNone/>
            </a:pPr>
            <a:r>
              <a:rPr lang="en-US" sz="1100" dirty="0">
                <a:solidFill>
                  <a:schemeClr val="tx2"/>
                </a:solidFill>
              </a:rPr>
              <a:t>“in favor of study all…”</a:t>
            </a:r>
            <a:endParaRPr lang="en-US" sz="1100" dirty="0"/>
          </a:p>
          <a:p>
            <a:pPr indent="0" marL="0">
              <a:buNone/>
            </a:pPr>
            <a:r>
              <a:rPr lang="en-US" sz="1100" dirty="0">
                <a:solidFill>
                  <a:schemeClr val="tx2"/>
                </a:solidFill>
              </a:rPr>
              <a:t>“in favor of learn…”</a:t>
            </a:r>
            <a:endParaRPr lang="en-US" sz="1100" dirty="0"/>
          </a:p>
        </p:txBody>
      </p:sp>
      <p:sp>
        <p:nvSpPr>
          <p:cNvPr id="51" name="Confusion meter panel"/>
          <p:cNvSpPr/>
          <p:nvPr/>
        </p:nvSpPr>
        <p:spPr>
          <a:xfrm>
            <a:off x="9829800" y="2377440"/>
            <a:ext cx="1783080" cy="3840480"/>
          </a:xfrm>
          <a:prstGeom prst="roundRect">
            <a:avLst>
              <a:gd name="adj" fmla="val 4103"/>
            </a:avLst>
          </a:prstGeom>
          <a:solidFill>
            <a:schemeClr val="accent2">
              <a:alpha val="12000"/>
            </a:schemeClr>
          </a:solidFill>
          <a:ln w="12700">
            <a:solidFill>
              <a:schemeClr val="bg1"/>
            </a:solidFill>
            <a:prstDash val="solid"/>
          </a:ln>
        </p:spPr>
      </p:sp>
      <p:sp>
        <p:nvSpPr>
          <p:cNvPr id="52" name="Text 49"/>
          <p:cNvSpPr txBox="1"/>
          <p:nvPr/>
        </p:nvSpPr>
        <p:spPr>
          <a:xfrm>
            <a:off x="9966960" y="2514600"/>
            <a:ext cx="1508760" cy="274320"/>
          </a:xfrm>
          <a:prstGeom prst="rect">
            <a:avLst/>
          </a:prstGeom>
          <a:noFill/>
          <a:ln/>
        </p:spPr>
        <p:txBody>
          <a:bodyPr wrap="square" lIns="0" tIns="0" rIns="0" bIns="0" rtlCol="0" anchor="t"/>
          <a:lstStyle/>
          <a:p>
            <a:pPr indent="0" marL="0">
              <a:buNone/>
            </a:pPr>
            <a:r>
              <a:rPr lang="en-US" sz="1200" b="1" dirty="0">
                <a:solidFill>
                  <a:schemeClr val="tx1"/>
                </a:solidFill>
              </a:rPr>
              <a:t>Don't understand</a:t>
            </a:r>
            <a:endParaRPr lang="en-US" sz="1200" dirty="0"/>
          </a:p>
        </p:txBody>
      </p:sp>
      <p:sp>
        <p:nvSpPr>
          <p:cNvPr id="53" name="Text 50"/>
          <p:cNvSpPr txBox="1"/>
          <p:nvPr/>
        </p:nvSpPr>
        <p:spPr>
          <a:xfrm>
            <a:off x="9966960" y="2834640"/>
            <a:ext cx="1508760" cy="777240"/>
          </a:xfrm>
          <a:prstGeom prst="rect">
            <a:avLst/>
          </a:prstGeom>
          <a:noFill/>
          <a:ln/>
        </p:spPr>
        <p:txBody>
          <a:bodyPr wrap="square" lIns="0" tIns="0" rIns="0" bIns="0" rtlCol="0" anchor="ctr"/>
          <a:lstStyle/>
          <a:p>
            <a:pPr indent="0" marL="0">
              <a:buNone/>
            </a:pPr>
            <a:r>
              <a:rPr lang="en-US" sz="4400" b="1" dirty="0">
                <a:solidFill>
                  <a:schemeClr val="accent2"/>
                </a:solidFill>
              </a:rPr>
              <a:t>34%</a:t>
            </a:r>
            <a:endParaRPr lang="en-US" sz="4400" dirty="0"/>
          </a:p>
        </p:txBody>
      </p:sp>
      <p:sp>
        <p:nvSpPr>
          <p:cNvPr id="54" name="Text 51"/>
          <p:cNvSpPr txBox="1"/>
          <p:nvPr/>
        </p:nvSpPr>
        <p:spPr>
          <a:xfrm>
            <a:off x="9966960" y="3639312"/>
            <a:ext cx="1508760" cy="228600"/>
          </a:xfrm>
          <a:prstGeom prst="rect">
            <a:avLst/>
          </a:prstGeom>
          <a:noFill/>
          <a:ln/>
        </p:spPr>
        <p:txBody>
          <a:bodyPr wrap="square" lIns="0" tIns="0" rIns="0" bIns="0" rtlCol="0" anchor="t"/>
          <a:lstStyle/>
          <a:p>
            <a:pPr indent="0" marL="0">
              <a:buNone/>
            </a:pPr>
            <a:r>
              <a:rPr lang="en-US" sz="1000" dirty="0">
                <a:solidFill>
                  <a:schemeClr val="tx2"/>
                </a:solidFill>
              </a:rPr>
              <a:t>437 students right now</a:t>
            </a:r>
            <a:endParaRPr lang="en-US" sz="1000" dirty="0"/>
          </a:p>
        </p:txBody>
      </p:sp>
      <p:sp>
        <p:nvSpPr>
          <p:cNvPr id="55" name="Meter track"/>
          <p:cNvSpPr/>
          <p:nvPr/>
        </p:nvSpPr>
        <p:spPr>
          <a:xfrm>
            <a:off x="9966960" y="4023360"/>
            <a:ext cx="1508760" cy="146304"/>
          </a:xfrm>
          <a:prstGeom prst="roundRect">
            <a:avLst>
              <a:gd name="adj" fmla="val 50000"/>
            </a:avLst>
          </a:prstGeom>
          <a:solidFill>
            <a:schemeClr val="bg1"/>
          </a:solidFill>
          <a:ln w="9525">
            <a:solidFill>
              <a:schemeClr val="accent5"/>
            </a:solidFill>
            <a:prstDash val="solid"/>
          </a:ln>
        </p:spPr>
      </p:sp>
      <p:sp>
        <p:nvSpPr>
          <p:cNvPr id="56" name="Meter fill"/>
          <p:cNvSpPr/>
          <p:nvPr/>
        </p:nvSpPr>
        <p:spPr>
          <a:xfrm>
            <a:off x="9966960" y="4023360"/>
            <a:ext cx="512978" cy="146304"/>
          </a:xfrm>
          <a:prstGeom prst="roundRect">
            <a:avLst>
              <a:gd name="adj" fmla="val 50000"/>
            </a:avLst>
          </a:prstGeom>
          <a:solidFill>
            <a:schemeClr val="accent2"/>
          </a:solidFill>
          <a:ln w="12700">
            <a:solidFill>
              <a:schemeClr val="bg1"/>
            </a:solidFill>
            <a:prstDash val="solid"/>
          </a:ln>
        </p:spPr>
      </p:sp>
      <p:sp>
        <p:nvSpPr>
          <p:cNvPr id="57" name="Alert threshold"/>
          <p:cNvSpPr/>
          <p:nvPr/>
        </p:nvSpPr>
        <p:spPr>
          <a:xfrm>
            <a:off x="10419588" y="3950208"/>
            <a:ext cx="0" cy="292608"/>
          </a:xfrm>
          <a:prstGeom prst="line">
            <a:avLst/>
          </a:prstGeom>
          <a:noFill/>
          <a:ln w="15875">
            <a:solidFill>
              <a:schemeClr val="tx1"/>
            </a:solidFill>
            <a:prstDash val="dash"/>
          </a:ln>
        </p:spPr>
      </p:sp>
      <p:sp>
        <p:nvSpPr>
          <p:cNvPr id="58" name="Text 55"/>
          <p:cNvSpPr txBox="1"/>
          <p:nvPr/>
        </p:nvSpPr>
        <p:spPr>
          <a:xfrm>
            <a:off x="9966960" y="4297680"/>
            <a:ext cx="1508760" cy="201168"/>
          </a:xfrm>
          <a:prstGeom prst="rect">
            <a:avLst/>
          </a:prstGeom>
          <a:noFill/>
          <a:ln/>
        </p:spPr>
        <p:txBody>
          <a:bodyPr wrap="square" lIns="0" tIns="0" rIns="0" bIns="0" rtlCol="0" anchor="t"/>
          <a:lstStyle/>
          <a:p>
            <a:pPr indent="0" marL="0">
              <a:buNone/>
            </a:pPr>
            <a:r>
              <a:rPr lang="en-US" sz="1000" dirty="0">
                <a:solidFill>
                  <a:schemeClr val="tx2"/>
                </a:solidFill>
              </a:rPr>
              <a:t>Alert at 30%</a:t>
            </a:r>
            <a:endParaRPr lang="en-US" sz="1000" dirty="0"/>
          </a:p>
        </p:txBody>
      </p:sp>
      <p:sp>
        <p:nvSpPr>
          <p:cNvPr id="59" name="Alert box"/>
          <p:cNvSpPr/>
          <p:nvPr/>
        </p:nvSpPr>
        <p:spPr>
          <a:xfrm>
            <a:off x="9966960" y="4892040"/>
            <a:ext cx="1508760" cy="1143000"/>
          </a:xfrm>
          <a:prstGeom prst="roundRect">
            <a:avLst>
              <a:gd name="adj" fmla="val 6400"/>
            </a:avLst>
          </a:prstGeom>
          <a:solidFill>
            <a:schemeClr val="accent2"/>
          </a:solidFill>
          <a:ln w="12700">
            <a:solidFill>
              <a:schemeClr val="bg1"/>
            </a:solidFill>
            <a:prstDash val="solid"/>
          </a:ln>
        </p:spPr>
      </p:sp>
      <p:sp>
        <p:nvSpPr>
          <p:cNvPr id="60" name="Text 57"/>
          <p:cNvSpPr txBox="1"/>
          <p:nvPr/>
        </p:nvSpPr>
        <p:spPr>
          <a:xfrm>
            <a:off x="10058400" y="4937760"/>
            <a:ext cx="1325880" cy="1051560"/>
          </a:xfrm>
          <a:prstGeom prst="rect">
            <a:avLst/>
          </a:prstGeom>
          <a:noFill/>
          <a:ln/>
        </p:spPr>
        <p:txBody>
          <a:bodyPr wrap="square" lIns="0" tIns="0" rIns="0" bIns="0" rtlCol="0" anchor="ctr"/>
          <a:lstStyle/>
          <a:p>
            <a:pPr indent="0" marL="0">
              <a:buNone/>
            </a:pPr>
            <a:r>
              <a:rPr lang="en-US" sz="1200" b="1" dirty="0">
                <a:solidFill>
                  <a:schemeClr val="bg1"/>
                </a:solidFill>
              </a:rPr>
              <a:t>Too many are lost.</a:t>
            </a:r>
            <a:endParaRPr lang="en-US" sz="1200" dirty="0"/>
          </a:p>
          <a:p>
            <a:pPr indent="0" marL="0">
              <a:buNone/>
            </a:pPr>
            <a:r>
              <a:rPr lang="en-US" sz="1200" b="1" dirty="0">
                <a:solidFill>
                  <a:schemeClr val="bg1"/>
                </a:solidFill>
              </a:rPr>
              <a:t>Pause and explain again.</a:t>
            </a:r>
            <a:endParaRPr lang="en-US" sz="120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594360"/>
          </a:xfrm>
          <a:prstGeom prst="rect">
            <a:avLst/>
          </a:prstGeom>
          <a:noFill/>
          <a:ln/>
        </p:spPr>
        <p:txBody>
          <a:bodyPr wrap="square" lIns="0" tIns="0" rIns="0" bIns="0" rtlCol="0" anchor="ctr"/>
          <a:lstStyle/>
          <a:p>
            <a:pPr algn="l" indent="0" marL="0">
              <a:buNone/>
            </a:pPr>
            <a:r>
              <a:rPr lang="en-US" sz="3200" b="1" dirty="0">
                <a:solidFill>
                  <a:schemeClr val="tx1"/>
                </a:solidFill>
              </a:rPr>
              <a:t>Step 3 · Ideas</a:t>
            </a:r>
            <a:endParaRPr lang="en-US" sz="3200" dirty="0"/>
          </a:p>
        </p:txBody>
      </p:sp>
      <p:sp>
        <p:nvSpPr>
          <p:cNvPr id="3" name="Text 0"/>
          <p:cNvSpPr/>
          <p:nvPr>
            <p:ph idx="101" type="body" hasCustomPrompt="1"/>
          </p:nvPr>
        </p:nvSpPr>
        <p:spPr>
          <a:xfrm>
            <a:off x="457200" y="868680"/>
            <a:ext cx="11247120" cy="365760"/>
          </a:xfrm>
          <a:prstGeom prst="rect">
            <a:avLst/>
          </a:prstGeom>
          <a:noFill/>
          <a:ln/>
        </p:spPr>
        <p:txBody>
          <a:bodyPr wrap="square" lIns="0" tIns="0" rIns="0" bIns="0" rtlCol="0" anchor="ctr"/>
          <a:lstStyle/>
          <a:p>
            <a:pPr indent="0" marL="0">
              <a:buNone/>
            </a:pPr>
            <a:r>
              <a:rPr lang="en-US" sz="1600" dirty="0">
                <a:solidFill>
                  <a:schemeClr val="tx2"/>
                </a:solidFill>
              </a:rPr>
              <a:t>Students type an idea or tap a Gợi ý. AI groups similar ideas so the teacher sees what the class thinks</a:t>
            </a:r>
            <a:endParaRPr lang="en-US" sz="1600" dirty="0"/>
          </a:p>
        </p:txBody>
      </p:sp>
      <p:sp>
        <p:nvSpPr>
          <p:cNvPr id="4" name="Label: student"/>
          <p:cNvSpPr txBox="1"/>
          <p:nvPr/>
        </p:nvSpPr>
        <p:spPr>
          <a:xfrm>
            <a:off x="685800" y="1325880"/>
            <a:ext cx="292608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WHAT THE STUDENT SEES</a:t>
            </a:r>
            <a:endParaRPr lang="en-US" sz="1100" dirty="0"/>
          </a:p>
        </p:txBody>
      </p:sp>
      <p:sp>
        <p:nvSpPr>
          <p:cNvPr id="5" name="Label: teacher"/>
          <p:cNvSpPr txBox="1"/>
          <p:nvPr/>
        </p:nvSpPr>
        <p:spPr>
          <a:xfrm>
            <a:off x="4069080" y="1325880"/>
            <a:ext cx="548640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WHAT THE TEACHER SEES</a:t>
            </a:r>
            <a:endParaRPr lang="en-US" sz="1100" dirty="0"/>
          </a:p>
        </p:txBody>
      </p:sp>
      <p:sp>
        <p:nvSpPr>
          <p:cNvPr id="6" name="Phone frame"/>
          <p:cNvSpPr/>
          <p:nvPr/>
        </p:nvSpPr>
        <p:spPr>
          <a:xfrm>
            <a:off x="685800" y="1645920"/>
            <a:ext cx="2834640" cy="4709160"/>
          </a:xfrm>
          <a:prstGeom prst="roundRect">
            <a:avLst>
              <a:gd name="adj" fmla="val 11290"/>
            </a:avLst>
          </a:prstGeom>
          <a:solidFill>
            <a:schemeClr val="tx1"/>
          </a:solidFill>
          <a:ln w="12700">
            <a:solidFill>
              <a:schemeClr val="tx1"/>
            </a:solidFill>
            <a:prstDash val="solid"/>
          </a:ln>
          <a:effectLst>
            <a:outerShdw sx="100000" sy="100000" kx="0" ky="0" algn="bl" rotWithShape="0" blurRad="101600" dist="25400" dir="5400000">
              <a:srgbClr val="1A1B2E">
                <a:alpha val="12000"/>
              </a:srgbClr>
            </a:outerShdw>
          </a:effectLst>
        </p:spPr>
      </p:sp>
      <p:sp>
        <p:nvSpPr>
          <p:cNvPr id="7" name="Phone screen"/>
          <p:cNvSpPr/>
          <p:nvPr/>
        </p:nvSpPr>
        <p:spPr>
          <a:xfrm>
            <a:off x="795528" y="1755648"/>
            <a:ext cx="2615184" cy="4489704"/>
          </a:xfrm>
          <a:prstGeom prst="roundRect">
            <a:avLst>
              <a:gd name="adj" fmla="val 8741"/>
            </a:avLst>
          </a:prstGeom>
          <a:solidFill>
            <a:schemeClr val="bg1"/>
          </a:solidFill>
          <a:ln w="12700">
            <a:solidFill>
              <a:schemeClr val="bg1"/>
            </a:solidFill>
            <a:prstDash val="solid"/>
          </a:ln>
        </p:spPr>
      </p:sp>
      <p:sp>
        <p:nvSpPr>
          <p:cNvPr id="8" name="Live pill"/>
          <p:cNvSpPr/>
          <p:nvPr/>
        </p:nvSpPr>
        <p:spPr>
          <a:xfrm>
            <a:off x="932688" y="1901952"/>
            <a:ext cx="566928" cy="219456"/>
          </a:xfrm>
          <a:prstGeom prst="roundRect">
            <a:avLst>
              <a:gd name="adj" fmla="val 50000"/>
            </a:avLst>
          </a:prstGeom>
          <a:solidFill>
            <a:schemeClr val="accent2"/>
          </a:solidFill>
          <a:ln w="12700">
            <a:solidFill>
              <a:schemeClr val="bg1"/>
            </a:solidFill>
            <a:prstDash val="solid"/>
          </a:ln>
        </p:spPr>
      </p:sp>
      <p:sp>
        <p:nvSpPr>
          <p:cNvPr id="9" name="Text 7"/>
          <p:cNvSpPr txBox="1"/>
          <p:nvPr/>
        </p:nvSpPr>
        <p:spPr>
          <a:xfrm>
            <a:off x="932688" y="1901952"/>
            <a:ext cx="566928" cy="219456"/>
          </a:xfrm>
          <a:prstGeom prst="rect">
            <a:avLst/>
          </a:prstGeom>
          <a:noFill/>
          <a:ln/>
        </p:spPr>
        <p:txBody>
          <a:bodyPr wrap="square" lIns="0" tIns="0" rIns="0" bIns="0" rtlCol="0" anchor="ctr"/>
          <a:lstStyle/>
          <a:p>
            <a:pPr algn="ctr" indent="0" marL="0">
              <a:buNone/>
            </a:pPr>
            <a:r>
              <a:rPr lang="en-US" sz="1000" b="1" dirty="0">
                <a:solidFill>
                  <a:schemeClr val="bg1"/>
                </a:solidFill>
              </a:rPr>
              <a:t>● LIVE</a:t>
            </a:r>
            <a:endParaRPr lang="en-US" sz="1000" dirty="0"/>
          </a:p>
        </p:txBody>
      </p:sp>
      <p:sp>
        <p:nvSpPr>
          <p:cNvPr id="10" name="Text 8"/>
          <p:cNvSpPr txBox="1"/>
          <p:nvPr/>
        </p:nvSpPr>
        <p:spPr>
          <a:xfrm>
            <a:off x="1901952" y="1901952"/>
            <a:ext cx="1371600" cy="219456"/>
          </a:xfrm>
          <a:prstGeom prst="rect">
            <a:avLst/>
          </a:prstGeom>
          <a:noFill/>
          <a:ln/>
        </p:spPr>
        <p:txBody>
          <a:bodyPr wrap="square" lIns="0" tIns="0" rIns="0" bIns="0" rtlCol="0" anchor="ctr"/>
          <a:lstStyle/>
          <a:p>
            <a:pPr algn="r" indent="0" marL="0">
              <a:buNone/>
            </a:pPr>
            <a:r>
              <a:rPr lang="en-US" sz="1000" dirty="0">
                <a:solidFill>
                  <a:schemeClr val="tx2"/>
                </a:solidFill>
              </a:rPr>
              <a:t>Step 3 of 5</a:t>
            </a:r>
            <a:endParaRPr lang="en-US" sz="1000" dirty="0"/>
          </a:p>
        </p:txBody>
      </p:sp>
      <p:sp>
        <p:nvSpPr>
          <p:cNvPr id="11" name="Dashboard frame"/>
          <p:cNvSpPr/>
          <p:nvPr/>
        </p:nvSpPr>
        <p:spPr>
          <a:xfrm>
            <a:off x="4069080" y="1645920"/>
            <a:ext cx="7680960" cy="4709160"/>
          </a:xfrm>
          <a:prstGeom prst="roundRect">
            <a:avLst>
              <a:gd name="adj" fmla="val 2330"/>
            </a:avLst>
          </a:prstGeom>
          <a:solidFill>
            <a:schemeClr val="bg1"/>
          </a:solidFill>
          <a:ln w="12700">
            <a:solidFill>
              <a:schemeClr val="bg1"/>
            </a:solidFill>
            <a:prstDash val="solid"/>
          </a:ln>
          <a:effectLst>
            <a:outerShdw sx="100000" sy="100000" kx="0" ky="0" algn="bl" rotWithShape="0" blurRad="101600" dist="25400" dir="5400000">
              <a:srgbClr val="1A1B2E">
                <a:alpha val="12000"/>
              </a:srgbClr>
            </a:outerShdw>
          </a:effectLst>
        </p:spPr>
      </p:sp>
      <p:sp>
        <p:nvSpPr>
          <p:cNvPr id="12" name="Text 10"/>
          <p:cNvSpPr txBox="1"/>
          <p:nvPr/>
        </p:nvSpPr>
        <p:spPr>
          <a:xfrm>
            <a:off x="4251960" y="1764792"/>
            <a:ext cx="1737360" cy="329184"/>
          </a:xfrm>
          <a:prstGeom prst="rect">
            <a:avLst/>
          </a:prstGeom>
          <a:noFill/>
          <a:ln/>
        </p:spPr>
        <p:txBody>
          <a:bodyPr wrap="square" lIns="0" tIns="0" rIns="0" bIns="0" rtlCol="0" anchor="ctr"/>
          <a:lstStyle/>
          <a:p>
            <a:pPr indent="0" marL="0">
              <a:buNone/>
            </a:pPr>
            <a:r>
              <a:rPr lang="en-US" sz="1300" b="1" dirty="0">
                <a:solidFill>
                  <a:schemeClr val="tx1"/>
                </a:solidFill>
              </a:rPr>
              <a:t>Teacher dashboard</a:t>
            </a:r>
            <a:endParaRPr lang="en-US" sz="1300" dirty="0"/>
          </a:p>
        </p:txBody>
      </p:sp>
      <p:sp>
        <p:nvSpPr>
          <p:cNvPr id="13" name="Live pill"/>
          <p:cNvSpPr/>
          <p:nvPr/>
        </p:nvSpPr>
        <p:spPr>
          <a:xfrm>
            <a:off x="5989320" y="1819656"/>
            <a:ext cx="566928" cy="219456"/>
          </a:xfrm>
          <a:prstGeom prst="roundRect">
            <a:avLst>
              <a:gd name="adj" fmla="val 50000"/>
            </a:avLst>
          </a:prstGeom>
          <a:solidFill>
            <a:schemeClr val="accent2"/>
          </a:solidFill>
          <a:ln w="12700">
            <a:solidFill>
              <a:schemeClr val="bg1"/>
            </a:solidFill>
            <a:prstDash val="solid"/>
          </a:ln>
        </p:spPr>
      </p:sp>
      <p:sp>
        <p:nvSpPr>
          <p:cNvPr id="14" name="Text 12"/>
          <p:cNvSpPr txBox="1"/>
          <p:nvPr/>
        </p:nvSpPr>
        <p:spPr>
          <a:xfrm>
            <a:off x="5989320" y="1819656"/>
            <a:ext cx="566928" cy="219456"/>
          </a:xfrm>
          <a:prstGeom prst="rect">
            <a:avLst/>
          </a:prstGeom>
          <a:noFill/>
          <a:ln/>
        </p:spPr>
        <p:txBody>
          <a:bodyPr wrap="square" lIns="0" tIns="0" rIns="0" bIns="0" rtlCol="0" anchor="ctr"/>
          <a:lstStyle/>
          <a:p>
            <a:pPr algn="ctr" indent="0" marL="0">
              <a:buNone/>
            </a:pPr>
            <a:r>
              <a:rPr lang="en-US" sz="1000" b="1" dirty="0">
                <a:solidFill>
                  <a:schemeClr val="bg1"/>
                </a:solidFill>
              </a:rPr>
              <a:t>● LIVE</a:t>
            </a:r>
            <a:endParaRPr lang="en-US" sz="1000" dirty="0"/>
          </a:p>
        </p:txBody>
      </p:sp>
      <p:sp>
        <p:nvSpPr>
          <p:cNvPr id="15" name="Text 13"/>
          <p:cNvSpPr txBox="1"/>
          <p:nvPr/>
        </p:nvSpPr>
        <p:spPr>
          <a:xfrm>
            <a:off x="6647688" y="1764792"/>
            <a:ext cx="1280160" cy="329184"/>
          </a:xfrm>
          <a:prstGeom prst="rect">
            <a:avLst/>
          </a:prstGeom>
          <a:noFill/>
          <a:ln/>
        </p:spPr>
        <p:txBody>
          <a:bodyPr wrap="square" lIns="0" tIns="0" rIns="0" bIns="0" rtlCol="0" anchor="ctr"/>
          <a:lstStyle/>
          <a:p>
            <a:pPr indent="0" marL="0">
              <a:buNone/>
            </a:pPr>
            <a:r>
              <a:rPr lang="en-US" sz="1100" dirty="0">
                <a:solidFill>
                  <a:schemeClr val="tx2"/>
                </a:solidFill>
              </a:rPr>
              <a:t>1,284 students</a:t>
            </a:r>
            <a:endParaRPr lang="en-US" sz="1100" dirty="0"/>
          </a:p>
        </p:txBody>
      </p:sp>
      <p:sp>
        <p:nvSpPr>
          <p:cNvPr id="16" name="Step 1 dot"/>
          <p:cNvSpPr/>
          <p:nvPr/>
        </p:nvSpPr>
        <p:spPr>
          <a:xfrm>
            <a:off x="8001000" y="1810512"/>
            <a:ext cx="246888" cy="246888"/>
          </a:xfrm>
          <a:prstGeom prst="ellipse">
            <a:avLst/>
          </a:prstGeom>
          <a:solidFill>
            <a:schemeClr val="accent1">
              <a:alpha val="20000"/>
            </a:schemeClr>
          </a:solidFill>
          <a:ln w="12700">
            <a:solidFill>
              <a:schemeClr val="accent1"/>
            </a:solidFill>
            <a:prstDash val="solid"/>
          </a:ln>
        </p:spPr>
      </p:sp>
      <p:sp>
        <p:nvSpPr>
          <p:cNvPr id="17" name="Text 15"/>
          <p:cNvSpPr txBox="1"/>
          <p:nvPr/>
        </p:nvSpPr>
        <p:spPr>
          <a:xfrm>
            <a:off x="8001000" y="1810512"/>
            <a:ext cx="246888" cy="246888"/>
          </a:xfrm>
          <a:prstGeom prst="rect">
            <a:avLst/>
          </a:prstGeom>
          <a:noFill/>
          <a:ln/>
        </p:spPr>
        <p:txBody>
          <a:bodyPr wrap="square" lIns="0" tIns="0" rIns="0" bIns="0" rtlCol="0" anchor="ctr"/>
          <a:lstStyle/>
          <a:p>
            <a:pPr algn="ctr" indent="0" marL="0">
              <a:buNone/>
            </a:pPr>
            <a:r>
              <a:rPr lang="en-US" sz="1000" b="1" dirty="0">
                <a:solidFill>
                  <a:schemeClr val="accent1"/>
                </a:solidFill>
              </a:rPr>
              <a:t>1</a:t>
            </a:r>
            <a:endParaRPr lang="en-US" sz="1000" dirty="0"/>
          </a:p>
        </p:txBody>
      </p:sp>
      <p:sp>
        <p:nvSpPr>
          <p:cNvPr id="18" name="Step 2 dot"/>
          <p:cNvSpPr/>
          <p:nvPr/>
        </p:nvSpPr>
        <p:spPr>
          <a:xfrm>
            <a:off x="8330184" y="1810512"/>
            <a:ext cx="246888" cy="246888"/>
          </a:xfrm>
          <a:prstGeom prst="ellipse">
            <a:avLst/>
          </a:prstGeom>
          <a:solidFill>
            <a:schemeClr val="accent1">
              <a:alpha val="20000"/>
            </a:schemeClr>
          </a:solidFill>
          <a:ln w="12700">
            <a:solidFill>
              <a:schemeClr val="accent1"/>
            </a:solidFill>
            <a:prstDash val="solid"/>
          </a:ln>
        </p:spPr>
      </p:sp>
      <p:sp>
        <p:nvSpPr>
          <p:cNvPr id="19" name="Text 17"/>
          <p:cNvSpPr txBox="1"/>
          <p:nvPr/>
        </p:nvSpPr>
        <p:spPr>
          <a:xfrm>
            <a:off x="8330184" y="1810512"/>
            <a:ext cx="246888" cy="246888"/>
          </a:xfrm>
          <a:prstGeom prst="rect">
            <a:avLst/>
          </a:prstGeom>
          <a:noFill/>
          <a:ln/>
        </p:spPr>
        <p:txBody>
          <a:bodyPr wrap="square" lIns="0" tIns="0" rIns="0" bIns="0" rtlCol="0" anchor="ctr"/>
          <a:lstStyle/>
          <a:p>
            <a:pPr algn="ctr" indent="0" marL="0">
              <a:buNone/>
            </a:pPr>
            <a:r>
              <a:rPr lang="en-US" sz="1000" b="1" dirty="0">
                <a:solidFill>
                  <a:schemeClr val="accent1"/>
                </a:solidFill>
              </a:rPr>
              <a:t>2</a:t>
            </a:r>
            <a:endParaRPr lang="en-US" sz="1000" dirty="0"/>
          </a:p>
        </p:txBody>
      </p:sp>
      <p:sp>
        <p:nvSpPr>
          <p:cNvPr id="20" name="Step 3 dot"/>
          <p:cNvSpPr/>
          <p:nvPr/>
        </p:nvSpPr>
        <p:spPr>
          <a:xfrm>
            <a:off x="8659368" y="1810512"/>
            <a:ext cx="246888" cy="246888"/>
          </a:xfrm>
          <a:prstGeom prst="ellipse">
            <a:avLst/>
          </a:prstGeom>
          <a:solidFill>
            <a:schemeClr val="accent1"/>
          </a:solidFill>
          <a:ln w="12700">
            <a:solidFill>
              <a:schemeClr val="accent1"/>
            </a:solidFill>
            <a:prstDash val="solid"/>
          </a:ln>
        </p:spPr>
      </p:sp>
      <p:sp>
        <p:nvSpPr>
          <p:cNvPr id="21" name="Text 19"/>
          <p:cNvSpPr txBox="1"/>
          <p:nvPr/>
        </p:nvSpPr>
        <p:spPr>
          <a:xfrm>
            <a:off x="8659368" y="1810512"/>
            <a:ext cx="246888" cy="246888"/>
          </a:xfrm>
          <a:prstGeom prst="rect">
            <a:avLst/>
          </a:prstGeom>
          <a:no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22" name="Step 4 dot"/>
          <p:cNvSpPr/>
          <p:nvPr/>
        </p:nvSpPr>
        <p:spPr>
          <a:xfrm>
            <a:off x="8988552" y="1810512"/>
            <a:ext cx="246888" cy="246888"/>
          </a:xfrm>
          <a:prstGeom prst="ellipse">
            <a:avLst/>
          </a:prstGeom>
          <a:solidFill>
            <a:schemeClr val="bg1"/>
          </a:solidFill>
          <a:ln w="12700">
            <a:solidFill>
              <a:schemeClr val="accent1"/>
            </a:solidFill>
            <a:prstDash val="solid"/>
          </a:ln>
        </p:spPr>
      </p:sp>
      <p:sp>
        <p:nvSpPr>
          <p:cNvPr id="23" name="Text 21"/>
          <p:cNvSpPr txBox="1"/>
          <p:nvPr/>
        </p:nvSpPr>
        <p:spPr>
          <a:xfrm>
            <a:off x="8988552" y="1810512"/>
            <a:ext cx="246888" cy="246888"/>
          </a:xfrm>
          <a:prstGeom prst="rect">
            <a:avLst/>
          </a:prstGeom>
          <a:noFill/>
          <a:ln/>
        </p:spPr>
        <p:txBody>
          <a:bodyPr wrap="square" lIns="0" tIns="0" rIns="0" bIns="0" rtlCol="0" anchor="ctr"/>
          <a:lstStyle/>
          <a:p>
            <a:pPr algn="ctr" indent="0" marL="0">
              <a:buNone/>
            </a:pPr>
            <a:r>
              <a:rPr lang="en-US" sz="1000" b="1" dirty="0">
                <a:solidFill>
                  <a:schemeClr val="accent1"/>
                </a:solidFill>
              </a:rPr>
              <a:t>4</a:t>
            </a:r>
            <a:endParaRPr lang="en-US" sz="1000" dirty="0"/>
          </a:p>
        </p:txBody>
      </p:sp>
      <p:sp>
        <p:nvSpPr>
          <p:cNvPr id="24" name="Step 5 dot"/>
          <p:cNvSpPr/>
          <p:nvPr/>
        </p:nvSpPr>
        <p:spPr>
          <a:xfrm>
            <a:off x="9317736" y="1810512"/>
            <a:ext cx="246888" cy="246888"/>
          </a:xfrm>
          <a:prstGeom prst="ellipse">
            <a:avLst/>
          </a:prstGeom>
          <a:solidFill>
            <a:schemeClr val="bg1"/>
          </a:solidFill>
          <a:ln w="12700">
            <a:solidFill>
              <a:schemeClr val="accent1"/>
            </a:solidFill>
            <a:prstDash val="solid"/>
          </a:ln>
        </p:spPr>
      </p:sp>
      <p:sp>
        <p:nvSpPr>
          <p:cNvPr id="25" name="Text 23"/>
          <p:cNvSpPr txBox="1"/>
          <p:nvPr/>
        </p:nvSpPr>
        <p:spPr>
          <a:xfrm>
            <a:off x="9317736" y="1810512"/>
            <a:ext cx="246888" cy="246888"/>
          </a:xfrm>
          <a:prstGeom prst="rect">
            <a:avLst/>
          </a:prstGeom>
          <a:noFill/>
          <a:ln/>
        </p:spPr>
        <p:txBody>
          <a:bodyPr wrap="square" lIns="0" tIns="0" rIns="0" bIns="0" rtlCol="0" anchor="ctr"/>
          <a:lstStyle/>
          <a:p>
            <a:pPr algn="ctr" indent="0" marL="0">
              <a:buNone/>
            </a:pPr>
            <a:r>
              <a:rPr lang="en-US" sz="1000" b="1" dirty="0">
                <a:solidFill>
                  <a:schemeClr val="accent1"/>
                </a:solidFill>
              </a:rPr>
              <a:t>5</a:t>
            </a:r>
            <a:endParaRPr lang="en-US" sz="1000" dirty="0"/>
          </a:p>
        </p:txBody>
      </p:sp>
      <p:sp>
        <p:nvSpPr>
          <p:cNvPr id="26" name="Step 6 dot"/>
          <p:cNvSpPr/>
          <p:nvPr/>
        </p:nvSpPr>
        <p:spPr>
          <a:xfrm>
            <a:off x="9646920" y="1810512"/>
            <a:ext cx="246888" cy="246888"/>
          </a:xfrm>
          <a:prstGeom prst="ellipse">
            <a:avLst/>
          </a:prstGeom>
          <a:solidFill>
            <a:schemeClr val="bg1"/>
          </a:solidFill>
          <a:ln w="12700">
            <a:solidFill>
              <a:schemeClr val="accent1"/>
            </a:solidFill>
            <a:prstDash val="solid"/>
          </a:ln>
        </p:spPr>
      </p:sp>
      <p:sp>
        <p:nvSpPr>
          <p:cNvPr id="27" name="Text 25"/>
          <p:cNvSpPr txBox="1"/>
          <p:nvPr/>
        </p:nvSpPr>
        <p:spPr>
          <a:xfrm>
            <a:off x="9646920" y="1810512"/>
            <a:ext cx="246888" cy="246888"/>
          </a:xfrm>
          <a:prstGeom prst="rect">
            <a:avLst/>
          </a:prstGeom>
          <a:noFill/>
          <a:ln/>
        </p:spPr>
        <p:txBody>
          <a:bodyPr wrap="square" lIns="0" tIns="0" rIns="0" bIns="0" rtlCol="0" anchor="ctr"/>
          <a:lstStyle/>
          <a:p>
            <a:pPr algn="ctr" indent="0" marL="0">
              <a:buNone/>
            </a:pPr>
            <a:r>
              <a:rPr lang="en-US" sz="1000" b="1" dirty="0">
                <a:solidFill>
                  <a:schemeClr val="accent1"/>
                </a:solidFill>
              </a:rPr>
              <a:t>6</a:t>
            </a:r>
            <a:endParaRPr lang="en-US" sz="1000" dirty="0"/>
          </a:p>
        </p:txBody>
      </p:sp>
      <p:sp>
        <p:nvSpPr>
          <p:cNvPr id="28" name="Next step button"/>
          <p:cNvSpPr/>
          <p:nvPr/>
        </p:nvSpPr>
        <p:spPr>
          <a:xfrm>
            <a:off x="10104120" y="1783080"/>
            <a:ext cx="1463040" cy="310896"/>
          </a:xfrm>
          <a:prstGeom prst="roundRect">
            <a:avLst>
              <a:gd name="adj" fmla="val 50000"/>
            </a:avLst>
          </a:prstGeom>
          <a:solidFill>
            <a:schemeClr val="accent1"/>
          </a:solidFill>
          <a:ln w="12700">
            <a:solidFill>
              <a:schemeClr val="bg1"/>
            </a:solidFill>
            <a:prstDash val="solid"/>
          </a:ln>
        </p:spPr>
      </p:sp>
      <p:sp>
        <p:nvSpPr>
          <p:cNvPr id="29" name="Text 27"/>
          <p:cNvSpPr txBox="1"/>
          <p:nvPr/>
        </p:nvSpPr>
        <p:spPr>
          <a:xfrm>
            <a:off x="10104120" y="1783080"/>
            <a:ext cx="1463040" cy="310896"/>
          </a:xfrm>
          <a:prstGeom prst="rect">
            <a:avLst/>
          </a:prstGeom>
          <a:noFill/>
          <a:ln/>
        </p:spPr>
        <p:txBody>
          <a:bodyPr wrap="square" lIns="0" tIns="0" rIns="0" bIns="0" rtlCol="0" anchor="ctr"/>
          <a:lstStyle/>
          <a:p>
            <a:pPr algn="ctr" indent="0" marL="0">
              <a:buNone/>
            </a:pPr>
            <a:r>
              <a:rPr lang="en-US" sz="1100" b="1" dirty="0">
                <a:solidFill>
                  <a:schemeClr val="bg1"/>
                </a:solidFill>
              </a:rPr>
              <a:t>Next step →</a:t>
            </a:r>
            <a:endParaRPr lang="en-US" sz="1100" dirty="0"/>
          </a:p>
        </p:txBody>
      </p:sp>
      <p:sp>
        <p:nvSpPr>
          <p:cNvPr id="30" name="Header divider"/>
          <p:cNvSpPr/>
          <p:nvPr/>
        </p:nvSpPr>
        <p:spPr>
          <a:xfrm>
            <a:off x="4206240" y="2240280"/>
            <a:ext cx="7406640" cy="0"/>
          </a:xfrm>
          <a:prstGeom prst="line">
            <a:avLst/>
          </a:prstGeom>
          <a:noFill/>
          <a:ln w="19050">
            <a:solidFill>
              <a:schemeClr val="bg2"/>
            </a:solidFill>
            <a:prstDash val="solid"/>
          </a:ln>
        </p:spPr>
      </p:sp>
      <p:sp>
        <p:nvSpPr>
          <p:cNvPr id="31" name="Text 29"/>
          <p:cNvSpPr txBox="1"/>
          <p:nvPr/>
        </p:nvSpPr>
        <p:spPr>
          <a:xfrm>
            <a:off x="932688" y="2240280"/>
            <a:ext cx="2340864" cy="457200"/>
          </a:xfrm>
          <a:prstGeom prst="rect">
            <a:avLst/>
          </a:prstGeom>
          <a:noFill/>
          <a:ln/>
        </p:spPr>
        <p:txBody>
          <a:bodyPr wrap="square" lIns="0" tIns="0" rIns="0" bIns="0" rtlCol="0" anchor="t"/>
          <a:lstStyle/>
          <a:p>
            <a:pPr indent="0" marL="0">
              <a:buNone/>
            </a:pPr>
            <a:r>
              <a:rPr lang="en-US" sz="1300" b="1" dirty="0">
                <a:solidFill>
                  <a:schemeClr val="tx1"/>
                </a:solidFill>
              </a:rPr>
              <a:t>One benefit of studying all subjects?</a:t>
            </a:r>
            <a:endParaRPr lang="en-US" sz="1300" dirty="0"/>
          </a:p>
        </p:txBody>
      </p:sp>
      <p:sp>
        <p:nvSpPr>
          <p:cNvPr id="32" name="Shape 30"/>
          <p:cNvSpPr/>
          <p:nvPr/>
        </p:nvSpPr>
        <p:spPr>
          <a:xfrm>
            <a:off x="932688" y="2743200"/>
            <a:ext cx="2340864" cy="777240"/>
          </a:xfrm>
          <a:prstGeom prst="roundRect">
            <a:avLst>
              <a:gd name="adj" fmla="val 9412"/>
            </a:avLst>
          </a:prstGeom>
          <a:solidFill>
            <a:schemeClr val="bg1"/>
          </a:solidFill>
          <a:ln w="15875">
            <a:solidFill>
              <a:schemeClr val="accent1"/>
            </a:solidFill>
            <a:prstDash val="solid"/>
          </a:ln>
        </p:spPr>
      </p:sp>
      <p:sp>
        <p:nvSpPr>
          <p:cNvPr id="33" name="Text 31"/>
          <p:cNvSpPr txBox="1"/>
          <p:nvPr/>
        </p:nvSpPr>
        <p:spPr>
          <a:xfrm>
            <a:off x="1024128" y="2798064"/>
            <a:ext cx="2157984" cy="667512"/>
          </a:xfrm>
          <a:prstGeom prst="rect">
            <a:avLst/>
          </a:prstGeom>
          <a:noFill/>
          <a:ln/>
        </p:spPr>
        <p:txBody>
          <a:bodyPr wrap="square" lIns="0" tIns="0" rIns="0" bIns="0" rtlCol="0" anchor="ctr"/>
          <a:lstStyle/>
          <a:p>
            <a:pPr indent="0" marL="0">
              <a:buNone/>
            </a:pPr>
            <a:r>
              <a:rPr lang="en-US" sz="1100" dirty="0">
                <a:solidFill>
                  <a:schemeClr val="tx1"/>
                </a:solidFill>
              </a:rPr>
              <a:t>Students can find what they are really good at</a:t>
            </a:r>
            <a:endParaRPr lang="en-US" sz="1100" dirty="0"/>
          </a:p>
        </p:txBody>
      </p:sp>
      <p:sp>
        <p:nvSpPr>
          <p:cNvPr id="34" name="Add idea button"/>
          <p:cNvSpPr/>
          <p:nvPr/>
        </p:nvSpPr>
        <p:spPr>
          <a:xfrm>
            <a:off x="2176272" y="3611880"/>
            <a:ext cx="1097280" cy="329184"/>
          </a:xfrm>
          <a:prstGeom prst="roundRect">
            <a:avLst>
              <a:gd name="adj" fmla="val 50000"/>
            </a:avLst>
          </a:prstGeom>
          <a:solidFill>
            <a:schemeClr val="accent1"/>
          </a:solidFill>
          <a:ln w="12700">
            <a:solidFill>
              <a:schemeClr val="bg1"/>
            </a:solidFill>
            <a:prstDash val="solid"/>
          </a:ln>
        </p:spPr>
      </p:sp>
      <p:sp>
        <p:nvSpPr>
          <p:cNvPr id="35" name="Text 33"/>
          <p:cNvSpPr txBox="1"/>
          <p:nvPr/>
        </p:nvSpPr>
        <p:spPr>
          <a:xfrm>
            <a:off x="2176272" y="3611880"/>
            <a:ext cx="1097280" cy="329184"/>
          </a:xfrm>
          <a:prstGeom prst="rect">
            <a:avLst/>
          </a:prstGeom>
          <a:noFill/>
          <a:ln/>
        </p:spPr>
        <p:txBody>
          <a:bodyPr wrap="square" lIns="0" tIns="0" rIns="0" bIns="0" rtlCol="0" anchor="ctr"/>
          <a:lstStyle/>
          <a:p>
            <a:pPr algn="ctr" indent="0" marL="0">
              <a:buNone/>
            </a:pPr>
            <a:r>
              <a:rPr lang="en-US" sz="1100" b="1" dirty="0">
                <a:solidFill>
                  <a:schemeClr val="bg1"/>
                </a:solidFill>
              </a:rPr>
              <a:t>Add idea</a:t>
            </a:r>
            <a:endParaRPr lang="en-US" sz="1100" dirty="0"/>
          </a:p>
        </p:txBody>
      </p:sp>
      <p:sp>
        <p:nvSpPr>
          <p:cNvPr id="36" name="Text 34"/>
          <p:cNvSpPr txBox="1"/>
          <p:nvPr/>
        </p:nvSpPr>
        <p:spPr>
          <a:xfrm>
            <a:off x="932688" y="4069080"/>
            <a:ext cx="2340864" cy="237744"/>
          </a:xfrm>
          <a:prstGeom prst="rect">
            <a:avLst/>
          </a:prstGeom>
          <a:noFill/>
          <a:ln/>
        </p:spPr>
        <p:txBody>
          <a:bodyPr wrap="square" lIns="0" tIns="0" rIns="0" bIns="0" rtlCol="0" anchor="t"/>
          <a:lstStyle/>
          <a:p>
            <a:pPr indent="0" marL="0">
              <a:buNone/>
            </a:pPr>
            <a:r>
              <a:rPr lang="en-US" sz="1100" b="1" dirty="0">
                <a:solidFill>
                  <a:schemeClr val="accent4"/>
                </a:solidFill>
              </a:rPr>
              <a:t>Gợi ý · tap to use</a:t>
            </a:r>
            <a:endParaRPr lang="en-US" sz="1100" dirty="0"/>
          </a:p>
        </p:txBody>
      </p:sp>
      <p:sp>
        <p:nvSpPr>
          <p:cNvPr id="37" name="Gợi ý chip"/>
          <p:cNvSpPr/>
          <p:nvPr/>
        </p:nvSpPr>
        <p:spPr>
          <a:xfrm>
            <a:off x="932688" y="4370832"/>
            <a:ext cx="2340864" cy="347472"/>
          </a:xfrm>
          <a:prstGeom prst="roundRect">
            <a:avLst>
              <a:gd name="adj" fmla="val 50000"/>
            </a:avLst>
          </a:prstGeom>
          <a:solidFill>
            <a:schemeClr val="accent4"/>
          </a:solidFill>
          <a:ln w="12700">
            <a:solidFill>
              <a:schemeClr val="bg1"/>
            </a:solidFill>
            <a:prstDash val="solid"/>
          </a:ln>
        </p:spPr>
      </p:sp>
      <p:sp>
        <p:nvSpPr>
          <p:cNvPr id="38" name="Text 36"/>
          <p:cNvSpPr txBox="1"/>
          <p:nvPr/>
        </p:nvSpPr>
        <p:spPr>
          <a:xfrm>
            <a:off x="1051560" y="4370832"/>
            <a:ext cx="2148840" cy="347472"/>
          </a:xfrm>
          <a:prstGeom prst="rect">
            <a:avLst/>
          </a:prstGeom>
          <a:noFill/>
          <a:ln/>
        </p:spPr>
        <p:txBody>
          <a:bodyPr wrap="square" lIns="0" tIns="0" rIns="0" bIns="0" rtlCol="0" anchor="ctr"/>
          <a:lstStyle/>
          <a:p>
            <a:pPr indent="0" marL="0">
              <a:buNone/>
            </a:pPr>
            <a:r>
              <a:rPr lang="en-US" sz="1100" b="1" dirty="0">
                <a:solidFill>
                  <a:schemeClr val="bg1"/>
                </a:solidFill>
              </a:rPr>
              <a:t>✓  Become well-rounded</a:t>
            </a:r>
            <a:endParaRPr lang="en-US" sz="1100" dirty="0"/>
          </a:p>
        </p:txBody>
      </p:sp>
      <p:sp>
        <p:nvSpPr>
          <p:cNvPr id="39" name="Gợi ý chip"/>
          <p:cNvSpPr/>
          <p:nvPr/>
        </p:nvSpPr>
        <p:spPr>
          <a:xfrm>
            <a:off x="932688" y="4800600"/>
            <a:ext cx="2340864" cy="347472"/>
          </a:xfrm>
          <a:prstGeom prst="roundRect">
            <a:avLst>
              <a:gd name="adj" fmla="val 50000"/>
            </a:avLst>
          </a:prstGeom>
          <a:solidFill>
            <a:schemeClr val="accent4">
              <a:alpha val="15000"/>
            </a:schemeClr>
          </a:solidFill>
          <a:ln w="12700">
            <a:solidFill>
              <a:schemeClr val="bg1"/>
            </a:solidFill>
            <a:prstDash val="solid"/>
          </a:ln>
        </p:spPr>
      </p:sp>
      <p:sp>
        <p:nvSpPr>
          <p:cNvPr id="40" name="Text 38"/>
          <p:cNvSpPr txBox="1"/>
          <p:nvPr/>
        </p:nvSpPr>
        <p:spPr>
          <a:xfrm>
            <a:off x="1051560" y="4800600"/>
            <a:ext cx="2148840" cy="347472"/>
          </a:xfrm>
          <a:prstGeom prst="rect">
            <a:avLst/>
          </a:prstGeom>
          <a:noFill/>
          <a:ln/>
        </p:spPr>
        <p:txBody>
          <a:bodyPr wrap="square" lIns="0" tIns="0" rIns="0" bIns="0" rtlCol="0" anchor="ctr"/>
          <a:lstStyle/>
          <a:p>
            <a:pPr indent="0" marL="0">
              <a:buNone/>
            </a:pPr>
            <a:r>
              <a:rPr lang="en-US" sz="1100" dirty="0">
                <a:solidFill>
                  <a:schemeClr val="tx1"/>
                </a:solidFill>
              </a:rPr>
              <a:t>Basic knowledge for life</a:t>
            </a:r>
            <a:endParaRPr lang="en-US" sz="1100" dirty="0"/>
          </a:p>
        </p:txBody>
      </p:sp>
      <p:sp>
        <p:nvSpPr>
          <p:cNvPr id="41" name="Gợi ý chip"/>
          <p:cNvSpPr/>
          <p:nvPr/>
        </p:nvSpPr>
        <p:spPr>
          <a:xfrm>
            <a:off x="932688" y="5230368"/>
            <a:ext cx="2340864" cy="347472"/>
          </a:xfrm>
          <a:prstGeom prst="roundRect">
            <a:avLst>
              <a:gd name="adj" fmla="val 50000"/>
            </a:avLst>
          </a:prstGeom>
          <a:solidFill>
            <a:schemeClr val="accent4">
              <a:alpha val="15000"/>
            </a:schemeClr>
          </a:solidFill>
          <a:ln w="12700">
            <a:solidFill>
              <a:schemeClr val="bg1"/>
            </a:solidFill>
            <a:prstDash val="solid"/>
          </a:ln>
        </p:spPr>
      </p:sp>
      <p:sp>
        <p:nvSpPr>
          <p:cNvPr id="42" name="Text 40"/>
          <p:cNvSpPr txBox="1"/>
          <p:nvPr/>
        </p:nvSpPr>
        <p:spPr>
          <a:xfrm>
            <a:off x="1051560" y="5230368"/>
            <a:ext cx="2148840" cy="347472"/>
          </a:xfrm>
          <a:prstGeom prst="rect">
            <a:avLst/>
          </a:prstGeom>
          <a:noFill/>
          <a:ln/>
        </p:spPr>
        <p:txBody>
          <a:bodyPr wrap="square" lIns="0" tIns="0" rIns="0" bIns="0" rtlCol="0" anchor="ctr"/>
          <a:lstStyle/>
          <a:p>
            <a:pPr indent="0" marL="0">
              <a:buNone/>
            </a:pPr>
            <a:r>
              <a:rPr lang="en-US" sz="1100" dirty="0">
                <a:solidFill>
                  <a:schemeClr val="tx1"/>
                </a:solidFill>
              </a:rPr>
              <a:t>Keep career options open</a:t>
            </a:r>
            <a:endParaRPr lang="en-US" sz="1100" dirty="0"/>
          </a:p>
        </p:txBody>
      </p:sp>
      <p:sp>
        <p:nvSpPr>
          <p:cNvPr id="43" name="Confusion toggle"/>
          <p:cNvSpPr/>
          <p:nvPr/>
        </p:nvSpPr>
        <p:spPr>
          <a:xfrm>
            <a:off x="932688" y="5760720"/>
            <a:ext cx="2340864" cy="365760"/>
          </a:xfrm>
          <a:prstGeom prst="roundRect">
            <a:avLst>
              <a:gd name="adj" fmla="val 50000"/>
            </a:avLst>
          </a:prstGeom>
          <a:solidFill>
            <a:schemeClr val="bg2"/>
          </a:solidFill>
          <a:ln w="12700">
            <a:solidFill>
              <a:schemeClr val="bg1"/>
            </a:solidFill>
            <a:prstDash val="solid"/>
          </a:ln>
        </p:spPr>
      </p:sp>
      <p:sp>
        <p:nvSpPr>
          <p:cNvPr id="44" name="Toggle selected"/>
          <p:cNvSpPr/>
          <p:nvPr/>
        </p:nvSpPr>
        <p:spPr>
          <a:xfrm>
            <a:off x="932688" y="5760720"/>
            <a:ext cx="1170432" cy="365760"/>
          </a:xfrm>
          <a:prstGeom prst="roundRect">
            <a:avLst>
              <a:gd name="adj" fmla="val 50000"/>
            </a:avLst>
          </a:prstGeom>
          <a:solidFill>
            <a:schemeClr val="accent3"/>
          </a:solidFill>
          <a:ln w="12700">
            <a:solidFill>
              <a:schemeClr val="bg1"/>
            </a:solidFill>
            <a:prstDash val="solid"/>
          </a:ln>
        </p:spPr>
      </p:sp>
      <p:sp>
        <p:nvSpPr>
          <p:cNvPr id="45" name="Text 43"/>
          <p:cNvSpPr txBox="1"/>
          <p:nvPr/>
        </p:nvSpPr>
        <p:spPr>
          <a:xfrm>
            <a:off x="932688" y="5760720"/>
            <a:ext cx="1170432" cy="365760"/>
          </a:xfrm>
          <a:prstGeom prst="rect">
            <a:avLst/>
          </a:prstGeom>
          <a:noFill/>
          <a:ln/>
        </p:spPr>
        <p:txBody>
          <a:bodyPr wrap="square" lIns="0" tIns="0" rIns="0" bIns="0" rtlCol="0" anchor="ctr"/>
          <a:lstStyle/>
          <a:p>
            <a:pPr algn="ctr" indent="0" marL="0">
              <a:buNone/>
            </a:pPr>
            <a:r>
              <a:rPr lang="en-US" sz="1000" b="1" dirty="0">
                <a:solidFill>
                  <a:schemeClr val="bg1"/>
                </a:solidFill>
              </a:rPr>
              <a:t>Understand</a:t>
            </a:r>
            <a:endParaRPr lang="en-US" sz="1000" dirty="0"/>
          </a:p>
        </p:txBody>
      </p:sp>
      <p:sp>
        <p:nvSpPr>
          <p:cNvPr id="46" name="Text 44"/>
          <p:cNvSpPr txBox="1"/>
          <p:nvPr/>
        </p:nvSpPr>
        <p:spPr>
          <a:xfrm>
            <a:off x="2103120" y="5760720"/>
            <a:ext cx="1170432" cy="365760"/>
          </a:xfrm>
          <a:prstGeom prst="rect">
            <a:avLst/>
          </a:prstGeom>
          <a:noFill/>
          <a:ln/>
        </p:spPr>
        <p:txBody>
          <a:bodyPr wrap="square" lIns="0" tIns="0" rIns="0" bIns="0" rtlCol="0" anchor="ctr"/>
          <a:lstStyle/>
          <a:p>
            <a:pPr algn="ctr" indent="0" marL="0">
              <a:buNone/>
            </a:pPr>
            <a:r>
              <a:rPr lang="en-US" sz="1000" b="1" dirty="0">
                <a:solidFill>
                  <a:schemeClr val="tx2"/>
                </a:solidFill>
              </a:rPr>
              <a:t>Don't understand</a:t>
            </a:r>
            <a:endParaRPr lang="en-US" sz="1000" dirty="0"/>
          </a:p>
        </p:txBody>
      </p:sp>
      <p:sp>
        <p:nvSpPr>
          <p:cNvPr id="47" name="Text 45"/>
          <p:cNvSpPr txBox="1"/>
          <p:nvPr/>
        </p:nvSpPr>
        <p:spPr>
          <a:xfrm>
            <a:off x="4251960" y="2377440"/>
            <a:ext cx="5394960" cy="292608"/>
          </a:xfrm>
          <a:prstGeom prst="rect">
            <a:avLst/>
          </a:prstGeom>
          <a:noFill/>
          <a:ln/>
        </p:spPr>
        <p:txBody>
          <a:bodyPr wrap="square" lIns="0" tIns="0" rIns="0" bIns="0" rtlCol="0" anchor="t"/>
          <a:lstStyle/>
          <a:p>
            <a:pPr indent="0" marL="0">
              <a:buNone/>
            </a:pPr>
            <a:r>
              <a:rPr lang="en-US" sz="1500" b="1" dirty="0">
                <a:solidFill>
                  <a:schemeClr val="tx1"/>
                </a:solidFill>
              </a:rPr>
              <a:t>Top ideas, grouped by AI</a:t>
            </a:r>
            <a:endParaRPr lang="en-US" sz="1500" dirty="0"/>
          </a:p>
        </p:txBody>
      </p:sp>
      <p:graphicFrame>
        <p:nvGraphicFramePr>
          <p:cNvPr id="48" name="Idea groups chart" descr=""/>
          <p:cNvGraphicFramePr/>
          <p:nvPr/>
        </p:nvGraphicFramePr>
        <p:xfrm>
          <a:off x="4160520" y="2697480"/>
          <a:ext cx="3520440" cy="3520440"/>
        </p:xfrm>
        <a:graphic xmlns:a="http://schemas.openxmlformats.org/drawingml/2006/main">
          <a:graphicData uri="http://schemas.openxmlformats.org/drawingml/2006/chart">
            <c:chart xmlns:c="http://schemas.openxmlformats.org/drawingml/2006/chart" r:id="rId1"/>
          </a:graphicData>
        </a:graphic>
      </p:graphicFrame>
      <p:sp>
        <p:nvSpPr>
          <p:cNvPr id="49" name="Shape 46"/>
          <p:cNvSpPr/>
          <p:nvPr/>
        </p:nvSpPr>
        <p:spPr>
          <a:xfrm>
            <a:off x="7772400" y="2697480"/>
            <a:ext cx="1920240" cy="3520440"/>
          </a:xfrm>
          <a:prstGeom prst="roundRect">
            <a:avLst>
              <a:gd name="adj" fmla="val 3810"/>
            </a:avLst>
          </a:prstGeom>
          <a:solidFill>
            <a:schemeClr val="accent1">
              <a:alpha val="8000"/>
            </a:schemeClr>
          </a:solidFill>
          <a:ln w="12700">
            <a:solidFill>
              <a:schemeClr val="bg1"/>
            </a:solidFill>
            <a:prstDash val="solid"/>
          </a:ln>
        </p:spPr>
      </p:sp>
      <p:sp>
        <p:nvSpPr>
          <p:cNvPr id="50" name="Text 47"/>
          <p:cNvSpPr txBox="1"/>
          <p:nvPr/>
        </p:nvSpPr>
        <p:spPr>
          <a:xfrm>
            <a:off x="7882128" y="2807208"/>
            <a:ext cx="1737360" cy="256032"/>
          </a:xfrm>
          <a:prstGeom prst="rect">
            <a:avLst/>
          </a:prstGeom>
          <a:noFill/>
          <a:ln/>
        </p:spPr>
        <p:txBody>
          <a:bodyPr wrap="square" lIns="0" tIns="0" rIns="0" bIns="0" rtlCol="0" anchor="t"/>
          <a:lstStyle/>
          <a:p>
            <a:pPr indent="0" marL="0">
              <a:buNone/>
            </a:pPr>
            <a:r>
              <a:rPr lang="en-US" sz="1100" b="1" dirty="0">
                <a:solidFill>
                  <a:schemeClr val="accent1"/>
                </a:solidFill>
              </a:rPr>
              <a:t>In their own words</a:t>
            </a:r>
            <a:endParaRPr lang="en-US" sz="1100" dirty="0"/>
          </a:p>
        </p:txBody>
      </p:sp>
      <p:sp>
        <p:nvSpPr>
          <p:cNvPr id="51" name="Text 48"/>
          <p:cNvSpPr txBox="1"/>
          <p:nvPr/>
        </p:nvSpPr>
        <p:spPr>
          <a:xfrm>
            <a:off x="7882128" y="3108960"/>
            <a:ext cx="1737360" cy="2103120"/>
          </a:xfrm>
          <a:prstGeom prst="rect">
            <a:avLst/>
          </a:prstGeom>
          <a:noFill/>
          <a:ln/>
        </p:spPr>
        <p:txBody>
          <a:bodyPr wrap="square" lIns="0" tIns="0" rIns="0" bIns="0" rtlCol="0" anchor="t"/>
          <a:lstStyle/>
          <a:p>
            <a:pPr indent="0" marL="0">
              <a:buNone/>
            </a:pPr>
            <a:r>
              <a:rPr lang="en-US" sz="1200" i="1" dirty="0">
                <a:solidFill>
                  <a:schemeClr val="tx1"/>
                </a:solidFill>
              </a:rPr>
              <a:t>“Kids don't know what they like until they try it.”</a:t>
            </a:r>
            <a:endParaRPr lang="en-US" sz="1200" dirty="0"/>
          </a:p>
          <a:p>
            <a:pPr indent="0" marL="0">
              <a:buNone/>
            </a:pPr>
            <a:endParaRPr lang="en-US" sz="1200" dirty="0"/>
          </a:p>
          <a:p>
            <a:pPr indent="0" marL="0">
              <a:buNone/>
            </a:pPr>
            <a:r>
              <a:rPr lang="en-US" sz="1200" i="1" dirty="0">
                <a:solidFill>
                  <a:schemeClr val="tx1"/>
                </a:solidFill>
              </a:rPr>
              <a:t>“Maybe you are good at art but you never had an art class.”</a:t>
            </a:r>
            <a:endParaRPr lang="en-US" sz="1200" dirty="0"/>
          </a:p>
        </p:txBody>
      </p:sp>
      <p:sp>
        <p:nvSpPr>
          <p:cNvPr id="52" name="Pick idea button"/>
          <p:cNvSpPr/>
          <p:nvPr/>
        </p:nvSpPr>
        <p:spPr>
          <a:xfrm>
            <a:off x="7882128" y="5577840"/>
            <a:ext cx="1700784" cy="457200"/>
          </a:xfrm>
          <a:prstGeom prst="roundRect">
            <a:avLst>
              <a:gd name="adj" fmla="val 50000"/>
            </a:avLst>
          </a:prstGeom>
          <a:solidFill>
            <a:schemeClr val="accent1"/>
          </a:solidFill>
          <a:ln w="12700">
            <a:solidFill>
              <a:schemeClr val="bg1"/>
            </a:solidFill>
            <a:prstDash val="solid"/>
          </a:ln>
        </p:spPr>
      </p:sp>
      <p:sp>
        <p:nvSpPr>
          <p:cNvPr id="53" name="Text 50"/>
          <p:cNvSpPr txBox="1"/>
          <p:nvPr/>
        </p:nvSpPr>
        <p:spPr>
          <a:xfrm>
            <a:off x="7882128" y="5577840"/>
            <a:ext cx="1700784" cy="457200"/>
          </a:xfrm>
          <a:prstGeom prst="rect">
            <a:avLst/>
          </a:prstGeom>
          <a:noFill/>
          <a:ln/>
        </p:spPr>
        <p:txBody>
          <a:bodyPr wrap="square" lIns="0" tIns="0" rIns="0" bIns="0" rtlCol="0" anchor="ctr"/>
          <a:lstStyle/>
          <a:p>
            <a:pPr algn="ctr" indent="0" marL="0">
              <a:buNone/>
            </a:pPr>
            <a:r>
              <a:rPr lang="en-US" sz="1100" b="1" dirty="0">
                <a:solidFill>
                  <a:schemeClr val="bg1"/>
                </a:solidFill>
              </a:rPr>
              <a:t>Use in step 4</a:t>
            </a:r>
            <a:endParaRPr lang="en-US" sz="1100" dirty="0"/>
          </a:p>
        </p:txBody>
      </p:sp>
      <p:sp>
        <p:nvSpPr>
          <p:cNvPr id="54" name="Confusion meter panel"/>
          <p:cNvSpPr/>
          <p:nvPr/>
        </p:nvSpPr>
        <p:spPr>
          <a:xfrm>
            <a:off x="9829800" y="2377440"/>
            <a:ext cx="1783080" cy="3840480"/>
          </a:xfrm>
          <a:prstGeom prst="roundRect">
            <a:avLst>
              <a:gd name="adj" fmla="val 4103"/>
            </a:avLst>
          </a:prstGeom>
          <a:solidFill>
            <a:schemeClr val="bg2"/>
          </a:solidFill>
          <a:ln w="12700">
            <a:solidFill>
              <a:schemeClr val="bg1"/>
            </a:solidFill>
            <a:prstDash val="solid"/>
          </a:ln>
        </p:spPr>
      </p:sp>
      <p:sp>
        <p:nvSpPr>
          <p:cNvPr id="55" name="Text 52"/>
          <p:cNvSpPr txBox="1"/>
          <p:nvPr/>
        </p:nvSpPr>
        <p:spPr>
          <a:xfrm>
            <a:off x="9966960" y="2514600"/>
            <a:ext cx="1508760" cy="274320"/>
          </a:xfrm>
          <a:prstGeom prst="rect">
            <a:avLst/>
          </a:prstGeom>
          <a:noFill/>
          <a:ln/>
        </p:spPr>
        <p:txBody>
          <a:bodyPr wrap="square" lIns="0" tIns="0" rIns="0" bIns="0" rtlCol="0" anchor="t"/>
          <a:lstStyle/>
          <a:p>
            <a:pPr indent="0" marL="0">
              <a:buNone/>
            </a:pPr>
            <a:r>
              <a:rPr lang="en-US" sz="1200" b="1" dirty="0">
                <a:solidFill>
                  <a:schemeClr val="tx1"/>
                </a:solidFill>
              </a:rPr>
              <a:t>Don't understand</a:t>
            </a:r>
            <a:endParaRPr lang="en-US" sz="1200" dirty="0"/>
          </a:p>
        </p:txBody>
      </p:sp>
      <p:sp>
        <p:nvSpPr>
          <p:cNvPr id="56" name="Text 53"/>
          <p:cNvSpPr txBox="1"/>
          <p:nvPr/>
        </p:nvSpPr>
        <p:spPr>
          <a:xfrm>
            <a:off x="9966960" y="2834640"/>
            <a:ext cx="1508760" cy="777240"/>
          </a:xfrm>
          <a:prstGeom prst="rect">
            <a:avLst/>
          </a:prstGeom>
          <a:noFill/>
          <a:ln/>
        </p:spPr>
        <p:txBody>
          <a:bodyPr wrap="square" lIns="0" tIns="0" rIns="0" bIns="0" rtlCol="0" anchor="ctr"/>
          <a:lstStyle/>
          <a:p>
            <a:pPr indent="0" marL="0">
              <a:buNone/>
            </a:pPr>
            <a:r>
              <a:rPr lang="en-US" sz="4400" b="1" dirty="0">
                <a:solidFill>
                  <a:schemeClr val="tx1"/>
                </a:solidFill>
              </a:rPr>
              <a:t>12%</a:t>
            </a:r>
            <a:endParaRPr lang="en-US" sz="4400" dirty="0"/>
          </a:p>
        </p:txBody>
      </p:sp>
      <p:sp>
        <p:nvSpPr>
          <p:cNvPr id="57" name="Text 54"/>
          <p:cNvSpPr txBox="1"/>
          <p:nvPr/>
        </p:nvSpPr>
        <p:spPr>
          <a:xfrm>
            <a:off x="9966960" y="3639312"/>
            <a:ext cx="1508760" cy="228600"/>
          </a:xfrm>
          <a:prstGeom prst="rect">
            <a:avLst/>
          </a:prstGeom>
          <a:noFill/>
          <a:ln/>
        </p:spPr>
        <p:txBody>
          <a:bodyPr wrap="square" lIns="0" tIns="0" rIns="0" bIns="0" rtlCol="0" anchor="t"/>
          <a:lstStyle/>
          <a:p>
            <a:pPr indent="0" marL="0">
              <a:buNone/>
            </a:pPr>
            <a:r>
              <a:rPr lang="en-US" sz="1000" dirty="0">
                <a:solidFill>
                  <a:schemeClr val="tx2"/>
                </a:solidFill>
              </a:rPr>
              <a:t>154 students right now</a:t>
            </a:r>
            <a:endParaRPr lang="en-US" sz="1000" dirty="0"/>
          </a:p>
        </p:txBody>
      </p:sp>
      <p:sp>
        <p:nvSpPr>
          <p:cNvPr id="58" name="Meter track"/>
          <p:cNvSpPr/>
          <p:nvPr/>
        </p:nvSpPr>
        <p:spPr>
          <a:xfrm>
            <a:off x="9966960" y="4023360"/>
            <a:ext cx="1508760" cy="146304"/>
          </a:xfrm>
          <a:prstGeom prst="roundRect">
            <a:avLst>
              <a:gd name="adj" fmla="val 50000"/>
            </a:avLst>
          </a:prstGeom>
          <a:solidFill>
            <a:schemeClr val="bg1"/>
          </a:solidFill>
          <a:ln w="9525">
            <a:solidFill>
              <a:schemeClr val="accent5"/>
            </a:solidFill>
            <a:prstDash val="solid"/>
          </a:ln>
        </p:spPr>
      </p:sp>
      <p:sp>
        <p:nvSpPr>
          <p:cNvPr id="59" name="Meter fill"/>
          <p:cNvSpPr/>
          <p:nvPr/>
        </p:nvSpPr>
        <p:spPr>
          <a:xfrm>
            <a:off x="9966960" y="4023360"/>
            <a:ext cx="181051" cy="146304"/>
          </a:xfrm>
          <a:prstGeom prst="roundRect">
            <a:avLst>
              <a:gd name="adj" fmla="val 50000"/>
            </a:avLst>
          </a:prstGeom>
          <a:solidFill>
            <a:schemeClr val="accent3"/>
          </a:solidFill>
          <a:ln w="12700">
            <a:solidFill>
              <a:schemeClr val="bg1"/>
            </a:solidFill>
            <a:prstDash val="solid"/>
          </a:ln>
        </p:spPr>
      </p:sp>
      <p:sp>
        <p:nvSpPr>
          <p:cNvPr id="60" name="Alert threshold"/>
          <p:cNvSpPr/>
          <p:nvPr/>
        </p:nvSpPr>
        <p:spPr>
          <a:xfrm>
            <a:off x="10419588" y="3950208"/>
            <a:ext cx="0" cy="292608"/>
          </a:xfrm>
          <a:prstGeom prst="line">
            <a:avLst/>
          </a:prstGeom>
          <a:noFill/>
          <a:ln w="15875">
            <a:solidFill>
              <a:schemeClr val="tx1"/>
            </a:solidFill>
            <a:prstDash val="dash"/>
          </a:ln>
        </p:spPr>
      </p:sp>
      <p:sp>
        <p:nvSpPr>
          <p:cNvPr id="61" name="Text 58"/>
          <p:cNvSpPr txBox="1"/>
          <p:nvPr/>
        </p:nvSpPr>
        <p:spPr>
          <a:xfrm>
            <a:off x="9966960" y="4297680"/>
            <a:ext cx="1508760" cy="201168"/>
          </a:xfrm>
          <a:prstGeom prst="rect">
            <a:avLst/>
          </a:prstGeom>
          <a:noFill/>
          <a:ln/>
        </p:spPr>
        <p:txBody>
          <a:bodyPr wrap="square" lIns="0" tIns="0" rIns="0" bIns="0" rtlCol="0" anchor="t"/>
          <a:lstStyle/>
          <a:p>
            <a:pPr indent="0" marL="0">
              <a:buNone/>
            </a:pPr>
            <a:r>
              <a:rPr lang="en-US" sz="1000" dirty="0">
                <a:solidFill>
                  <a:schemeClr val="tx2"/>
                </a:solidFill>
              </a:rPr>
              <a:t>Alert at 30%</a:t>
            </a:r>
            <a:endParaRPr lang="en-US" sz="1000" dirty="0"/>
          </a:p>
        </p:txBody>
      </p:sp>
      <p:sp>
        <p:nvSpPr>
          <p:cNvPr id="62" name="Text 59"/>
          <p:cNvSpPr txBox="1"/>
          <p:nvPr/>
        </p:nvSpPr>
        <p:spPr>
          <a:xfrm>
            <a:off x="9966960" y="4892040"/>
            <a:ext cx="1508760" cy="548640"/>
          </a:xfrm>
          <a:prstGeom prst="rect">
            <a:avLst/>
          </a:prstGeom>
          <a:noFill/>
          <a:ln/>
        </p:spPr>
        <p:txBody>
          <a:bodyPr wrap="square" lIns="0" tIns="0" rIns="0" bIns="0" rtlCol="0" anchor="t"/>
          <a:lstStyle/>
          <a:p>
            <a:pPr indent="0" marL="0">
              <a:buNone/>
            </a:pPr>
            <a:r>
              <a:rPr lang="en-US" sz="1200" b="1" dirty="0">
                <a:solidFill>
                  <a:schemeClr val="accent3"/>
                </a:solidFill>
              </a:rPr>
              <a:t>Class is following.</a:t>
            </a:r>
            <a:endParaRPr lang="en-US" sz="1200" dirty="0"/>
          </a:p>
          <a:p>
            <a:pPr indent="0" marL="0">
              <a:buNone/>
            </a:pPr>
            <a:r>
              <a:rPr lang="en-US" sz="1200" b="1" dirty="0">
                <a:solidFill>
                  <a:schemeClr val="accent3"/>
                </a:solidFill>
              </a:rPr>
              <a:t>Keep going.</a:t>
            </a:r>
            <a:endParaRPr lang="en-US" sz="120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594360"/>
          </a:xfrm>
          <a:prstGeom prst="rect">
            <a:avLst/>
          </a:prstGeom>
          <a:noFill/>
          <a:ln/>
        </p:spPr>
        <p:txBody>
          <a:bodyPr wrap="square" lIns="0" tIns="0" rIns="0" bIns="0" rtlCol="0" anchor="ctr"/>
          <a:lstStyle/>
          <a:p>
            <a:pPr algn="l" indent="0" marL="0">
              <a:buNone/>
            </a:pPr>
            <a:r>
              <a:rPr lang="en-US" sz="3200" b="1" dirty="0">
                <a:solidFill>
                  <a:schemeClr val="tx1"/>
                </a:solidFill>
              </a:rPr>
              <a:t>Step 4 · Develop the idea</a:t>
            </a:r>
            <a:endParaRPr lang="en-US" sz="3200" dirty="0"/>
          </a:p>
        </p:txBody>
      </p:sp>
      <p:sp>
        <p:nvSpPr>
          <p:cNvPr id="3" name="Text 0"/>
          <p:cNvSpPr/>
          <p:nvPr>
            <p:ph idx="101" type="body" hasCustomPrompt="1"/>
          </p:nvPr>
        </p:nvSpPr>
        <p:spPr>
          <a:xfrm>
            <a:off x="457200" y="868680"/>
            <a:ext cx="11247120" cy="365760"/>
          </a:xfrm>
          <a:prstGeom prst="rect">
            <a:avLst/>
          </a:prstGeom>
          <a:noFill/>
          <a:ln/>
        </p:spPr>
        <p:txBody>
          <a:bodyPr wrap="square" lIns="0" tIns="0" rIns="0" bIns="0" rtlCol="0" anchor="ctr"/>
          <a:lstStyle/>
          <a:p>
            <a:pPr indent="0" marL="0">
              <a:buNone/>
            </a:pPr>
            <a:r>
              <a:rPr lang="en-US" sz="1600" dirty="0">
                <a:solidFill>
                  <a:schemeClr val="tx2"/>
                </a:solidFill>
              </a:rPr>
              <a:t>Is this benefit enough to justify the side? The answer decides the path: Impact, Explain or Example</a:t>
            </a:r>
            <a:endParaRPr lang="en-US" sz="1600" dirty="0"/>
          </a:p>
        </p:txBody>
      </p:sp>
      <p:sp>
        <p:nvSpPr>
          <p:cNvPr id="4" name="Label: student"/>
          <p:cNvSpPr txBox="1"/>
          <p:nvPr/>
        </p:nvSpPr>
        <p:spPr>
          <a:xfrm>
            <a:off x="685800" y="1325880"/>
            <a:ext cx="292608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WHAT THE STUDENT SEES</a:t>
            </a:r>
            <a:endParaRPr lang="en-US" sz="1100" dirty="0"/>
          </a:p>
        </p:txBody>
      </p:sp>
      <p:sp>
        <p:nvSpPr>
          <p:cNvPr id="5" name="Label: teacher"/>
          <p:cNvSpPr txBox="1"/>
          <p:nvPr/>
        </p:nvSpPr>
        <p:spPr>
          <a:xfrm>
            <a:off x="4069080" y="1325880"/>
            <a:ext cx="548640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WHAT THE TEACHER SEES</a:t>
            </a:r>
            <a:endParaRPr lang="en-US" sz="1100" dirty="0"/>
          </a:p>
        </p:txBody>
      </p:sp>
      <p:sp>
        <p:nvSpPr>
          <p:cNvPr id="6" name="Phone frame"/>
          <p:cNvSpPr/>
          <p:nvPr/>
        </p:nvSpPr>
        <p:spPr>
          <a:xfrm>
            <a:off x="685800" y="1645920"/>
            <a:ext cx="2834640" cy="4709160"/>
          </a:xfrm>
          <a:prstGeom prst="roundRect">
            <a:avLst>
              <a:gd name="adj" fmla="val 11290"/>
            </a:avLst>
          </a:prstGeom>
          <a:solidFill>
            <a:schemeClr val="tx1"/>
          </a:solidFill>
          <a:ln w="12700">
            <a:solidFill>
              <a:schemeClr val="tx1"/>
            </a:solidFill>
            <a:prstDash val="solid"/>
          </a:ln>
          <a:effectLst>
            <a:outerShdw sx="100000" sy="100000" kx="0" ky="0" algn="bl" rotWithShape="0" blurRad="101600" dist="25400" dir="5400000">
              <a:srgbClr val="1A1B2E">
                <a:alpha val="12000"/>
              </a:srgbClr>
            </a:outerShdw>
          </a:effectLst>
        </p:spPr>
      </p:sp>
      <p:sp>
        <p:nvSpPr>
          <p:cNvPr id="7" name="Phone screen"/>
          <p:cNvSpPr/>
          <p:nvPr/>
        </p:nvSpPr>
        <p:spPr>
          <a:xfrm>
            <a:off x="795528" y="1755648"/>
            <a:ext cx="2615184" cy="4489704"/>
          </a:xfrm>
          <a:prstGeom prst="roundRect">
            <a:avLst>
              <a:gd name="adj" fmla="val 8741"/>
            </a:avLst>
          </a:prstGeom>
          <a:solidFill>
            <a:schemeClr val="bg1"/>
          </a:solidFill>
          <a:ln w="12700">
            <a:solidFill>
              <a:schemeClr val="bg1"/>
            </a:solidFill>
            <a:prstDash val="solid"/>
          </a:ln>
        </p:spPr>
      </p:sp>
      <p:sp>
        <p:nvSpPr>
          <p:cNvPr id="8" name="Live pill"/>
          <p:cNvSpPr/>
          <p:nvPr/>
        </p:nvSpPr>
        <p:spPr>
          <a:xfrm>
            <a:off x="932688" y="1901952"/>
            <a:ext cx="566928" cy="219456"/>
          </a:xfrm>
          <a:prstGeom prst="roundRect">
            <a:avLst>
              <a:gd name="adj" fmla="val 50000"/>
            </a:avLst>
          </a:prstGeom>
          <a:solidFill>
            <a:schemeClr val="accent2"/>
          </a:solidFill>
          <a:ln w="12700">
            <a:solidFill>
              <a:schemeClr val="bg1"/>
            </a:solidFill>
            <a:prstDash val="solid"/>
          </a:ln>
        </p:spPr>
      </p:sp>
      <p:sp>
        <p:nvSpPr>
          <p:cNvPr id="9" name="Text 7"/>
          <p:cNvSpPr txBox="1"/>
          <p:nvPr/>
        </p:nvSpPr>
        <p:spPr>
          <a:xfrm>
            <a:off x="932688" y="1901952"/>
            <a:ext cx="566928" cy="219456"/>
          </a:xfrm>
          <a:prstGeom prst="rect">
            <a:avLst/>
          </a:prstGeom>
          <a:noFill/>
          <a:ln/>
        </p:spPr>
        <p:txBody>
          <a:bodyPr wrap="square" lIns="0" tIns="0" rIns="0" bIns="0" rtlCol="0" anchor="ctr"/>
          <a:lstStyle/>
          <a:p>
            <a:pPr algn="ctr" indent="0" marL="0">
              <a:buNone/>
            </a:pPr>
            <a:r>
              <a:rPr lang="en-US" sz="1000" b="1" dirty="0">
                <a:solidFill>
                  <a:schemeClr val="bg1"/>
                </a:solidFill>
              </a:rPr>
              <a:t>● LIVE</a:t>
            </a:r>
            <a:endParaRPr lang="en-US" sz="1000" dirty="0"/>
          </a:p>
        </p:txBody>
      </p:sp>
      <p:sp>
        <p:nvSpPr>
          <p:cNvPr id="10" name="Text 8"/>
          <p:cNvSpPr txBox="1"/>
          <p:nvPr/>
        </p:nvSpPr>
        <p:spPr>
          <a:xfrm>
            <a:off x="1901952" y="1901952"/>
            <a:ext cx="1371600" cy="219456"/>
          </a:xfrm>
          <a:prstGeom prst="rect">
            <a:avLst/>
          </a:prstGeom>
          <a:noFill/>
          <a:ln/>
        </p:spPr>
        <p:txBody>
          <a:bodyPr wrap="square" lIns="0" tIns="0" rIns="0" bIns="0" rtlCol="0" anchor="ctr"/>
          <a:lstStyle/>
          <a:p>
            <a:pPr algn="r" indent="0" marL="0">
              <a:buNone/>
            </a:pPr>
            <a:r>
              <a:rPr lang="en-US" sz="1000" dirty="0">
                <a:solidFill>
                  <a:schemeClr val="tx2"/>
                </a:solidFill>
              </a:rPr>
              <a:t>Step 4 of 5</a:t>
            </a:r>
            <a:endParaRPr lang="en-US" sz="1000" dirty="0"/>
          </a:p>
        </p:txBody>
      </p:sp>
      <p:sp>
        <p:nvSpPr>
          <p:cNvPr id="11" name="Dashboard frame"/>
          <p:cNvSpPr/>
          <p:nvPr/>
        </p:nvSpPr>
        <p:spPr>
          <a:xfrm>
            <a:off x="4069080" y="1645920"/>
            <a:ext cx="7680960" cy="4709160"/>
          </a:xfrm>
          <a:prstGeom prst="roundRect">
            <a:avLst>
              <a:gd name="adj" fmla="val 2330"/>
            </a:avLst>
          </a:prstGeom>
          <a:solidFill>
            <a:schemeClr val="bg1"/>
          </a:solidFill>
          <a:ln w="12700">
            <a:solidFill>
              <a:schemeClr val="bg1"/>
            </a:solidFill>
            <a:prstDash val="solid"/>
          </a:ln>
          <a:effectLst>
            <a:outerShdw sx="100000" sy="100000" kx="0" ky="0" algn="bl" rotWithShape="0" blurRad="101600" dist="25400" dir="5400000">
              <a:srgbClr val="1A1B2E">
                <a:alpha val="12000"/>
              </a:srgbClr>
            </a:outerShdw>
          </a:effectLst>
        </p:spPr>
      </p:sp>
      <p:sp>
        <p:nvSpPr>
          <p:cNvPr id="12" name="Text 10"/>
          <p:cNvSpPr txBox="1"/>
          <p:nvPr/>
        </p:nvSpPr>
        <p:spPr>
          <a:xfrm>
            <a:off x="4251960" y="1764792"/>
            <a:ext cx="1737360" cy="329184"/>
          </a:xfrm>
          <a:prstGeom prst="rect">
            <a:avLst/>
          </a:prstGeom>
          <a:noFill/>
          <a:ln/>
        </p:spPr>
        <p:txBody>
          <a:bodyPr wrap="square" lIns="0" tIns="0" rIns="0" bIns="0" rtlCol="0" anchor="ctr"/>
          <a:lstStyle/>
          <a:p>
            <a:pPr indent="0" marL="0">
              <a:buNone/>
            </a:pPr>
            <a:r>
              <a:rPr lang="en-US" sz="1300" b="1" dirty="0">
                <a:solidFill>
                  <a:schemeClr val="tx1"/>
                </a:solidFill>
              </a:rPr>
              <a:t>Teacher dashboard</a:t>
            </a:r>
            <a:endParaRPr lang="en-US" sz="1300" dirty="0"/>
          </a:p>
        </p:txBody>
      </p:sp>
      <p:sp>
        <p:nvSpPr>
          <p:cNvPr id="13" name="Live pill"/>
          <p:cNvSpPr/>
          <p:nvPr/>
        </p:nvSpPr>
        <p:spPr>
          <a:xfrm>
            <a:off x="5989320" y="1819656"/>
            <a:ext cx="566928" cy="219456"/>
          </a:xfrm>
          <a:prstGeom prst="roundRect">
            <a:avLst>
              <a:gd name="adj" fmla="val 50000"/>
            </a:avLst>
          </a:prstGeom>
          <a:solidFill>
            <a:schemeClr val="accent2"/>
          </a:solidFill>
          <a:ln w="12700">
            <a:solidFill>
              <a:schemeClr val="bg1"/>
            </a:solidFill>
            <a:prstDash val="solid"/>
          </a:ln>
        </p:spPr>
      </p:sp>
      <p:sp>
        <p:nvSpPr>
          <p:cNvPr id="14" name="Text 12"/>
          <p:cNvSpPr txBox="1"/>
          <p:nvPr/>
        </p:nvSpPr>
        <p:spPr>
          <a:xfrm>
            <a:off x="5989320" y="1819656"/>
            <a:ext cx="566928" cy="219456"/>
          </a:xfrm>
          <a:prstGeom prst="rect">
            <a:avLst/>
          </a:prstGeom>
          <a:noFill/>
          <a:ln/>
        </p:spPr>
        <p:txBody>
          <a:bodyPr wrap="square" lIns="0" tIns="0" rIns="0" bIns="0" rtlCol="0" anchor="ctr"/>
          <a:lstStyle/>
          <a:p>
            <a:pPr algn="ctr" indent="0" marL="0">
              <a:buNone/>
            </a:pPr>
            <a:r>
              <a:rPr lang="en-US" sz="1000" b="1" dirty="0">
                <a:solidFill>
                  <a:schemeClr val="bg1"/>
                </a:solidFill>
              </a:rPr>
              <a:t>● LIVE</a:t>
            </a:r>
            <a:endParaRPr lang="en-US" sz="1000" dirty="0"/>
          </a:p>
        </p:txBody>
      </p:sp>
      <p:sp>
        <p:nvSpPr>
          <p:cNvPr id="15" name="Text 13"/>
          <p:cNvSpPr txBox="1"/>
          <p:nvPr/>
        </p:nvSpPr>
        <p:spPr>
          <a:xfrm>
            <a:off x="6647688" y="1764792"/>
            <a:ext cx="1280160" cy="329184"/>
          </a:xfrm>
          <a:prstGeom prst="rect">
            <a:avLst/>
          </a:prstGeom>
          <a:noFill/>
          <a:ln/>
        </p:spPr>
        <p:txBody>
          <a:bodyPr wrap="square" lIns="0" tIns="0" rIns="0" bIns="0" rtlCol="0" anchor="ctr"/>
          <a:lstStyle/>
          <a:p>
            <a:pPr indent="0" marL="0">
              <a:buNone/>
            </a:pPr>
            <a:r>
              <a:rPr lang="en-US" sz="1100" dirty="0">
                <a:solidFill>
                  <a:schemeClr val="tx2"/>
                </a:solidFill>
              </a:rPr>
              <a:t>1,284 students</a:t>
            </a:r>
            <a:endParaRPr lang="en-US" sz="1100" dirty="0"/>
          </a:p>
        </p:txBody>
      </p:sp>
      <p:sp>
        <p:nvSpPr>
          <p:cNvPr id="16" name="Step 1 dot"/>
          <p:cNvSpPr/>
          <p:nvPr/>
        </p:nvSpPr>
        <p:spPr>
          <a:xfrm>
            <a:off x="8001000" y="1810512"/>
            <a:ext cx="246888" cy="246888"/>
          </a:xfrm>
          <a:prstGeom prst="ellipse">
            <a:avLst/>
          </a:prstGeom>
          <a:solidFill>
            <a:schemeClr val="accent1">
              <a:alpha val="20000"/>
            </a:schemeClr>
          </a:solidFill>
          <a:ln w="12700">
            <a:solidFill>
              <a:schemeClr val="accent1"/>
            </a:solidFill>
            <a:prstDash val="solid"/>
          </a:ln>
        </p:spPr>
      </p:sp>
      <p:sp>
        <p:nvSpPr>
          <p:cNvPr id="17" name="Text 15"/>
          <p:cNvSpPr txBox="1"/>
          <p:nvPr/>
        </p:nvSpPr>
        <p:spPr>
          <a:xfrm>
            <a:off x="8001000" y="1810512"/>
            <a:ext cx="246888" cy="246888"/>
          </a:xfrm>
          <a:prstGeom prst="rect">
            <a:avLst/>
          </a:prstGeom>
          <a:noFill/>
          <a:ln/>
        </p:spPr>
        <p:txBody>
          <a:bodyPr wrap="square" lIns="0" tIns="0" rIns="0" bIns="0" rtlCol="0" anchor="ctr"/>
          <a:lstStyle/>
          <a:p>
            <a:pPr algn="ctr" indent="0" marL="0">
              <a:buNone/>
            </a:pPr>
            <a:r>
              <a:rPr lang="en-US" sz="1000" b="1" dirty="0">
                <a:solidFill>
                  <a:schemeClr val="accent1"/>
                </a:solidFill>
              </a:rPr>
              <a:t>1</a:t>
            </a:r>
            <a:endParaRPr lang="en-US" sz="1000" dirty="0"/>
          </a:p>
        </p:txBody>
      </p:sp>
      <p:sp>
        <p:nvSpPr>
          <p:cNvPr id="18" name="Step 2 dot"/>
          <p:cNvSpPr/>
          <p:nvPr/>
        </p:nvSpPr>
        <p:spPr>
          <a:xfrm>
            <a:off x="8330184" y="1810512"/>
            <a:ext cx="246888" cy="246888"/>
          </a:xfrm>
          <a:prstGeom prst="ellipse">
            <a:avLst/>
          </a:prstGeom>
          <a:solidFill>
            <a:schemeClr val="accent1">
              <a:alpha val="20000"/>
            </a:schemeClr>
          </a:solidFill>
          <a:ln w="12700">
            <a:solidFill>
              <a:schemeClr val="accent1"/>
            </a:solidFill>
            <a:prstDash val="solid"/>
          </a:ln>
        </p:spPr>
      </p:sp>
      <p:sp>
        <p:nvSpPr>
          <p:cNvPr id="19" name="Text 17"/>
          <p:cNvSpPr txBox="1"/>
          <p:nvPr/>
        </p:nvSpPr>
        <p:spPr>
          <a:xfrm>
            <a:off x="8330184" y="1810512"/>
            <a:ext cx="246888" cy="246888"/>
          </a:xfrm>
          <a:prstGeom prst="rect">
            <a:avLst/>
          </a:prstGeom>
          <a:noFill/>
          <a:ln/>
        </p:spPr>
        <p:txBody>
          <a:bodyPr wrap="square" lIns="0" tIns="0" rIns="0" bIns="0" rtlCol="0" anchor="ctr"/>
          <a:lstStyle/>
          <a:p>
            <a:pPr algn="ctr" indent="0" marL="0">
              <a:buNone/>
            </a:pPr>
            <a:r>
              <a:rPr lang="en-US" sz="1000" b="1" dirty="0">
                <a:solidFill>
                  <a:schemeClr val="accent1"/>
                </a:solidFill>
              </a:rPr>
              <a:t>2</a:t>
            </a:r>
            <a:endParaRPr lang="en-US" sz="1000" dirty="0"/>
          </a:p>
        </p:txBody>
      </p:sp>
      <p:sp>
        <p:nvSpPr>
          <p:cNvPr id="20" name="Step 3 dot"/>
          <p:cNvSpPr/>
          <p:nvPr/>
        </p:nvSpPr>
        <p:spPr>
          <a:xfrm>
            <a:off x="8659368" y="1810512"/>
            <a:ext cx="246888" cy="246888"/>
          </a:xfrm>
          <a:prstGeom prst="ellipse">
            <a:avLst/>
          </a:prstGeom>
          <a:solidFill>
            <a:schemeClr val="accent1">
              <a:alpha val="20000"/>
            </a:schemeClr>
          </a:solidFill>
          <a:ln w="12700">
            <a:solidFill>
              <a:schemeClr val="accent1"/>
            </a:solidFill>
            <a:prstDash val="solid"/>
          </a:ln>
        </p:spPr>
      </p:sp>
      <p:sp>
        <p:nvSpPr>
          <p:cNvPr id="21" name="Text 19"/>
          <p:cNvSpPr txBox="1"/>
          <p:nvPr/>
        </p:nvSpPr>
        <p:spPr>
          <a:xfrm>
            <a:off x="8659368" y="1810512"/>
            <a:ext cx="246888" cy="246888"/>
          </a:xfrm>
          <a:prstGeom prst="rect">
            <a:avLst/>
          </a:prstGeom>
          <a:noFill/>
          <a:ln/>
        </p:spPr>
        <p:txBody>
          <a:bodyPr wrap="square" lIns="0" tIns="0" rIns="0" bIns="0" rtlCol="0" anchor="ctr"/>
          <a:lstStyle/>
          <a:p>
            <a:pPr algn="ctr" indent="0" marL="0">
              <a:buNone/>
            </a:pPr>
            <a:r>
              <a:rPr lang="en-US" sz="1000" b="1" dirty="0">
                <a:solidFill>
                  <a:schemeClr val="accent1"/>
                </a:solidFill>
              </a:rPr>
              <a:t>3</a:t>
            </a:r>
            <a:endParaRPr lang="en-US" sz="1000" dirty="0"/>
          </a:p>
        </p:txBody>
      </p:sp>
      <p:sp>
        <p:nvSpPr>
          <p:cNvPr id="22" name="Step 4 dot"/>
          <p:cNvSpPr/>
          <p:nvPr/>
        </p:nvSpPr>
        <p:spPr>
          <a:xfrm>
            <a:off x="8988552" y="1810512"/>
            <a:ext cx="246888" cy="246888"/>
          </a:xfrm>
          <a:prstGeom prst="ellipse">
            <a:avLst/>
          </a:prstGeom>
          <a:solidFill>
            <a:schemeClr val="accent1"/>
          </a:solidFill>
          <a:ln w="12700">
            <a:solidFill>
              <a:schemeClr val="accent1"/>
            </a:solidFill>
            <a:prstDash val="solid"/>
          </a:ln>
        </p:spPr>
      </p:sp>
      <p:sp>
        <p:nvSpPr>
          <p:cNvPr id="23" name="Text 21"/>
          <p:cNvSpPr txBox="1"/>
          <p:nvPr/>
        </p:nvSpPr>
        <p:spPr>
          <a:xfrm>
            <a:off x="8988552" y="1810512"/>
            <a:ext cx="246888" cy="246888"/>
          </a:xfrm>
          <a:prstGeom prst="rect">
            <a:avLst/>
          </a:prstGeom>
          <a:noFill/>
          <a:ln/>
        </p:spPr>
        <p:txBody>
          <a:bodyPr wrap="square" lIns="0" tIns="0" rIns="0" bIns="0" rtlCol="0" anchor="ctr"/>
          <a:lstStyle/>
          <a:p>
            <a:pPr algn="ctr" indent="0" marL="0">
              <a:buNone/>
            </a:pPr>
            <a:r>
              <a:rPr lang="en-US" sz="1000" b="1" dirty="0">
                <a:solidFill>
                  <a:schemeClr val="bg1"/>
                </a:solidFill>
              </a:rPr>
              <a:t>4</a:t>
            </a:r>
            <a:endParaRPr lang="en-US" sz="1000" dirty="0"/>
          </a:p>
        </p:txBody>
      </p:sp>
      <p:sp>
        <p:nvSpPr>
          <p:cNvPr id="24" name="Step 5 dot"/>
          <p:cNvSpPr/>
          <p:nvPr/>
        </p:nvSpPr>
        <p:spPr>
          <a:xfrm>
            <a:off x="9317736" y="1810512"/>
            <a:ext cx="246888" cy="246888"/>
          </a:xfrm>
          <a:prstGeom prst="ellipse">
            <a:avLst/>
          </a:prstGeom>
          <a:solidFill>
            <a:schemeClr val="bg1"/>
          </a:solidFill>
          <a:ln w="12700">
            <a:solidFill>
              <a:schemeClr val="accent1"/>
            </a:solidFill>
            <a:prstDash val="solid"/>
          </a:ln>
        </p:spPr>
      </p:sp>
      <p:sp>
        <p:nvSpPr>
          <p:cNvPr id="25" name="Text 23"/>
          <p:cNvSpPr txBox="1"/>
          <p:nvPr/>
        </p:nvSpPr>
        <p:spPr>
          <a:xfrm>
            <a:off x="9317736" y="1810512"/>
            <a:ext cx="246888" cy="246888"/>
          </a:xfrm>
          <a:prstGeom prst="rect">
            <a:avLst/>
          </a:prstGeom>
          <a:noFill/>
          <a:ln/>
        </p:spPr>
        <p:txBody>
          <a:bodyPr wrap="square" lIns="0" tIns="0" rIns="0" bIns="0" rtlCol="0" anchor="ctr"/>
          <a:lstStyle/>
          <a:p>
            <a:pPr algn="ctr" indent="0" marL="0">
              <a:buNone/>
            </a:pPr>
            <a:r>
              <a:rPr lang="en-US" sz="1000" b="1" dirty="0">
                <a:solidFill>
                  <a:schemeClr val="accent1"/>
                </a:solidFill>
              </a:rPr>
              <a:t>5</a:t>
            </a:r>
            <a:endParaRPr lang="en-US" sz="1000" dirty="0"/>
          </a:p>
        </p:txBody>
      </p:sp>
      <p:sp>
        <p:nvSpPr>
          <p:cNvPr id="26" name="Step 6 dot"/>
          <p:cNvSpPr/>
          <p:nvPr/>
        </p:nvSpPr>
        <p:spPr>
          <a:xfrm>
            <a:off x="9646920" y="1810512"/>
            <a:ext cx="246888" cy="246888"/>
          </a:xfrm>
          <a:prstGeom prst="ellipse">
            <a:avLst/>
          </a:prstGeom>
          <a:solidFill>
            <a:schemeClr val="bg1"/>
          </a:solidFill>
          <a:ln w="12700">
            <a:solidFill>
              <a:schemeClr val="accent1"/>
            </a:solidFill>
            <a:prstDash val="solid"/>
          </a:ln>
        </p:spPr>
      </p:sp>
      <p:sp>
        <p:nvSpPr>
          <p:cNvPr id="27" name="Text 25"/>
          <p:cNvSpPr txBox="1"/>
          <p:nvPr/>
        </p:nvSpPr>
        <p:spPr>
          <a:xfrm>
            <a:off x="9646920" y="1810512"/>
            <a:ext cx="246888" cy="246888"/>
          </a:xfrm>
          <a:prstGeom prst="rect">
            <a:avLst/>
          </a:prstGeom>
          <a:noFill/>
          <a:ln/>
        </p:spPr>
        <p:txBody>
          <a:bodyPr wrap="square" lIns="0" tIns="0" rIns="0" bIns="0" rtlCol="0" anchor="ctr"/>
          <a:lstStyle/>
          <a:p>
            <a:pPr algn="ctr" indent="0" marL="0">
              <a:buNone/>
            </a:pPr>
            <a:r>
              <a:rPr lang="en-US" sz="1000" b="1" dirty="0">
                <a:solidFill>
                  <a:schemeClr val="accent1"/>
                </a:solidFill>
              </a:rPr>
              <a:t>6</a:t>
            </a:r>
            <a:endParaRPr lang="en-US" sz="1000" dirty="0"/>
          </a:p>
        </p:txBody>
      </p:sp>
      <p:sp>
        <p:nvSpPr>
          <p:cNvPr id="28" name="Next step button"/>
          <p:cNvSpPr/>
          <p:nvPr/>
        </p:nvSpPr>
        <p:spPr>
          <a:xfrm>
            <a:off x="10104120" y="1783080"/>
            <a:ext cx="1463040" cy="310896"/>
          </a:xfrm>
          <a:prstGeom prst="roundRect">
            <a:avLst>
              <a:gd name="adj" fmla="val 50000"/>
            </a:avLst>
          </a:prstGeom>
          <a:solidFill>
            <a:schemeClr val="accent1"/>
          </a:solidFill>
          <a:ln w="12700">
            <a:solidFill>
              <a:schemeClr val="bg1"/>
            </a:solidFill>
            <a:prstDash val="solid"/>
          </a:ln>
        </p:spPr>
      </p:sp>
      <p:sp>
        <p:nvSpPr>
          <p:cNvPr id="29" name="Text 27"/>
          <p:cNvSpPr txBox="1"/>
          <p:nvPr/>
        </p:nvSpPr>
        <p:spPr>
          <a:xfrm>
            <a:off x="10104120" y="1783080"/>
            <a:ext cx="1463040" cy="310896"/>
          </a:xfrm>
          <a:prstGeom prst="rect">
            <a:avLst/>
          </a:prstGeom>
          <a:noFill/>
          <a:ln/>
        </p:spPr>
        <p:txBody>
          <a:bodyPr wrap="square" lIns="0" tIns="0" rIns="0" bIns="0" rtlCol="0" anchor="ctr"/>
          <a:lstStyle/>
          <a:p>
            <a:pPr algn="ctr" indent="0" marL="0">
              <a:buNone/>
            </a:pPr>
            <a:r>
              <a:rPr lang="en-US" sz="1100" b="1" dirty="0">
                <a:solidFill>
                  <a:schemeClr val="bg1"/>
                </a:solidFill>
              </a:rPr>
              <a:t>Next step →</a:t>
            </a:r>
            <a:endParaRPr lang="en-US" sz="1100" dirty="0"/>
          </a:p>
        </p:txBody>
      </p:sp>
      <p:sp>
        <p:nvSpPr>
          <p:cNvPr id="30" name="Header divider"/>
          <p:cNvSpPr/>
          <p:nvPr/>
        </p:nvSpPr>
        <p:spPr>
          <a:xfrm>
            <a:off x="4206240" y="2240280"/>
            <a:ext cx="7406640" cy="0"/>
          </a:xfrm>
          <a:prstGeom prst="line">
            <a:avLst/>
          </a:prstGeom>
          <a:noFill/>
          <a:ln w="19050">
            <a:solidFill>
              <a:schemeClr val="bg2"/>
            </a:solidFill>
            <a:prstDash val="solid"/>
          </a:ln>
        </p:spPr>
      </p:sp>
      <p:sp>
        <p:nvSpPr>
          <p:cNvPr id="31" name="Shape 29"/>
          <p:cNvSpPr/>
          <p:nvPr/>
        </p:nvSpPr>
        <p:spPr>
          <a:xfrm>
            <a:off x="932688" y="2240280"/>
            <a:ext cx="2340864" cy="640080"/>
          </a:xfrm>
          <a:prstGeom prst="roundRect">
            <a:avLst>
              <a:gd name="adj" fmla="val 11429"/>
            </a:avLst>
          </a:prstGeom>
          <a:solidFill>
            <a:schemeClr val="accent1">
              <a:alpha val="10000"/>
            </a:schemeClr>
          </a:solidFill>
          <a:ln w="12700">
            <a:solidFill>
              <a:schemeClr val="bg1"/>
            </a:solidFill>
            <a:prstDash val="solid"/>
          </a:ln>
        </p:spPr>
      </p:sp>
      <p:sp>
        <p:nvSpPr>
          <p:cNvPr id="32" name="Text 30"/>
          <p:cNvSpPr txBox="1"/>
          <p:nvPr/>
        </p:nvSpPr>
        <p:spPr>
          <a:xfrm>
            <a:off x="1024128" y="2286000"/>
            <a:ext cx="2157984" cy="548640"/>
          </a:xfrm>
          <a:prstGeom prst="rect">
            <a:avLst/>
          </a:prstGeom>
          <a:noFill/>
          <a:ln/>
        </p:spPr>
        <p:txBody>
          <a:bodyPr wrap="square" lIns="0" tIns="0" rIns="0" bIns="0" rtlCol="0" anchor="ctr"/>
          <a:lstStyle/>
          <a:p>
            <a:pPr indent="0" marL="0">
              <a:buNone/>
            </a:pPr>
            <a:r>
              <a:rPr lang="en-US" sz="1100" b="1" dirty="0">
                <a:solidFill>
                  <a:schemeClr val="tx1"/>
                </a:solidFill>
              </a:rPr>
              <a:t>Studying all subjects helps students become more well-rounded.</a:t>
            </a:r>
            <a:endParaRPr lang="en-US" sz="1100" dirty="0"/>
          </a:p>
        </p:txBody>
      </p:sp>
      <p:sp>
        <p:nvSpPr>
          <p:cNvPr id="33" name="Text 31"/>
          <p:cNvSpPr txBox="1"/>
          <p:nvPr/>
        </p:nvSpPr>
        <p:spPr>
          <a:xfrm>
            <a:off x="932688" y="2971800"/>
            <a:ext cx="2340864" cy="548640"/>
          </a:xfrm>
          <a:prstGeom prst="rect">
            <a:avLst/>
          </a:prstGeom>
          <a:noFill/>
          <a:ln/>
        </p:spPr>
        <p:txBody>
          <a:bodyPr wrap="square" lIns="0" tIns="0" rIns="0" bIns="0" rtlCol="0" anchor="t"/>
          <a:lstStyle/>
          <a:p>
            <a:pPr indent="0" marL="0">
              <a:buNone/>
            </a:pPr>
            <a:r>
              <a:rPr lang="en-US" sz="1100" b="1" dirty="0">
                <a:solidFill>
                  <a:schemeClr val="accent1"/>
                </a:solidFill>
              </a:rPr>
              <a:t>Tutor: Is becoming well-rounded enough to justify studying every subject?</a:t>
            </a:r>
            <a:endParaRPr lang="en-US" sz="1100" dirty="0"/>
          </a:p>
        </p:txBody>
      </p:sp>
      <p:sp>
        <p:nvSpPr>
          <p:cNvPr id="34" name="Path button"/>
          <p:cNvSpPr/>
          <p:nvPr/>
        </p:nvSpPr>
        <p:spPr>
          <a:xfrm>
            <a:off x="932688" y="3584448"/>
            <a:ext cx="2340864" cy="329184"/>
          </a:xfrm>
          <a:prstGeom prst="roundRect">
            <a:avLst>
              <a:gd name="adj" fmla="val 50000"/>
            </a:avLst>
          </a:prstGeom>
          <a:solidFill>
            <a:schemeClr val="accent1"/>
          </a:solidFill>
          <a:ln w="12700">
            <a:solidFill>
              <a:schemeClr val="accent1"/>
            </a:solidFill>
            <a:prstDash val="solid"/>
          </a:ln>
        </p:spPr>
      </p:sp>
      <p:sp>
        <p:nvSpPr>
          <p:cNvPr id="35" name="Text 33"/>
          <p:cNvSpPr txBox="1"/>
          <p:nvPr/>
        </p:nvSpPr>
        <p:spPr>
          <a:xfrm>
            <a:off x="1051560" y="3584448"/>
            <a:ext cx="2148840" cy="329184"/>
          </a:xfrm>
          <a:prstGeom prst="rect">
            <a:avLst/>
          </a:prstGeom>
          <a:noFill/>
          <a:ln/>
        </p:spPr>
        <p:txBody>
          <a:bodyPr wrap="square" lIns="0" tIns="0" rIns="0" bIns="0" rtlCol="0" anchor="ctr"/>
          <a:lstStyle/>
          <a:p>
            <a:pPr indent="0" marL="0">
              <a:buNone/>
            </a:pPr>
            <a:r>
              <a:rPr lang="en-US" sz="1100" b="1" dirty="0">
                <a:solidFill>
                  <a:schemeClr val="bg1"/>
                </a:solidFill>
              </a:rPr>
              <a:t>Not enough → add IMPACT</a:t>
            </a:r>
            <a:endParaRPr lang="en-US" sz="1100" dirty="0"/>
          </a:p>
        </p:txBody>
      </p:sp>
      <p:sp>
        <p:nvSpPr>
          <p:cNvPr id="36" name="Path button"/>
          <p:cNvSpPr/>
          <p:nvPr/>
        </p:nvSpPr>
        <p:spPr>
          <a:xfrm>
            <a:off x="932688" y="3986784"/>
            <a:ext cx="2340864" cy="329184"/>
          </a:xfrm>
          <a:prstGeom prst="roundRect">
            <a:avLst>
              <a:gd name="adj" fmla="val 50000"/>
            </a:avLst>
          </a:prstGeom>
          <a:solidFill>
            <a:schemeClr val="bg1"/>
          </a:solidFill>
          <a:ln w="12700">
            <a:solidFill>
              <a:schemeClr val="accent1"/>
            </a:solidFill>
            <a:prstDash val="solid"/>
          </a:ln>
        </p:spPr>
      </p:sp>
      <p:sp>
        <p:nvSpPr>
          <p:cNvPr id="37" name="Text 35"/>
          <p:cNvSpPr txBox="1"/>
          <p:nvPr/>
        </p:nvSpPr>
        <p:spPr>
          <a:xfrm>
            <a:off x="1051560" y="3986784"/>
            <a:ext cx="2148840" cy="329184"/>
          </a:xfrm>
          <a:prstGeom prst="rect">
            <a:avLst/>
          </a:prstGeom>
          <a:noFill/>
          <a:ln/>
        </p:spPr>
        <p:txBody>
          <a:bodyPr wrap="square" lIns="0" tIns="0" rIns="0" bIns="0" rtlCol="0" anchor="ctr"/>
          <a:lstStyle/>
          <a:p>
            <a:pPr indent="0" marL="0">
              <a:buNone/>
            </a:pPr>
            <a:r>
              <a:rPr lang="en-US" sz="1100" b="1" dirty="0">
                <a:solidFill>
                  <a:schemeClr val="accent1"/>
                </a:solidFill>
              </a:rPr>
              <a:t>Enough → EXPLAIN why</a:t>
            </a:r>
            <a:endParaRPr lang="en-US" sz="1100" dirty="0"/>
          </a:p>
        </p:txBody>
      </p:sp>
      <p:sp>
        <p:nvSpPr>
          <p:cNvPr id="38" name="Path button"/>
          <p:cNvSpPr/>
          <p:nvPr/>
        </p:nvSpPr>
        <p:spPr>
          <a:xfrm>
            <a:off x="932688" y="4389120"/>
            <a:ext cx="2340864" cy="329184"/>
          </a:xfrm>
          <a:prstGeom prst="roundRect">
            <a:avLst>
              <a:gd name="adj" fmla="val 50000"/>
            </a:avLst>
          </a:prstGeom>
          <a:solidFill>
            <a:schemeClr val="bg1"/>
          </a:solidFill>
          <a:ln w="12700">
            <a:solidFill>
              <a:schemeClr val="accent1"/>
            </a:solidFill>
            <a:prstDash val="solid"/>
          </a:ln>
        </p:spPr>
      </p:sp>
      <p:sp>
        <p:nvSpPr>
          <p:cNvPr id="39" name="Text 37"/>
          <p:cNvSpPr txBox="1"/>
          <p:nvPr/>
        </p:nvSpPr>
        <p:spPr>
          <a:xfrm>
            <a:off x="1051560" y="4389120"/>
            <a:ext cx="2148840" cy="329184"/>
          </a:xfrm>
          <a:prstGeom prst="rect">
            <a:avLst/>
          </a:prstGeom>
          <a:noFill/>
          <a:ln/>
        </p:spPr>
        <p:txBody>
          <a:bodyPr wrap="square" lIns="0" tIns="0" rIns="0" bIns="0" rtlCol="0" anchor="ctr"/>
          <a:lstStyle/>
          <a:p>
            <a:pPr indent="0" marL="0">
              <a:buNone/>
            </a:pPr>
            <a:r>
              <a:rPr lang="en-US" sz="1100" b="1" dirty="0">
                <a:solidFill>
                  <a:schemeClr val="accent1"/>
                </a:solidFill>
              </a:rPr>
              <a:t>Not sure → give an EXAMPLE</a:t>
            </a:r>
            <a:endParaRPr lang="en-US" sz="1100" dirty="0"/>
          </a:p>
        </p:txBody>
      </p:sp>
      <p:sp>
        <p:nvSpPr>
          <p:cNvPr id="40" name="Shape 38"/>
          <p:cNvSpPr/>
          <p:nvPr/>
        </p:nvSpPr>
        <p:spPr>
          <a:xfrm>
            <a:off x="932688" y="4846320"/>
            <a:ext cx="2340864" cy="804672"/>
          </a:xfrm>
          <a:prstGeom prst="roundRect">
            <a:avLst>
              <a:gd name="adj" fmla="val 9091"/>
            </a:avLst>
          </a:prstGeom>
          <a:solidFill>
            <a:schemeClr val="bg1"/>
          </a:solidFill>
          <a:ln w="12700">
            <a:solidFill>
              <a:schemeClr val="accent5"/>
            </a:solidFill>
            <a:prstDash val="solid"/>
          </a:ln>
        </p:spPr>
      </p:sp>
      <p:sp>
        <p:nvSpPr>
          <p:cNvPr id="41" name="Text 39"/>
          <p:cNvSpPr txBox="1"/>
          <p:nvPr/>
        </p:nvSpPr>
        <p:spPr>
          <a:xfrm>
            <a:off x="1024128" y="4901184"/>
            <a:ext cx="2157984" cy="694944"/>
          </a:xfrm>
          <a:prstGeom prst="rect">
            <a:avLst/>
          </a:prstGeom>
          <a:noFill/>
          <a:ln/>
        </p:spPr>
        <p:txBody>
          <a:bodyPr wrap="square" lIns="0" tIns="0" rIns="0" bIns="0" rtlCol="0" anchor="ctr"/>
          <a:lstStyle/>
          <a:p>
            <a:pPr indent="0" marL="0">
              <a:buNone/>
            </a:pPr>
            <a:r>
              <a:rPr lang="en-US" sz="1100" dirty="0">
                <a:solidFill>
                  <a:schemeClr val="tx1"/>
                </a:solidFill>
              </a:rPr>
              <a:t>Being well-rounded helps them adapt to many different jobs later.</a:t>
            </a:r>
            <a:endParaRPr lang="en-US" sz="1100" dirty="0"/>
          </a:p>
        </p:txBody>
      </p:sp>
      <p:sp>
        <p:nvSpPr>
          <p:cNvPr id="42" name="Confusion toggle"/>
          <p:cNvSpPr/>
          <p:nvPr/>
        </p:nvSpPr>
        <p:spPr>
          <a:xfrm>
            <a:off x="932688" y="5760720"/>
            <a:ext cx="2340864" cy="365760"/>
          </a:xfrm>
          <a:prstGeom prst="roundRect">
            <a:avLst>
              <a:gd name="adj" fmla="val 50000"/>
            </a:avLst>
          </a:prstGeom>
          <a:solidFill>
            <a:schemeClr val="bg2"/>
          </a:solidFill>
          <a:ln w="12700">
            <a:solidFill>
              <a:schemeClr val="bg1"/>
            </a:solidFill>
            <a:prstDash val="solid"/>
          </a:ln>
        </p:spPr>
      </p:sp>
      <p:sp>
        <p:nvSpPr>
          <p:cNvPr id="43" name="Toggle selected"/>
          <p:cNvSpPr/>
          <p:nvPr/>
        </p:nvSpPr>
        <p:spPr>
          <a:xfrm>
            <a:off x="932688" y="5760720"/>
            <a:ext cx="1170432" cy="365760"/>
          </a:xfrm>
          <a:prstGeom prst="roundRect">
            <a:avLst>
              <a:gd name="adj" fmla="val 50000"/>
            </a:avLst>
          </a:prstGeom>
          <a:solidFill>
            <a:schemeClr val="accent3"/>
          </a:solidFill>
          <a:ln w="12700">
            <a:solidFill>
              <a:schemeClr val="bg1"/>
            </a:solidFill>
            <a:prstDash val="solid"/>
          </a:ln>
        </p:spPr>
      </p:sp>
      <p:sp>
        <p:nvSpPr>
          <p:cNvPr id="44" name="Text 42"/>
          <p:cNvSpPr txBox="1"/>
          <p:nvPr/>
        </p:nvSpPr>
        <p:spPr>
          <a:xfrm>
            <a:off x="932688" y="5760720"/>
            <a:ext cx="1170432" cy="365760"/>
          </a:xfrm>
          <a:prstGeom prst="rect">
            <a:avLst/>
          </a:prstGeom>
          <a:noFill/>
          <a:ln/>
        </p:spPr>
        <p:txBody>
          <a:bodyPr wrap="square" lIns="0" tIns="0" rIns="0" bIns="0" rtlCol="0" anchor="ctr"/>
          <a:lstStyle/>
          <a:p>
            <a:pPr algn="ctr" indent="0" marL="0">
              <a:buNone/>
            </a:pPr>
            <a:r>
              <a:rPr lang="en-US" sz="1000" b="1" dirty="0">
                <a:solidFill>
                  <a:schemeClr val="bg1"/>
                </a:solidFill>
              </a:rPr>
              <a:t>Understand</a:t>
            </a:r>
            <a:endParaRPr lang="en-US" sz="1000" dirty="0"/>
          </a:p>
        </p:txBody>
      </p:sp>
      <p:sp>
        <p:nvSpPr>
          <p:cNvPr id="45" name="Text 43"/>
          <p:cNvSpPr txBox="1"/>
          <p:nvPr/>
        </p:nvSpPr>
        <p:spPr>
          <a:xfrm>
            <a:off x="2103120" y="5760720"/>
            <a:ext cx="1170432" cy="365760"/>
          </a:xfrm>
          <a:prstGeom prst="rect">
            <a:avLst/>
          </a:prstGeom>
          <a:noFill/>
          <a:ln/>
        </p:spPr>
        <p:txBody>
          <a:bodyPr wrap="square" lIns="0" tIns="0" rIns="0" bIns="0" rtlCol="0" anchor="ctr"/>
          <a:lstStyle/>
          <a:p>
            <a:pPr algn="ctr" indent="0" marL="0">
              <a:buNone/>
            </a:pPr>
            <a:r>
              <a:rPr lang="en-US" sz="1000" b="1" dirty="0">
                <a:solidFill>
                  <a:schemeClr val="tx2"/>
                </a:solidFill>
              </a:rPr>
              <a:t>Don't understand</a:t>
            </a:r>
            <a:endParaRPr lang="en-US" sz="1000" dirty="0"/>
          </a:p>
        </p:txBody>
      </p:sp>
      <p:sp>
        <p:nvSpPr>
          <p:cNvPr id="46" name="Text 44"/>
          <p:cNvSpPr txBox="1"/>
          <p:nvPr/>
        </p:nvSpPr>
        <p:spPr>
          <a:xfrm>
            <a:off x="4251960" y="2377440"/>
            <a:ext cx="3017520" cy="292608"/>
          </a:xfrm>
          <a:prstGeom prst="rect">
            <a:avLst/>
          </a:prstGeom>
          <a:noFill/>
          <a:ln/>
        </p:spPr>
        <p:txBody>
          <a:bodyPr wrap="square" lIns="0" tIns="0" rIns="0" bIns="0" rtlCol="0" anchor="t"/>
          <a:lstStyle/>
          <a:p>
            <a:pPr indent="0" marL="0">
              <a:buNone/>
            </a:pPr>
            <a:r>
              <a:rPr lang="en-US" sz="1500" b="1" dirty="0">
                <a:solidFill>
                  <a:schemeClr val="tx1"/>
                </a:solidFill>
              </a:rPr>
              <a:t>Which path did students take?</a:t>
            </a:r>
            <a:endParaRPr lang="en-US" sz="1500" dirty="0"/>
          </a:p>
        </p:txBody>
      </p:sp>
      <p:graphicFrame>
        <p:nvGraphicFramePr>
          <p:cNvPr id="47" name="Path split chart" descr=""/>
          <p:cNvGraphicFramePr/>
          <p:nvPr/>
        </p:nvGraphicFramePr>
        <p:xfrm>
          <a:off x="4251960" y="2697480"/>
          <a:ext cx="2743200" cy="342900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178040" y="2377440"/>
            <a:ext cx="2468880" cy="292608"/>
          </a:xfrm>
          <a:prstGeom prst="rect">
            <a:avLst/>
          </a:prstGeom>
          <a:noFill/>
          <a:ln/>
        </p:spPr>
        <p:txBody>
          <a:bodyPr wrap="square" lIns="0" tIns="0" rIns="0" bIns="0" rtlCol="0" anchor="t"/>
          <a:lstStyle/>
          <a:p>
            <a:pPr indent="0" marL="0">
              <a:buNone/>
            </a:pPr>
            <a:r>
              <a:rPr lang="en-US" sz="1500" b="1" dirty="0">
                <a:solidFill>
                  <a:schemeClr val="tx1"/>
                </a:solidFill>
              </a:rPr>
              <a:t>Common problems</a:t>
            </a:r>
            <a:endParaRPr lang="en-US" sz="1500" dirty="0"/>
          </a:p>
        </p:txBody>
      </p:sp>
      <p:sp>
        <p:nvSpPr>
          <p:cNvPr id="49" name="Shape 46"/>
          <p:cNvSpPr/>
          <p:nvPr/>
        </p:nvSpPr>
        <p:spPr>
          <a:xfrm>
            <a:off x="7178040" y="2743200"/>
            <a:ext cx="2514600" cy="1024128"/>
          </a:xfrm>
          <a:prstGeom prst="roundRect">
            <a:avLst>
              <a:gd name="adj" fmla="val 7143"/>
            </a:avLst>
          </a:prstGeom>
          <a:solidFill>
            <a:schemeClr val="accent2">
              <a:alpha val="10000"/>
            </a:schemeClr>
          </a:solidFill>
          <a:ln w="12700">
            <a:solidFill>
              <a:schemeClr val="bg1"/>
            </a:solidFill>
            <a:prstDash val="solid"/>
          </a:ln>
        </p:spPr>
      </p:sp>
      <p:sp>
        <p:nvSpPr>
          <p:cNvPr id="50" name="Text 47"/>
          <p:cNvSpPr txBox="1"/>
          <p:nvPr/>
        </p:nvSpPr>
        <p:spPr>
          <a:xfrm>
            <a:off x="7296912" y="2834640"/>
            <a:ext cx="685800" cy="841248"/>
          </a:xfrm>
          <a:prstGeom prst="rect">
            <a:avLst/>
          </a:prstGeom>
          <a:noFill/>
          <a:ln/>
        </p:spPr>
        <p:txBody>
          <a:bodyPr wrap="square" lIns="0" tIns="0" rIns="0" bIns="0" rtlCol="0" anchor="ctr"/>
          <a:lstStyle/>
          <a:p>
            <a:pPr indent="0" marL="0">
              <a:buNone/>
            </a:pPr>
            <a:r>
              <a:rPr lang="en-US" sz="2200" b="1" dirty="0">
                <a:solidFill>
                  <a:schemeClr val="accent2"/>
                </a:solidFill>
              </a:rPr>
              <a:t>27%</a:t>
            </a:r>
            <a:endParaRPr lang="en-US" sz="2200" dirty="0"/>
          </a:p>
        </p:txBody>
      </p:sp>
      <p:sp>
        <p:nvSpPr>
          <p:cNvPr id="51" name="Text 48"/>
          <p:cNvSpPr txBox="1"/>
          <p:nvPr/>
        </p:nvSpPr>
        <p:spPr>
          <a:xfrm>
            <a:off x="8001000" y="2834640"/>
            <a:ext cx="1600200" cy="841248"/>
          </a:xfrm>
          <a:prstGeom prst="rect">
            <a:avLst/>
          </a:prstGeom>
          <a:noFill/>
          <a:ln/>
        </p:spPr>
        <p:txBody>
          <a:bodyPr wrap="square" lIns="0" tIns="0" rIns="0" bIns="0" rtlCol="0" anchor="ctr"/>
          <a:lstStyle/>
          <a:p>
            <a:pPr indent="0" marL="0">
              <a:buNone/>
            </a:pPr>
            <a:r>
              <a:rPr lang="en-US" sz="1100" dirty="0">
                <a:solidFill>
                  <a:schemeClr val="tx1"/>
                </a:solidFill>
              </a:rPr>
              <a:t>“Impact” just repeats the idea in other words</a:t>
            </a:r>
            <a:endParaRPr lang="en-US" sz="1100" dirty="0"/>
          </a:p>
        </p:txBody>
      </p:sp>
      <p:sp>
        <p:nvSpPr>
          <p:cNvPr id="52" name="Shape 49"/>
          <p:cNvSpPr/>
          <p:nvPr/>
        </p:nvSpPr>
        <p:spPr>
          <a:xfrm>
            <a:off x="7178040" y="3886200"/>
            <a:ext cx="2514600" cy="1024128"/>
          </a:xfrm>
          <a:prstGeom prst="roundRect">
            <a:avLst>
              <a:gd name="adj" fmla="val 7143"/>
            </a:avLst>
          </a:prstGeom>
          <a:solidFill>
            <a:schemeClr val="bg2"/>
          </a:solidFill>
          <a:ln w="12700">
            <a:solidFill>
              <a:schemeClr val="bg1"/>
            </a:solidFill>
            <a:prstDash val="solid"/>
          </a:ln>
        </p:spPr>
      </p:sp>
      <p:sp>
        <p:nvSpPr>
          <p:cNvPr id="53" name="Text 50"/>
          <p:cNvSpPr txBox="1"/>
          <p:nvPr/>
        </p:nvSpPr>
        <p:spPr>
          <a:xfrm>
            <a:off x="7296912" y="3977640"/>
            <a:ext cx="685800" cy="841248"/>
          </a:xfrm>
          <a:prstGeom prst="rect">
            <a:avLst/>
          </a:prstGeom>
          <a:noFill/>
          <a:ln/>
        </p:spPr>
        <p:txBody>
          <a:bodyPr wrap="square" lIns="0" tIns="0" rIns="0" bIns="0" rtlCol="0" anchor="ctr"/>
          <a:lstStyle/>
          <a:p>
            <a:pPr indent="0" marL="0">
              <a:buNone/>
            </a:pPr>
            <a:r>
              <a:rPr lang="en-US" sz="2200" b="1" dirty="0">
                <a:solidFill>
                  <a:schemeClr val="tx1"/>
                </a:solidFill>
              </a:rPr>
              <a:t>18%</a:t>
            </a:r>
            <a:endParaRPr lang="en-US" sz="2200" dirty="0"/>
          </a:p>
        </p:txBody>
      </p:sp>
      <p:sp>
        <p:nvSpPr>
          <p:cNvPr id="54" name="Text 51"/>
          <p:cNvSpPr txBox="1"/>
          <p:nvPr/>
        </p:nvSpPr>
        <p:spPr>
          <a:xfrm>
            <a:off x="8001000" y="3977640"/>
            <a:ext cx="1600200" cy="841248"/>
          </a:xfrm>
          <a:prstGeom prst="rect">
            <a:avLst/>
          </a:prstGeom>
          <a:noFill/>
          <a:ln/>
        </p:spPr>
        <p:txBody>
          <a:bodyPr wrap="square" lIns="0" tIns="0" rIns="0" bIns="0" rtlCol="0" anchor="ctr"/>
          <a:lstStyle/>
          <a:p>
            <a:pPr indent="0" marL="0">
              <a:buNone/>
            </a:pPr>
            <a:r>
              <a:rPr lang="en-US" sz="1100" dirty="0">
                <a:solidFill>
                  <a:schemeClr val="tx1"/>
                </a:solidFill>
              </a:rPr>
              <a:t>Circular: “well-rounded because they become well-rounded”</a:t>
            </a:r>
            <a:endParaRPr lang="en-US" sz="1100" dirty="0"/>
          </a:p>
        </p:txBody>
      </p:sp>
      <p:sp>
        <p:nvSpPr>
          <p:cNvPr id="55" name="Shape 52"/>
          <p:cNvSpPr/>
          <p:nvPr/>
        </p:nvSpPr>
        <p:spPr>
          <a:xfrm>
            <a:off x="7178040" y="5029200"/>
            <a:ext cx="2514600" cy="1024128"/>
          </a:xfrm>
          <a:prstGeom prst="roundRect">
            <a:avLst>
              <a:gd name="adj" fmla="val 7143"/>
            </a:avLst>
          </a:prstGeom>
          <a:solidFill>
            <a:schemeClr val="bg2"/>
          </a:solidFill>
          <a:ln w="12700">
            <a:solidFill>
              <a:schemeClr val="bg1"/>
            </a:solidFill>
            <a:prstDash val="solid"/>
          </a:ln>
        </p:spPr>
      </p:sp>
      <p:sp>
        <p:nvSpPr>
          <p:cNvPr id="56" name="Text 53"/>
          <p:cNvSpPr txBox="1"/>
          <p:nvPr/>
        </p:nvSpPr>
        <p:spPr>
          <a:xfrm>
            <a:off x="7296912" y="5120640"/>
            <a:ext cx="685800" cy="841248"/>
          </a:xfrm>
          <a:prstGeom prst="rect">
            <a:avLst/>
          </a:prstGeom>
          <a:noFill/>
          <a:ln/>
        </p:spPr>
        <p:txBody>
          <a:bodyPr wrap="square" lIns="0" tIns="0" rIns="0" bIns="0" rtlCol="0" anchor="ctr"/>
          <a:lstStyle/>
          <a:p>
            <a:pPr indent="0" marL="0">
              <a:buNone/>
            </a:pPr>
            <a:r>
              <a:rPr lang="en-US" sz="2200" b="1" dirty="0">
                <a:solidFill>
                  <a:schemeClr val="tx1"/>
                </a:solidFill>
              </a:rPr>
              <a:t>11%</a:t>
            </a:r>
            <a:endParaRPr lang="en-US" sz="2200" dirty="0"/>
          </a:p>
        </p:txBody>
      </p:sp>
      <p:sp>
        <p:nvSpPr>
          <p:cNvPr id="57" name="Text 54"/>
          <p:cNvSpPr txBox="1"/>
          <p:nvPr/>
        </p:nvSpPr>
        <p:spPr>
          <a:xfrm>
            <a:off x="8001000" y="5120640"/>
            <a:ext cx="1600200" cy="841248"/>
          </a:xfrm>
          <a:prstGeom prst="rect">
            <a:avLst/>
          </a:prstGeom>
          <a:noFill/>
          <a:ln/>
        </p:spPr>
        <p:txBody>
          <a:bodyPr wrap="square" lIns="0" tIns="0" rIns="0" bIns="0" rtlCol="0" anchor="ctr"/>
          <a:lstStyle/>
          <a:p>
            <a:pPr indent="0" marL="0">
              <a:buNone/>
            </a:pPr>
            <a:r>
              <a:rPr lang="en-US" sz="1100" dirty="0">
                <a:solidFill>
                  <a:schemeClr val="tx1"/>
                </a:solidFill>
              </a:rPr>
              <a:t>The example doesn't show the benefit</a:t>
            </a:r>
            <a:endParaRPr lang="en-US" sz="1100" dirty="0"/>
          </a:p>
        </p:txBody>
      </p:sp>
      <p:sp>
        <p:nvSpPr>
          <p:cNvPr id="58" name="Confusion meter panel"/>
          <p:cNvSpPr/>
          <p:nvPr/>
        </p:nvSpPr>
        <p:spPr>
          <a:xfrm>
            <a:off x="9829800" y="2377440"/>
            <a:ext cx="1783080" cy="3840480"/>
          </a:xfrm>
          <a:prstGeom prst="roundRect">
            <a:avLst>
              <a:gd name="adj" fmla="val 4103"/>
            </a:avLst>
          </a:prstGeom>
          <a:solidFill>
            <a:schemeClr val="bg2"/>
          </a:solidFill>
          <a:ln w="12700">
            <a:solidFill>
              <a:schemeClr val="bg1"/>
            </a:solidFill>
            <a:prstDash val="solid"/>
          </a:ln>
        </p:spPr>
      </p:sp>
      <p:sp>
        <p:nvSpPr>
          <p:cNvPr id="59" name="Text 56"/>
          <p:cNvSpPr txBox="1"/>
          <p:nvPr/>
        </p:nvSpPr>
        <p:spPr>
          <a:xfrm>
            <a:off x="9966960" y="2514600"/>
            <a:ext cx="1508760" cy="274320"/>
          </a:xfrm>
          <a:prstGeom prst="rect">
            <a:avLst/>
          </a:prstGeom>
          <a:noFill/>
          <a:ln/>
        </p:spPr>
        <p:txBody>
          <a:bodyPr wrap="square" lIns="0" tIns="0" rIns="0" bIns="0" rtlCol="0" anchor="t"/>
          <a:lstStyle/>
          <a:p>
            <a:pPr indent="0" marL="0">
              <a:buNone/>
            </a:pPr>
            <a:r>
              <a:rPr lang="en-US" sz="1200" b="1" dirty="0">
                <a:solidFill>
                  <a:schemeClr val="tx1"/>
                </a:solidFill>
              </a:rPr>
              <a:t>Don't understand</a:t>
            </a:r>
            <a:endParaRPr lang="en-US" sz="1200" dirty="0"/>
          </a:p>
        </p:txBody>
      </p:sp>
      <p:sp>
        <p:nvSpPr>
          <p:cNvPr id="60" name="Text 57"/>
          <p:cNvSpPr txBox="1"/>
          <p:nvPr/>
        </p:nvSpPr>
        <p:spPr>
          <a:xfrm>
            <a:off x="9966960" y="2834640"/>
            <a:ext cx="1508760" cy="777240"/>
          </a:xfrm>
          <a:prstGeom prst="rect">
            <a:avLst/>
          </a:prstGeom>
          <a:noFill/>
          <a:ln/>
        </p:spPr>
        <p:txBody>
          <a:bodyPr wrap="square" lIns="0" tIns="0" rIns="0" bIns="0" rtlCol="0" anchor="ctr"/>
          <a:lstStyle/>
          <a:p>
            <a:pPr indent="0" marL="0">
              <a:buNone/>
            </a:pPr>
            <a:r>
              <a:rPr lang="en-US" sz="4400" b="1" dirty="0">
                <a:solidFill>
                  <a:schemeClr val="tx1"/>
                </a:solidFill>
              </a:rPr>
              <a:t>19%</a:t>
            </a:r>
            <a:endParaRPr lang="en-US" sz="4400" dirty="0"/>
          </a:p>
        </p:txBody>
      </p:sp>
      <p:sp>
        <p:nvSpPr>
          <p:cNvPr id="61" name="Text 58"/>
          <p:cNvSpPr txBox="1"/>
          <p:nvPr/>
        </p:nvSpPr>
        <p:spPr>
          <a:xfrm>
            <a:off x="9966960" y="3639312"/>
            <a:ext cx="1508760" cy="228600"/>
          </a:xfrm>
          <a:prstGeom prst="rect">
            <a:avLst/>
          </a:prstGeom>
          <a:noFill/>
          <a:ln/>
        </p:spPr>
        <p:txBody>
          <a:bodyPr wrap="square" lIns="0" tIns="0" rIns="0" bIns="0" rtlCol="0" anchor="t"/>
          <a:lstStyle/>
          <a:p>
            <a:pPr indent="0" marL="0">
              <a:buNone/>
            </a:pPr>
            <a:r>
              <a:rPr lang="en-US" sz="1000" dirty="0">
                <a:solidFill>
                  <a:schemeClr val="tx2"/>
                </a:solidFill>
              </a:rPr>
              <a:t>244 students right now</a:t>
            </a:r>
            <a:endParaRPr lang="en-US" sz="1000" dirty="0"/>
          </a:p>
        </p:txBody>
      </p:sp>
      <p:sp>
        <p:nvSpPr>
          <p:cNvPr id="62" name="Meter track"/>
          <p:cNvSpPr/>
          <p:nvPr/>
        </p:nvSpPr>
        <p:spPr>
          <a:xfrm>
            <a:off x="9966960" y="4023360"/>
            <a:ext cx="1508760" cy="146304"/>
          </a:xfrm>
          <a:prstGeom prst="roundRect">
            <a:avLst>
              <a:gd name="adj" fmla="val 50000"/>
            </a:avLst>
          </a:prstGeom>
          <a:solidFill>
            <a:schemeClr val="bg1"/>
          </a:solidFill>
          <a:ln w="9525">
            <a:solidFill>
              <a:schemeClr val="accent5"/>
            </a:solidFill>
            <a:prstDash val="solid"/>
          </a:ln>
        </p:spPr>
      </p:sp>
      <p:sp>
        <p:nvSpPr>
          <p:cNvPr id="63" name="Meter fill"/>
          <p:cNvSpPr/>
          <p:nvPr/>
        </p:nvSpPr>
        <p:spPr>
          <a:xfrm>
            <a:off x="9966960" y="4023360"/>
            <a:ext cx="286664" cy="146304"/>
          </a:xfrm>
          <a:prstGeom prst="roundRect">
            <a:avLst>
              <a:gd name="adj" fmla="val 50000"/>
            </a:avLst>
          </a:prstGeom>
          <a:solidFill>
            <a:schemeClr val="accent3"/>
          </a:solidFill>
          <a:ln w="12700">
            <a:solidFill>
              <a:schemeClr val="bg1"/>
            </a:solidFill>
            <a:prstDash val="solid"/>
          </a:ln>
        </p:spPr>
      </p:sp>
      <p:sp>
        <p:nvSpPr>
          <p:cNvPr id="64" name="Alert threshold"/>
          <p:cNvSpPr/>
          <p:nvPr/>
        </p:nvSpPr>
        <p:spPr>
          <a:xfrm>
            <a:off x="10419588" y="3950208"/>
            <a:ext cx="0" cy="292608"/>
          </a:xfrm>
          <a:prstGeom prst="line">
            <a:avLst/>
          </a:prstGeom>
          <a:noFill/>
          <a:ln w="15875">
            <a:solidFill>
              <a:schemeClr val="tx1"/>
            </a:solidFill>
            <a:prstDash val="dash"/>
          </a:ln>
        </p:spPr>
      </p:sp>
      <p:sp>
        <p:nvSpPr>
          <p:cNvPr id="65" name="Text 62"/>
          <p:cNvSpPr txBox="1"/>
          <p:nvPr/>
        </p:nvSpPr>
        <p:spPr>
          <a:xfrm>
            <a:off x="9966960" y="4297680"/>
            <a:ext cx="1508760" cy="201168"/>
          </a:xfrm>
          <a:prstGeom prst="rect">
            <a:avLst/>
          </a:prstGeom>
          <a:noFill/>
          <a:ln/>
        </p:spPr>
        <p:txBody>
          <a:bodyPr wrap="square" lIns="0" tIns="0" rIns="0" bIns="0" rtlCol="0" anchor="t"/>
          <a:lstStyle/>
          <a:p>
            <a:pPr indent="0" marL="0">
              <a:buNone/>
            </a:pPr>
            <a:r>
              <a:rPr lang="en-US" sz="1000" dirty="0">
                <a:solidFill>
                  <a:schemeClr val="tx2"/>
                </a:solidFill>
              </a:rPr>
              <a:t>Alert at 30%</a:t>
            </a:r>
            <a:endParaRPr lang="en-US" sz="1000" dirty="0"/>
          </a:p>
        </p:txBody>
      </p:sp>
      <p:sp>
        <p:nvSpPr>
          <p:cNvPr id="66" name="Text 63"/>
          <p:cNvSpPr txBox="1"/>
          <p:nvPr/>
        </p:nvSpPr>
        <p:spPr>
          <a:xfrm>
            <a:off x="9966960" y="4892040"/>
            <a:ext cx="1508760" cy="548640"/>
          </a:xfrm>
          <a:prstGeom prst="rect">
            <a:avLst/>
          </a:prstGeom>
          <a:noFill/>
          <a:ln/>
        </p:spPr>
        <p:txBody>
          <a:bodyPr wrap="square" lIns="0" tIns="0" rIns="0" bIns="0" rtlCol="0" anchor="t"/>
          <a:lstStyle/>
          <a:p>
            <a:pPr indent="0" marL="0">
              <a:buNone/>
            </a:pPr>
            <a:r>
              <a:rPr lang="en-US" sz="1200" b="1" dirty="0">
                <a:solidFill>
                  <a:schemeClr val="accent3"/>
                </a:solidFill>
              </a:rPr>
              <a:t>Class is following.</a:t>
            </a:r>
            <a:endParaRPr lang="en-US" sz="1200" dirty="0"/>
          </a:p>
          <a:p>
            <a:pPr indent="0" marL="0">
              <a:buNone/>
            </a:pPr>
            <a:r>
              <a:rPr lang="en-US" sz="1200" b="1" dirty="0">
                <a:solidFill>
                  <a:schemeClr val="accent3"/>
                </a:solidFill>
              </a:rPr>
              <a:t>Keep going.</a:t>
            </a:r>
            <a:endParaRPr lang="en-US" sz="120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594360"/>
          </a:xfrm>
          <a:prstGeom prst="rect">
            <a:avLst/>
          </a:prstGeom>
          <a:noFill/>
          <a:ln/>
        </p:spPr>
        <p:txBody>
          <a:bodyPr wrap="square" lIns="0" tIns="0" rIns="0" bIns="0" rtlCol="0" anchor="ctr"/>
          <a:lstStyle/>
          <a:p>
            <a:pPr algn="l" indent="0" marL="0">
              <a:buNone/>
            </a:pPr>
            <a:r>
              <a:rPr lang="en-US" sz="3200" b="1" dirty="0">
                <a:solidFill>
                  <a:schemeClr val="tx1"/>
                </a:solidFill>
              </a:rPr>
              <a:t>Step 5 · Write the body paragraph</a:t>
            </a:r>
            <a:endParaRPr lang="en-US" sz="3200" dirty="0"/>
          </a:p>
        </p:txBody>
      </p:sp>
      <p:sp>
        <p:nvSpPr>
          <p:cNvPr id="3" name="Text 0"/>
          <p:cNvSpPr/>
          <p:nvPr>
            <p:ph idx="101" type="body" hasCustomPrompt="1"/>
          </p:nvPr>
        </p:nvSpPr>
        <p:spPr>
          <a:xfrm>
            <a:off x="457200" y="868680"/>
            <a:ext cx="11247120" cy="365760"/>
          </a:xfrm>
          <a:prstGeom prst="rect">
            <a:avLst/>
          </a:prstGeom>
          <a:noFill/>
          <a:ln/>
        </p:spPr>
        <p:txBody>
          <a:bodyPr wrap="square" lIns="0" tIns="0" rIns="0" bIns="0" rtlCol="0" anchor="ctr"/>
          <a:lstStyle/>
          <a:p>
            <a:pPr indent="0" marL="0">
              <a:buNone/>
            </a:pPr>
            <a:r>
              <a:rPr lang="en-US" sz="1600" dirty="0">
                <a:solidFill>
                  <a:schemeClr val="tx2"/>
                </a:solidFill>
              </a:rPr>
              <a:t>The tutor raises one problem at a time, most important first. Never a long list of mistakes</a:t>
            </a:r>
            <a:endParaRPr lang="en-US" sz="1600" dirty="0"/>
          </a:p>
        </p:txBody>
      </p:sp>
      <p:sp>
        <p:nvSpPr>
          <p:cNvPr id="4" name="Label: student"/>
          <p:cNvSpPr txBox="1"/>
          <p:nvPr/>
        </p:nvSpPr>
        <p:spPr>
          <a:xfrm>
            <a:off x="685800" y="1325880"/>
            <a:ext cx="292608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WHAT THE STUDENT SEES</a:t>
            </a:r>
            <a:endParaRPr lang="en-US" sz="1100" dirty="0"/>
          </a:p>
        </p:txBody>
      </p:sp>
      <p:sp>
        <p:nvSpPr>
          <p:cNvPr id="5" name="Label: teacher"/>
          <p:cNvSpPr txBox="1"/>
          <p:nvPr/>
        </p:nvSpPr>
        <p:spPr>
          <a:xfrm>
            <a:off x="4069080" y="1325880"/>
            <a:ext cx="548640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WHAT THE TEACHER SEES</a:t>
            </a:r>
            <a:endParaRPr lang="en-US" sz="1100" dirty="0"/>
          </a:p>
        </p:txBody>
      </p:sp>
      <p:sp>
        <p:nvSpPr>
          <p:cNvPr id="6" name="Phone frame"/>
          <p:cNvSpPr/>
          <p:nvPr/>
        </p:nvSpPr>
        <p:spPr>
          <a:xfrm>
            <a:off x="685800" y="1645920"/>
            <a:ext cx="2834640" cy="4709160"/>
          </a:xfrm>
          <a:prstGeom prst="roundRect">
            <a:avLst>
              <a:gd name="adj" fmla="val 11290"/>
            </a:avLst>
          </a:prstGeom>
          <a:solidFill>
            <a:schemeClr val="tx1"/>
          </a:solidFill>
          <a:ln w="12700">
            <a:solidFill>
              <a:schemeClr val="tx1"/>
            </a:solidFill>
            <a:prstDash val="solid"/>
          </a:ln>
          <a:effectLst>
            <a:outerShdw sx="100000" sy="100000" kx="0" ky="0" algn="bl" rotWithShape="0" blurRad="101600" dist="25400" dir="5400000">
              <a:srgbClr val="1A1B2E">
                <a:alpha val="12000"/>
              </a:srgbClr>
            </a:outerShdw>
          </a:effectLst>
        </p:spPr>
      </p:sp>
      <p:sp>
        <p:nvSpPr>
          <p:cNvPr id="7" name="Phone screen"/>
          <p:cNvSpPr/>
          <p:nvPr/>
        </p:nvSpPr>
        <p:spPr>
          <a:xfrm>
            <a:off x="795528" y="1755648"/>
            <a:ext cx="2615184" cy="4489704"/>
          </a:xfrm>
          <a:prstGeom prst="roundRect">
            <a:avLst>
              <a:gd name="adj" fmla="val 8741"/>
            </a:avLst>
          </a:prstGeom>
          <a:solidFill>
            <a:schemeClr val="bg1"/>
          </a:solidFill>
          <a:ln w="12700">
            <a:solidFill>
              <a:schemeClr val="bg1"/>
            </a:solidFill>
            <a:prstDash val="solid"/>
          </a:ln>
        </p:spPr>
      </p:sp>
      <p:sp>
        <p:nvSpPr>
          <p:cNvPr id="8" name="Live pill"/>
          <p:cNvSpPr/>
          <p:nvPr/>
        </p:nvSpPr>
        <p:spPr>
          <a:xfrm>
            <a:off x="932688" y="1901952"/>
            <a:ext cx="566928" cy="219456"/>
          </a:xfrm>
          <a:prstGeom prst="roundRect">
            <a:avLst>
              <a:gd name="adj" fmla="val 50000"/>
            </a:avLst>
          </a:prstGeom>
          <a:solidFill>
            <a:schemeClr val="accent2"/>
          </a:solidFill>
          <a:ln w="12700">
            <a:solidFill>
              <a:schemeClr val="bg1"/>
            </a:solidFill>
            <a:prstDash val="solid"/>
          </a:ln>
        </p:spPr>
      </p:sp>
      <p:sp>
        <p:nvSpPr>
          <p:cNvPr id="9" name="Text 7"/>
          <p:cNvSpPr txBox="1"/>
          <p:nvPr/>
        </p:nvSpPr>
        <p:spPr>
          <a:xfrm>
            <a:off x="932688" y="1901952"/>
            <a:ext cx="566928" cy="219456"/>
          </a:xfrm>
          <a:prstGeom prst="rect">
            <a:avLst/>
          </a:prstGeom>
          <a:noFill/>
          <a:ln/>
        </p:spPr>
        <p:txBody>
          <a:bodyPr wrap="square" lIns="0" tIns="0" rIns="0" bIns="0" rtlCol="0" anchor="ctr"/>
          <a:lstStyle/>
          <a:p>
            <a:pPr algn="ctr" indent="0" marL="0">
              <a:buNone/>
            </a:pPr>
            <a:r>
              <a:rPr lang="en-US" sz="1000" b="1" dirty="0">
                <a:solidFill>
                  <a:schemeClr val="bg1"/>
                </a:solidFill>
              </a:rPr>
              <a:t>● LIVE</a:t>
            </a:r>
            <a:endParaRPr lang="en-US" sz="1000" dirty="0"/>
          </a:p>
        </p:txBody>
      </p:sp>
      <p:sp>
        <p:nvSpPr>
          <p:cNvPr id="10" name="Text 8"/>
          <p:cNvSpPr txBox="1"/>
          <p:nvPr/>
        </p:nvSpPr>
        <p:spPr>
          <a:xfrm>
            <a:off x="1901952" y="1901952"/>
            <a:ext cx="1371600" cy="219456"/>
          </a:xfrm>
          <a:prstGeom prst="rect">
            <a:avLst/>
          </a:prstGeom>
          <a:noFill/>
          <a:ln/>
        </p:spPr>
        <p:txBody>
          <a:bodyPr wrap="square" lIns="0" tIns="0" rIns="0" bIns="0" rtlCol="0" anchor="ctr"/>
          <a:lstStyle/>
          <a:p>
            <a:pPr algn="r" indent="0" marL="0">
              <a:buNone/>
            </a:pPr>
            <a:r>
              <a:rPr lang="en-US" sz="1000" dirty="0">
                <a:solidFill>
                  <a:schemeClr val="tx2"/>
                </a:solidFill>
              </a:rPr>
              <a:t>Step 5 of 5</a:t>
            </a:r>
            <a:endParaRPr lang="en-US" sz="1000" dirty="0"/>
          </a:p>
        </p:txBody>
      </p:sp>
      <p:sp>
        <p:nvSpPr>
          <p:cNvPr id="11" name="Dashboard frame"/>
          <p:cNvSpPr/>
          <p:nvPr/>
        </p:nvSpPr>
        <p:spPr>
          <a:xfrm>
            <a:off x="4069080" y="1645920"/>
            <a:ext cx="7680960" cy="4709160"/>
          </a:xfrm>
          <a:prstGeom prst="roundRect">
            <a:avLst>
              <a:gd name="adj" fmla="val 2330"/>
            </a:avLst>
          </a:prstGeom>
          <a:solidFill>
            <a:schemeClr val="bg1"/>
          </a:solidFill>
          <a:ln w="12700">
            <a:solidFill>
              <a:schemeClr val="bg1"/>
            </a:solidFill>
            <a:prstDash val="solid"/>
          </a:ln>
          <a:effectLst>
            <a:outerShdw sx="100000" sy="100000" kx="0" ky="0" algn="bl" rotWithShape="0" blurRad="101600" dist="25400" dir="5400000">
              <a:srgbClr val="1A1B2E">
                <a:alpha val="12000"/>
              </a:srgbClr>
            </a:outerShdw>
          </a:effectLst>
        </p:spPr>
      </p:sp>
      <p:sp>
        <p:nvSpPr>
          <p:cNvPr id="12" name="Text 10"/>
          <p:cNvSpPr txBox="1"/>
          <p:nvPr/>
        </p:nvSpPr>
        <p:spPr>
          <a:xfrm>
            <a:off x="4251960" y="1764792"/>
            <a:ext cx="1737360" cy="329184"/>
          </a:xfrm>
          <a:prstGeom prst="rect">
            <a:avLst/>
          </a:prstGeom>
          <a:noFill/>
          <a:ln/>
        </p:spPr>
        <p:txBody>
          <a:bodyPr wrap="square" lIns="0" tIns="0" rIns="0" bIns="0" rtlCol="0" anchor="ctr"/>
          <a:lstStyle/>
          <a:p>
            <a:pPr indent="0" marL="0">
              <a:buNone/>
            </a:pPr>
            <a:r>
              <a:rPr lang="en-US" sz="1300" b="1" dirty="0">
                <a:solidFill>
                  <a:schemeClr val="tx1"/>
                </a:solidFill>
              </a:rPr>
              <a:t>Teacher dashboard</a:t>
            </a:r>
            <a:endParaRPr lang="en-US" sz="1300" dirty="0"/>
          </a:p>
        </p:txBody>
      </p:sp>
      <p:sp>
        <p:nvSpPr>
          <p:cNvPr id="13" name="Live pill"/>
          <p:cNvSpPr/>
          <p:nvPr/>
        </p:nvSpPr>
        <p:spPr>
          <a:xfrm>
            <a:off x="5989320" y="1819656"/>
            <a:ext cx="566928" cy="219456"/>
          </a:xfrm>
          <a:prstGeom prst="roundRect">
            <a:avLst>
              <a:gd name="adj" fmla="val 50000"/>
            </a:avLst>
          </a:prstGeom>
          <a:solidFill>
            <a:schemeClr val="accent2"/>
          </a:solidFill>
          <a:ln w="12700">
            <a:solidFill>
              <a:schemeClr val="bg1"/>
            </a:solidFill>
            <a:prstDash val="solid"/>
          </a:ln>
        </p:spPr>
      </p:sp>
      <p:sp>
        <p:nvSpPr>
          <p:cNvPr id="14" name="Text 12"/>
          <p:cNvSpPr txBox="1"/>
          <p:nvPr/>
        </p:nvSpPr>
        <p:spPr>
          <a:xfrm>
            <a:off x="5989320" y="1819656"/>
            <a:ext cx="566928" cy="219456"/>
          </a:xfrm>
          <a:prstGeom prst="rect">
            <a:avLst/>
          </a:prstGeom>
          <a:noFill/>
          <a:ln/>
        </p:spPr>
        <p:txBody>
          <a:bodyPr wrap="square" lIns="0" tIns="0" rIns="0" bIns="0" rtlCol="0" anchor="ctr"/>
          <a:lstStyle/>
          <a:p>
            <a:pPr algn="ctr" indent="0" marL="0">
              <a:buNone/>
            </a:pPr>
            <a:r>
              <a:rPr lang="en-US" sz="1000" b="1" dirty="0">
                <a:solidFill>
                  <a:schemeClr val="bg1"/>
                </a:solidFill>
              </a:rPr>
              <a:t>● LIVE</a:t>
            </a:r>
            <a:endParaRPr lang="en-US" sz="1000" dirty="0"/>
          </a:p>
        </p:txBody>
      </p:sp>
      <p:sp>
        <p:nvSpPr>
          <p:cNvPr id="15" name="Text 13"/>
          <p:cNvSpPr txBox="1"/>
          <p:nvPr/>
        </p:nvSpPr>
        <p:spPr>
          <a:xfrm>
            <a:off x="6647688" y="1764792"/>
            <a:ext cx="1280160" cy="329184"/>
          </a:xfrm>
          <a:prstGeom prst="rect">
            <a:avLst/>
          </a:prstGeom>
          <a:noFill/>
          <a:ln/>
        </p:spPr>
        <p:txBody>
          <a:bodyPr wrap="square" lIns="0" tIns="0" rIns="0" bIns="0" rtlCol="0" anchor="ctr"/>
          <a:lstStyle/>
          <a:p>
            <a:pPr indent="0" marL="0">
              <a:buNone/>
            </a:pPr>
            <a:r>
              <a:rPr lang="en-US" sz="1100" dirty="0">
                <a:solidFill>
                  <a:schemeClr val="tx2"/>
                </a:solidFill>
              </a:rPr>
              <a:t>1,284 students</a:t>
            </a:r>
            <a:endParaRPr lang="en-US" sz="1100" dirty="0"/>
          </a:p>
        </p:txBody>
      </p:sp>
      <p:sp>
        <p:nvSpPr>
          <p:cNvPr id="16" name="Step 1 dot"/>
          <p:cNvSpPr/>
          <p:nvPr/>
        </p:nvSpPr>
        <p:spPr>
          <a:xfrm>
            <a:off x="8001000" y="1810512"/>
            <a:ext cx="246888" cy="246888"/>
          </a:xfrm>
          <a:prstGeom prst="ellipse">
            <a:avLst/>
          </a:prstGeom>
          <a:solidFill>
            <a:schemeClr val="accent1">
              <a:alpha val="20000"/>
            </a:schemeClr>
          </a:solidFill>
          <a:ln w="12700">
            <a:solidFill>
              <a:schemeClr val="accent1"/>
            </a:solidFill>
            <a:prstDash val="solid"/>
          </a:ln>
        </p:spPr>
      </p:sp>
      <p:sp>
        <p:nvSpPr>
          <p:cNvPr id="17" name="Text 15"/>
          <p:cNvSpPr txBox="1"/>
          <p:nvPr/>
        </p:nvSpPr>
        <p:spPr>
          <a:xfrm>
            <a:off x="8001000" y="1810512"/>
            <a:ext cx="246888" cy="246888"/>
          </a:xfrm>
          <a:prstGeom prst="rect">
            <a:avLst/>
          </a:prstGeom>
          <a:noFill/>
          <a:ln/>
        </p:spPr>
        <p:txBody>
          <a:bodyPr wrap="square" lIns="0" tIns="0" rIns="0" bIns="0" rtlCol="0" anchor="ctr"/>
          <a:lstStyle/>
          <a:p>
            <a:pPr algn="ctr" indent="0" marL="0">
              <a:buNone/>
            </a:pPr>
            <a:r>
              <a:rPr lang="en-US" sz="1000" b="1" dirty="0">
                <a:solidFill>
                  <a:schemeClr val="accent1"/>
                </a:solidFill>
              </a:rPr>
              <a:t>1</a:t>
            </a:r>
            <a:endParaRPr lang="en-US" sz="1000" dirty="0"/>
          </a:p>
        </p:txBody>
      </p:sp>
      <p:sp>
        <p:nvSpPr>
          <p:cNvPr id="18" name="Step 2 dot"/>
          <p:cNvSpPr/>
          <p:nvPr/>
        </p:nvSpPr>
        <p:spPr>
          <a:xfrm>
            <a:off x="8330184" y="1810512"/>
            <a:ext cx="246888" cy="246888"/>
          </a:xfrm>
          <a:prstGeom prst="ellipse">
            <a:avLst/>
          </a:prstGeom>
          <a:solidFill>
            <a:schemeClr val="accent1">
              <a:alpha val="20000"/>
            </a:schemeClr>
          </a:solidFill>
          <a:ln w="12700">
            <a:solidFill>
              <a:schemeClr val="accent1"/>
            </a:solidFill>
            <a:prstDash val="solid"/>
          </a:ln>
        </p:spPr>
      </p:sp>
      <p:sp>
        <p:nvSpPr>
          <p:cNvPr id="19" name="Text 17"/>
          <p:cNvSpPr txBox="1"/>
          <p:nvPr/>
        </p:nvSpPr>
        <p:spPr>
          <a:xfrm>
            <a:off x="8330184" y="1810512"/>
            <a:ext cx="246888" cy="246888"/>
          </a:xfrm>
          <a:prstGeom prst="rect">
            <a:avLst/>
          </a:prstGeom>
          <a:noFill/>
          <a:ln/>
        </p:spPr>
        <p:txBody>
          <a:bodyPr wrap="square" lIns="0" tIns="0" rIns="0" bIns="0" rtlCol="0" anchor="ctr"/>
          <a:lstStyle/>
          <a:p>
            <a:pPr algn="ctr" indent="0" marL="0">
              <a:buNone/>
            </a:pPr>
            <a:r>
              <a:rPr lang="en-US" sz="1000" b="1" dirty="0">
                <a:solidFill>
                  <a:schemeClr val="accent1"/>
                </a:solidFill>
              </a:rPr>
              <a:t>2</a:t>
            </a:r>
            <a:endParaRPr lang="en-US" sz="1000" dirty="0"/>
          </a:p>
        </p:txBody>
      </p:sp>
      <p:sp>
        <p:nvSpPr>
          <p:cNvPr id="20" name="Step 3 dot"/>
          <p:cNvSpPr/>
          <p:nvPr/>
        </p:nvSpPr>
        <p:spPr>
          <a:xfrm>
            <a:off x="8659368" y="1810512"/>
            <a:ext cx="246888" cy="246888"/>
          </a:xfrm>
          <a:prstGeom prst="ellipse">
            <a:avLst/>
          </a:prstGeom>
          <a:solidFill>
            <a:schemeClr val="accent1">
              <a:alpha val="20000"/>
            </a:schemeClr>
          </a:solidFill>
          <a:ln w="12700">
            <a:solidFill>
              <a:schemeClr val="accent1"/>
            </a:solidFill>
            <a:prstDash val="solid"/>
          </a:ln>
        </p:spPr>
      </p:sp>
      <p:sp>
        <p:nvSpPr>
          <p:cNvPr id="21" name="Text 19"/>
          <p:cNvSpPr txBox="1"/>
          <p:nvPr/>
        </p:nvSpPr>
        <p:spPr>
          <a:xfrm>
            <a:off x="8659368" y="1810512"/>
            <a:ext cx="246888" cy="246888"/>
          </a:xfrm>
          <a:prstGeom prst="rect">
            <a:avLst/>
          </a:prstGeom>
          <a:noFill/>
          <a:ln/>
        </p:spPr>
        <p:txBody>
          <a:bodyPr wrap="square" lIns="0" tIns="0" rIns="0" bIns="0" rtlCol="0" anchor="ctr"/>
          <a:lstStyle/>
          <a:p>
            <a:pPr algn="ctr" indent="0" marL="0">
              <a:buNone/>
            </a:pPr>
            <a:r>
              <a:rPr lang="en-US" sz="1000" b="1" dirty="0">
                <a:solidFill>
                  <a:schemeClr val="accent1"/>
                </a:solidFill>
              </a:rPr>
              <a:t>3</a:t>
            </a:r>
            <a:endParaRPr lang="en-US" sz="1000" dirty="0"/>
          </a:p>
        </p:txBody>
      </p:sp>
      <p:sp>
        <p:nvSpPr>
          <p:cNvPr id="22" name="Step 4 dot"/>
          <p:cNvSpPr/>
          <p:nvPr/>
        </p:nvSpPr>
        <p:spPr>
          <a:xfrm>
            <a:off x="8988552" y="1810512"/>
            <a:ext cx="246888" cy="246888"/>
          </a:xfrm>
          <a:prstGeom prst="ellipse">
            <a:avLst/>
          </a:prstGeom>
          <a:solidFill>
            <a:schemeClr val="accent1">
              <a:alpha val="20000"/>
            </a:schemeClr>
          </a:solidFill>
          <a:ln w="12700">
            <a:solidFill>
              <a:schemeClr val="accent1"/>
            </a:solidFill>
            <a:prstDash val="solid"/>
          </a:ln>
        </p:spPr>
      </p:sp>
      <p:sp>
        <p:nvSpPr>
          <p:cNvPr id="23" name="Text 21"/>
          <p:cNvSpPr txBox="1"/>
          <p:nvPr/>
        </p:nvSpPr>
        <p:spPr>
          <a:xfrm>
            <a:off x="8988552" y="1810512"/>
            <a:ext cx="246888" cy="246888"/>
          </a:xfrm>
          <a:prstGeom prst="rect">
            <a:avLst/>
          </a:prstGeom>
          <a:noFill/>
          <a:ln/>
        </p:spPr>
        <p:txBody>
          <a:bodyPr wrap="square" lIns="0" tIns="0" rIns="0" bIns="0" rtlCol="0" anchor="ctr"/>
          <a:lstStyle/>
          <a:p>
            <a:pPr algn="ctr" indent="0" marL="0">
              <a:buNone/>
            </a:pPr>
            <a:r>
              <a:rPr lang="en-US" sz="1000" b="1" dirty="0">
                <a:solidFill>
                  <a:schemeClr val="accent1"/>
                </a:solidFill>
              </a:rPr>
              <a:t>4</a:t>
            </a:r>
            <a:endParaRPr lang="en-US" sz="1000" dirty="0"/>
          </a:p>
        </p:txBody>
      </p:sp>
      <p:sp>
        <p:nvSpPr>
          <p:cNvPr id="24" name="Step 5 dot"/>
          <p:cNvSpPr/>
          <p:nvPr/>
        </p:nvSpPr>
        <p:spPr>
          <a:xfrm>
            <a:off x="9317736" y="1810512"/>
            <a:ext cx="246888" cy="246888"/>
          </a:xfrm>
          <a:prstGeom prst="ellipse">
            <a:avLst/>
          </a:prstGeom>
          <a:solidFill>
            <a:schemeClr val="accent1"/>
          </a:solidFill>
          <a:ln w="12700">
            <a:solidFill>
              <a:schemeClr val="accent1"/>
            </a:solidFill>
            <a:prstDash val="solid"/>
          </a:ln>
        </p:spPr>
      </p:sp>
      <p:sp>
        <p:nvSpPr>
          <p:cNvPr id="25" name="Text 23"/>
          <p:cNvSpPr txBox="1"/>
          <p:nvPr/>
        </p:nvSpPr>
        <p:spPr>
          <a:xfrm>
            <a:off x="9317736" y="1810512"/>
            <a:ext cx="246888" cy="246888"/>
          </a:xfrm>
          <a:prstGeom prst="rect">
            <a:avLst/>
          </a:prstGeom>
          <a:noFill/>
          <a:ln/>
        </p:spPr>
        <p:txBody>
          <a:bodyPr wrap="square" lIns="0" tIns="0" rIns="0" bIns="0" rtlCol="0" anchor="ctr"/>
          <a:lstStyle/>
          <a:p>
            <a:pPr algn="ctr" indent="0" marL="0">
              <a:buNone/>
            </a:pPr>
            <a:r>
              <a:rPr lang="en-US" sz="1000" b="1" dirty="0">
                <a:solidFill>
                  <a:schemeClr val="bg1"/>
                </a:solidFill>
              </a:rPr>
              <a:t>5</a:t>
            </a:r>
            <a:endParaRPr lang="en-US" sz="1000" dirty="0"/>
          </a:p>
        </p:txBody>
      </p:sp>
      <p:sp>
        <p:nvSpPr>
          <p:cNvPr id="26" name="Step 6 dot"/>
          <p:cNvSpPr/>
          <p:nvPr/>
        </p:nvSpPr>
        <p:spPr>
          <a:xfrm>
            <a:off x="9646920" y="1810512"/>
            <a:ext cx="246888" cy="246888"/>
          </a:xfrm>
          <a:prstGeom prst="ellipse">
            <a:avLst/>
          </a:prstGeom>
          <a:solidFill>
            <a:schemeClr val="bg1"/>
          </a:solidFill>
          <a:ln w="12700">
            <a:solidFill>
              <a:schemeClr val="accent1"/>
            </a:solidFill>
            <a:prstDash val="solid"/>
          </a:ln>
        </p:spPr>
      </p:sp>
      <p:sp>
        <p:nvSpPr>
          <p:cNvPr id="27" name="Text 25"/>
          <p:cNvSpPr txBox="1"/>
          <p:nvPr/>
        </p:nvSpPr>
        <p:spPr>
          <a:xfrm>
            <a:off x="9646920" y="1810512"/>
            <a:ext cx="246888" cy="246888"/>
          </a:xfrm>
          <a:prstGeom prst="rect">
            <a:avLst/>
          </a:prstGeom>
          <a:noFill/>
          <a:ln/>
        </p:spPr>
        <p:txBody>
          <a:bodyPr wrap="square" lIns="0" tIns="0" rIns="0" bIns="0" rtlCol="0" anchor="ctr"/>
          <a:lstStyle/>
          <a:p>
            <a:pPr algn="ctr" indent="0" marL="0">
              <a:buNone/>
            </a:pPr>
            <a:r>
              <a:rPr lang="en-US" sz="1000" b="1" dirty="0">
                <a:solidFill>
                  <a:schemeClr val="accent1"/>
                </a:solidFill>
              </a:rPr>
              <a:t>6</a:t>
            </a:r>
            <a:endParaRPr lang="en-US" sz="1000" dirty="0"/>
          </a:p>
        </p:txBody>
      </p:sp>
      <p:sp>
        <p:nvSpPr>
          <p:cNvPr id="28" name="Next step button"/>
          <p:cNvSpPr/>
          <p:nvPr/>
        </p:nvSpPr>
        <p:spPr>
          <a:xfrm>
            <a:off x="10104120" y="1783080"/>
            <a:ext cx="1463040" cy="310896"/>
          </a:xfrm>
          <a:prstGeom prst="roundRect">
            <a:avLst>
              <a:gd name="adj" fmla="val 50000"/>
            </a:avLst>
          </a:prstGeom>
          <a:solidFill>
            <a:schemeClr val="accent1"/>
          </a:solidFill>
          <a:ln w="12700">
            <a:solidFill>
              <a:schemeClr val="bg1"/>
            </a:solidFill>
            <a:prstDash val="solid"/>
          </a:ln>
        </p:spPr>
      </p:sp>
      <p:sp>
        <p:nvSpPr>
          <p:cNvPr id="29" name="Text 27"/>
          <p:cNvSpPr txBox="1"/>
          <p:nvPr/>
        </p:nvSpPr>
        <p:spPr>
          <a:xfrm>
            <a:off x="10104120" y="1783080"/>
            <a:ext cx="1463040" cy="310896"/>
          </a:xfrm>
          <a:prstGeom prst="rect">
            <a:avLst/>
          </a:prstGeom>
          <a:noFill/>
          <a:ln/>
        </p:spPr>
        <p:txBody>
          <a:bodyPr wrap="square" lIns="0" tIns="0" rIns="0" bIns="0" rtlCol="0" anchor="ctr"/>
          <a:lstStyle/>
          <a:p>
            <a:pPr algn="ctr" indent="0" marL="0">
              <a:buNone/>
            </a:pPr>
            <a:r>
              <a:rPr lang="en-US" sz="1100" b="1" dirty="0">
                <a:solidFill>
                  <a:schemeClr val="bg1"/>
                </a:solidFill>
              </a:rPr>
              <a:t>Next step →</a:t>
            </a:r>
            <a:endParaRPr lang="en-US" sz="1100" dirty="0"/>
          </a:p>
        </p:txBody>
      </p:sp>
      <p:sp>
        <p:nvSpPr>
          <p:cNvPr id="30" name="Header divider"/>
          <p:cNvSpPr/>
          <p:nvPr/>
        </p:nvSpPr>
        <p:spPr>
          <a:xfrm>
            <a:off x="4206240" y="2240280"/>
            <a:ext cx="7406640" cy="0"/>
          </a:xfrm>
          <a:prstGeom prst="line">
            <a:avLst/>
          </a:prstGeom>
          <a:noFill/>
          <a:ln w="19050">
            <a:solidFill>
              <a:schemeClr val="bg2"/>
            </a:solidFill>
            <a:prstDash val="solid"/>
          </a:ln>
        </p:spPr>
      </p:sp>
      <p:sp>
        <p:nvSpPr>
          <p:cNvPr id="31" name="Text 29"/>
          <p:cNvSpPr txBox="1"/>
          <p:nvPr/>
        </p:nvSpPr>
        <p:spPr>
          <a:xfrm>
            <a:off x="932688" y="2240280"/>
            <a:ext cx="1645920" cy="274320"/>
          </a:xfrm>
          <a:prstGeom prst="rect">
            <a:avLst/>
          </a:prstGeom>
          <a:noFill/>
          <a:ln/>
        </p:spPr>
        <p:txBody>
          <a:bodyPr wrap="square" lIns="0" tIns="0" rIns="0" bIns="0" rtlCol="0" anchor="t"/>
          <a:lstStyle/>
          <a:p>
            <a:pPr indent="0" marL="0">
              <a:buNone/>
            </a:pPr>
            <a:r>
              <a:rPr lang="en-US" sz="1300" b="1" dirty="0">
                <a:solidFill>
                  <a:schemeClr val="tx1"/>
                </a:solidFill>
              </a:rPr>
              <a:t>Your body paragraph</a:t>
            </a:r>
            <a:endParaRPr lang="en-US" sz="1300" dirty="0"/>
          </a:p>
        </p:txBody>
      </p:sp>
      <p:sp>
        <p:nvSpPr>
          <p:cNvPr id="32" name="Text 30"/>
          <p:cNvSpPr txBox="1"/>
          <p:nvPr/>
        </p:nvSpPr>
        <p:spPr>
          <a:xfrm>
            <a:off x="2450592" y="2240280"/>
            <a:ext cx="822960" cy="274320"/>
          </a:xfrm>
          <a:prstGeom prst="rect">
            <a:avLst/>
          </a:prstGeom>
          <a:noFill/>
          <a:ln/>
        </p:spPr>
        <p:txBody>
          <a:bodyPr wrap="square" lIns="0" tIns="0" rIns="0" bIns="0" rtlCol="0" anchor="ctr"/>
          <a:lstStyle/>
          <a:p>
            <a:pPr algn="r" indent="0" marL="0">
              <a:buNone/>
            </a:pPr>
            <a:r>
              <a:rPr lang="en-US" sz="1000" dirty="0">
                <a:solidFill>
                  <a:schemeClr val="tx2"/>
                </a:solidFill>
              </a:rPr>
              <a:t>58 words</a:t>
            </a:r>
            <a:endParaRPr lang="en-US" sz="1000" dirty="0"/>
          </a:p>
        </p:txBody>
      </p:sp>
      <p:sp>
        <p:nvSpPr>
          <p:cNvPr id="33" name="Shape 31"/>
          <p:cNvSpPr/>
          <p:nvPr/>
        </p:nvSpPr>
        <p:spPr>
          <a:xfrm>
            <a:off x="932688" y="2578608"/>
            <a:ext cx="2340864" cy="1783080"/>
          </a:xfrm>
          <a:prstGeom prst="roundRect">
            <a:avLst>
              <a:gd name="adj" fmla="val 4103"/>
            </a:avLst>
          </a:prstGeom>
          <a:solidFill>
            <a:schemeClr val="bg1"/>
          </a:solidFill>
          <a:ln w="12700">
            <a:solidFill>
              <a:schemeClr val="accent5"/>
            </a:solidFill>
            <a:prstDash val="solid"/>
          </a:ln>
        </p:spPr>
      </p:sp>
      <p:sp>
        <p:nvSpPr>
          <p:cNvPr id="34" name="Text 32"/>
          <p:cNvSpPr txBox="1"/>
          <p:nvPr/>
        </p:nvSpPr>
        <p:spPr>
          <a:xfrm>
            <a:off x="1005840" y="2670048"/>
            <a:ext cx="2194560" cy="1636776"/>
          </a:xfrm>
          <a:prstGeom prst="rect">
            <a:avLst/>
          </a:prstGeom>
          <a:noFill/>
          <a:ln/>
        </p:spPr>
        <p:txBody>
          <a:bodyPr wrap="square" lIns="0" tIns="0" rIns="0" bIns="0" rtlCol="0" anchor="t"/>
          <a:lstStyle/>
          <a:p>
            <a:pPr indent="0" marL="0">
              <a:buNone/>
            </a:pPr>
            <a:r>
              <a:rPr lang="en-US" sz="1000" dirty="0">
                <a:solidFill>
                  <a:schemeClr val="tx1"/>
                </a:solidFill>
              </a:rPr>
              <a:t>I am personally in favor of studying all subjects because it brings about many significant benefits. Firstly, it helps students become more well-rounded. </a:t>
            </a:r>
            <a:pPr indent="0" marL="0">
              <a:buNone/>
            </a:pPr>
            <a:r>
              <a:rPr lang="en-US" sz="1000" b="1" dirty="0">
                <a:solidFill>
                  <a:schemeClr val="tx1"/>
                </a:solidFill>
                <a:highlight>
                  <a:srgbClr val="E39A12"/>
                </a:highlight>
              </a:rPr>
              <a:t>This is because they become well-rounded.</a:t>
            </a:r>
            <a:pPr indent="0" marL="0">
              <a:buNone/>
            </a:pPr>
            <a:r>
              <a:rPr lang="en-US" sz="1000" dirty="0">
                <a:solidFill>
                  <a:schemeClr val="tx1"/>
                </a:solidFill>
              </a:rPr>
              <a:t> As a result, they can adapt to many jobs.</a:t>
            </a:r>
            <a:endParaRPr lang="en-US" sz="1000" dirty="0"/>
          </a:p>
        </p:txBody>
      </p:sp>
      <p:sp>
        <p:nvSpPr>
          <p:cNvPr id="35" name="Tutor bubble"/>
          <p:cNvSpPr/>
          <p:nvPr/>
        </p:nvSpPr>
        <p:spPr>
          <a:xfrm>
            <a:off x="932688" y="4480560"/>
            <a:ext cx="2340864" cy="1188720"/>
          </a:xfrm>
          <a:prstGeom prst="roundRect">
            <a:avLst>
              <a:gd name="adj" fmla="val 6154"/>
            </a:avLst>
          </a:prstGeom>
          <a:solidFill>
            <a:schemeClr val="accent1">
              <a:alpha val="10000"/>
            </a:schemeClr>
          </a:solidFill>
          <a:ln w="12700">
            <a:solidFill>
              <a:schemeClr val="bg1"/>
            </a:solidFill>
            <a:prstDash val="solid"/>
          </a:ln>
        </p:spPr>
      </p:sp>
      <p:sp>
        <p:nvSpPr>
          <p:cNvPr id="36" name="Text 34"/>
          <p:cNvSpPr txBox="1"/>
          <p:nvPr/>
        </p:nvSpPr>
        <p:spPr>
          <a:xfrm>
            <a:off x="1024128" y="4553712"/>
            <a:ext cx="2157984" cy="201168"/>
          </a:xfrm>
          <a:prstGeom prst="rect">
            <a:avLst/>
          </a:prstGeom>
          <a:noFill/>
          <a:ln/>
        </p:spPr>
        <p:txBody>
          <a:bodyPr wrap="square" lIns="0" tIns="0" rIns="0" bIns="0" rtlCol="0" anchor="t"/>
          <a:lstStyle/>
          <a:p>
            <a:pPr indent="0" marL="0">
              <a:buNone/>
            </a:pPr>
            <a:r>
              <a:rPr lang="en-US" sz="1000" b="1" dirty="0">
                <a:solidFill>
                  <a:schemeClr val="accent1"/>
                </a:solidFill>
              </a:rPr>
              <a:t>Tutor · 1 thing at a time</a:t>
            </a:r>
            <a:endParaRPr lang="en-US" sz="1000" dirty="0"/>
          </a:p>
        </p:txBody>
      </p:sp>
      <p:sp>
        <p:nvSpPr>
          <p:cNvPr id="37" name="Text 35"/>
          <p:cNvSpPr txBox="1"/>
          <p:nvPr/>
        </p:nvSpPr>
        <p:spPr>
          <a:xfrm>
            <a:off x="1024128" y="4754880"/>
            <a:ext cx="2157984" cy="859536"/>
          </a:xfrm>
          <a:prstGeom prst="rect">
            <a:avLst/>
          </a:prstGeom>
          <a:noFill/>
          <a:ln/>
        </p:spPr>
        <p:txBody>
          <a:bodyPr wrap="square" lIns="0" tIns="0" rIns="0" bIns="0" rtlCol="0" anchor="t"/>
          <a:lstStyle/>
          <a:p>
            <a:pPr indent="0" marL="0">
              <a:buNone/>
            </a:pPr>
            <a:r>
              <a:rPr lang="en-US" sz="1100" dirty="0">
                <a:solidFill>
                  <a:schemeClr val="tx1"/>
                </a:solidFill>
              </a:rPr>
              <a:t>Read the highlighted sentence. Does it explain why, or say the same thing again?</a:t>
            </a:r>
            <a:endParaRPr lang="en-US" sz="1100" dirty="0"/>
          </a:p>
        </p:txBody>
      </p:sp>
      <p:sp>
        <p:nvSpPr>
          <p:cNvPr id="38" name="Confusion toggle"/>
          <p:cNvSpPr/>
          <p:nvPr/>
        </p:nvSpPr>
        <p:spPr>
          <a:xfrm>
            <a:off x="932688" y="5760720"/>
            <a:ext cx="2340864" cy="365760"/>
          </a:xfrm>
          <a:prstGeom prst="roundRect">
            <a:avLst>
              <a:gd name="adj" fmla="val 50000"/>
            </a:avLst>
          </a:prstGeom>
          <a:solidFill>
            <a:schemeClr val="bg2"/>
          </a:solidFill>
          <a:ln w="12700">
            <a:solidFill>
              <a:schemeClr val="bg1"/>
            </a:solidFill>
            <a:prstDash val="solid"/>
          </a:ln>
        </p:spPr>
      </p:sp>
      <p:sp>
        <p:nvSpPr>
          <p:cNvPr id="39" name="Toggle selected"/>
          <p:cNvSpPr/>
          <p:nvPr/>
        </p:nvSpPr>
        <p:spPr>
          <a:xfrm>
            <a:off x="932688" y="5760720"/>
            <a:ext cx="1170432" cy="365760"/>
          </a:xfrm>
          <a:prstGeom prst="roundRect">
            <a:avLst>
              <a:gd name="adj" fmla="val 50000"/>
            </a:avLst>
          </a:prstGeom>
          <a:solidFill>
            <a:schemeClr val="accent3"/>
          </a:solidFill>
          <a:ln w="12700">
            <a:solidFill>
              <a:schemeClr val="bg1"/>
            </a:solidFill>
            <a:prstDash val="solid"/>
          </a:ln>
        </p:spPr>
      </p:sp>
      <p:sp>
        <p:nvSpPr>
          <p:cNvPr id="40" name="Text 38"/>
          <p:cNvSpPr txBox="1"/>
          <p:nvPr/>
        </p:nvSpPr>
        <p:spPr>
          <a:xfrm>
            <a:off x="932688" y="5760720"/>
            <a:ext cx="1170432" cy="365760"/>
          </a:xfrm>
          <a:prstGeom prst="rect">
            <a:avLst/>
          </a:prstGeom>
          <a:noFill/>
          <a:ln/>
        </p:spPr>
        <p:txBody>
          <a:bodyPr wrap="square" lIns="0" tIns="0" rIns="0" bIns="0" rtlCol="0" anchor="ctr"/>
          <a:lstStyle/>
          <a:p>
            <a:pPr algn="ctr" indent="0" marL="0">
              <a:buNone/>
            </a:pPr>
            <a:r>
              <a:rPr lang="en-US" sz="1000" b="1" dirty="0">
                <a:solidFill>
                  <a:schemeClr val="bg1"/>
                </a:solidFill>
              </a:rPr>
              <a:t>Understand</a:t>
            </a:r>
            <a:endParaRPr lang="en-US" sz="1000" dirty="0"/>
          </a:p>
        </p:txBody>
      </p:sp>
      <p:sp>
        <p:nvSpPr>
          <p:cNvPr id="41" name="Text 39"/>
          <p:cNvSpPr txBox="1"/>
          <p:nvPr/>
        </p:nvSpPr>
        <p:spPr>
          <a:xfrm>
            <a:off x="2103120" y="5760720"/>
            <a:ext cx="1170432" cy="365760"/>
          </a:xfrm>
          <a:prstGeom prst="rect">
            <a:avLst/>
          </a:prstGeom>
          <a:noFill/>
          <a:ln/>
        </p:spPr>
        <p:txBody>
          <a:bodyPr wrap="square" lIns="0" tIns="0" rIns="0" bIns="0" rtlCol="0" anchor="ctr"/>
          <a:lstStyle/>
          <a:p>
            <a:pPr algn="ctr" indent="0" marL="0">
              <a:buNone/>
            </a:pPr>
            <a:r>
              <a:rPr lang="en-US" sz="1000" b="1" dirty="0">
                <a:solidFill>
                  <a:schemeClr val="tx2"/>
                </a:solidFill>
              </a:rPr>
              <a:t>Don't understand</a:t>
            </a:r>
            <a:endParaRPr lang="en-US" sz="1000" dirty="0"/>
          </a:p>
        </p:txBody>
      </p:sp>
      <p:sp>
        <p:nvSpPr>
          <p:cNvPr id="42" name="Text 40"/>
          <p:cNvSpPr txBox="1"/>
          <p:nvPr/>
        </p:nvSpPr>
        <p:spPr>
          <a:xfrm>
            <a:off x="4251960" y="2377440"/>
            <a:ext cx="2286000" cy="292608"/>
          </a:xfrm>
          <a:prstGeom prst="rect">
            <a:avLst/>
          </a:prstGeom>
          <a:noFill/>
          <a:ln/>
        </p:spPr>
        <p:txBody>
          <a:bodyPr wrap="square" lIns="0" tIns="0" rIns="0" bIns="0" rtlCol="0" anchor="t"/>
          <a:lstStyle/>
          <a:p>
            <a:pPr indent="0" marL="0">
              <a:buNone/>
            </a:pPr>
            <a:r>
              <a:rPr lang="en-US" sz="1500" b="1" dirty="0">
                <a:solidFill>
                  <a:schemeClr val="tx1"/>
                </a:solidFill>
              </a:rPr>
              <a:t>Paragraphs in</a:t>
            </a:r>
            <a:endParaRPr lang="en-US" sz="1500" dirty="0"/>
          </a:p>
        </p:txBody>
      </p:sp>
      <p:sp>
        <p:nvSpPr>
          <p:cNvPr id="43" name="Text 41"/>
          <p:cNvSpPr txBox="1"/>
          <p:nvPr/>
        </p:nvSpPr>
        <p:spPr>
          <a:xfrm>
            <a:off x="4251960" y="2697480"/>
            <a:ext cx="2377440" cy="548640"/>
          </a:xfrm>
          <a:prstGeom prst="rect">
            <a:avLst/>
          </a:prstGeom>
          <a:noFill/>
          <a:ln/>
        </p:spPr>
        <p:txBody>
          <a:bodyPr wrap="square" lIns="0" tIns="0" rIns="0" bIns="0" rtlCol="0" anchor="ctr"/>
          <a:lstStyle/>
          <a:p>
            <a:pPr indent="0" marL="0">
              <a:buNone/>
            </a:pPr>
            <a:r>
              <a:rPr lang="en-US" sz="3000" b="1" dirty="0">
                <a:solidFill>
                  <a:schemeClr val="accent1"/>
                </a:solidFill>
              </a:rPr>
              <a:t>903 / 1,284</a:t>
            </a:r>
            <a:endParaRPr lang="en-US" sz="3000" dirty="0"/>
          </a:p>
        </p:txBody>
      </p:sp>
      <p:sp>
        <p:nvSpPr>
          <p:cNvPr id="44" name="Progress track"/>
          <p:cNvSpPr/>
          <p:nvPr/>
        </p:nvSpPr>
        <p:spPr>
          <a:xfrm>
            <a:off x="4251960" y="3310128"/>
            <a:ext cx="2377440" cy="146304"/>
          </a:xfrm>
          <a:prstGeom prst="roundRect">
            <a:avLst>
              <a:gd name="adj" fmla="val 50000"/>
            </a:avLst>
          </a:prstGeom>
          <a:solidFill>
            <a:schemeClr val="bg2"/>
          </a:solidFill>
          <a:ln w="12700">
            <a:solidFill>
              <a:schemeClr val="bg1"/>
            </a:solidFill>
            <a:prstDash val="solid"/>
          </a:ln>
        </p:spPr>
      </p:sp>
      <p:sp>
        <p:nvSpPr>
          <p:cNvPr id="45" name="Progress fill"/>
          <p:cNvSpPr/>
          <p:nvPr/>
        </p:nvSpPr>
        <p:spPr>
          <a:xfrm>
            <a:off x="4251960" y="3310128"/>
            <a:ext cx="1671985" cy="146304"/>
          </a:xfrm>
          <a:prstGeom prst="roundRect">
            <a:avLst>
              <a:gd name="adj" fmla="val 50000"/>
            </a:avLst>
          </a:prstGeom>
          <a:solidFill>
            <a:schemeClr val="accent1"/>
          </a:solidFill>
          <a:ln w="12700">
            <a:solidFill>
              <a:schemeClr val="bg1"/>
            </a:solidFill>
            <a:prstDash val="solid"/>
          </a:ln>
        </p:spPr>
      </p:sp>
      <p:sp>
        <p:nvSpPr>
          <p:cNvPr id="46" name="Text 44"/>
          <p:cNvSpPr txBox="1"/>
          <p:nvPr/>
        </p:nvSpPr>
        <p:spPr>
          <a:xfrm>
            <a:off x="4251960" y="3657600"/>
            <a:ext cx="2377440" cy="274320"/>
          </a:xfrm>
          <a:prstGeom prst="rect">
            <a:avLst/>
          </a:prstGeom>
          <a:noFill/>
          <a:ln/>
        </p:spPr>
        <p:txBody>
          <a:bodyPr wrap="square" lIns="0" tIns="0" rIns="0" bIns="0" rtlCol="0" anchor="t"/>
          <a:lstStyle/>
          <a:p>
            <a:pPr indent="0" marL="0">
              <a:buNone/>
            </a:pPr>
            <a:r>
              <a:rPr lang="en-US" sz="1300" b="1" dirty="0">
                <a:solidFill>
                  <a:schemeClr val="tx1"/>
                </a:solidFill>
              </a:rPr>
              <a:t>Top problems</a:t>
            </a:r>
            <a:endParaRPr lang="en-US" sz="1300" dirty="0"/>
          </a:p>
        </p:txBody>
      </p:sp>
      <p:sp>
        <p:nvSpPr>
          <p:cNvPr id="47" name="Shape 45"/>
          <p:cNvSpPr/>
          <p:nvPr/>
        </p:nvSpPr>
        <p:spPr>
          <a:xfrm>
            <a:off x="4251960" y="4005072"/>
            <a:ext cx="2377440" cy="621792"/>
          </a:xfrm>
          <a:prstGeom prst="roundRect">
            <a:avLst>
              <a:gd name="adj" fmla="val 11765"/>
            </a:avLst>
          </a:prstGeom>
          <a:solidFill>
            <a:schemeClr val="bg2"/>
          </a:solidFill>
          <a:ln w="12700">
            <a:solidFill>
              <a:schemeClr val="bg1"/>
            </a:solidFill>
            <a:prstDash val="solid"/>
          </a:ln>
        </p:spPr>
      </p:sp>
      <p:sp>
        <p:nvSpPr>
          <p:cNvPr id="48" name="Text 46"/>
          <p:cNvSpPr txBox="1"/>
          <p:nvPr/>
        </p:nvSpPr>
        <p:spPr>
          <a:xfrm>
            <a:off x="4361688" y="4005072"/>
            <a:ext cx="594360" cy="621792"/>
          </a:xfrm>
          <a:prstGeom prst="rect">
            <a:avLst/>
          </a:prstGeom>
          <a:noFill/>
          <a:ln/>
        </p:spPr>
        <p:txBody>
          <a:bodyPr wrap="square" lIns="0" tIns="0" rIns="0" bIns="0" rtlCol="0" anchor="ctr"/>
          <a:lstStyle/>
          <a:p>
            <a:pPr indent="0" marL="0">
              <a:buNone/>
            </a:pPr>
            <a:r>
              <a:rPr lang="en-US" sz="1600" b="1" dirty="0">
                <a:solidFill>
                  <a:schemeClr val="accent2"/>
                </a:solidFill>
              </a:rPr>
              <a:t>24%</a:t>
            </a:r>
            <a:endParaRPr lang="en-US" sz="1600" dirty="0"/>
          </a:p>
        </p:txBody>
      </p:sp>
      <p:sp>
        <p:nvSpPr>
          <p:cNvPr id="49" name="Text 47"/>
          <p:cNvSpPr txBox="1"/>
          <p:nvPr/>
        </p:nvSpPr>
        <p:spPr>
          <a:xfrm>
            <a:off x="4956048" y="4005072"/>
            <a:ext cx="1600200" cy="621792"/>
          </a:xfrm>
          <a:prstGeom prst="rect">
            <a:avLst/>
          </a:prstGeom>
          <a:noFill/>
          <a:ln/>
        </p:spPr>
        <p:txBody>
          <a:bodyPr wrap="square" lIns="0" tIns="0" rIns="0" bIns="0" rtlCol="0" anchor="ctr"/>
          <a:lstStyle/>
          <a:p>
            <a:pPr indent="0" marL="0">
              <a:buNone/>
            </a:pPr>
            <a:r>
              <a:rPr lang="en-US" sz="1100" dirty="0">
                <a:solidFill>
                  <a:schemeClr val="tx1"/>
                </a:solidFill>
              </a:rPr>
              <a:t>Circular explanation</a:t>
            </a:r>
            <a:endParaRPr lang="en-US" sz="1100" dirty="0"/>
          </a:p>
        </p:txBody>
      </p:sp>
      <p:sp>
        <p:nvSpPr>
          <p:cNvPr id="50" name="Shape 48"/>
          <p:cNvSpPr/>
          <p:nvPr/>
        </p:nvSpPr>
        <p:spPr>
          <a:xfrm>
            <a:off x="4251960" y="4736592"/>
            <a:ext cx="2377440" cy="621792"/>
          </a:xfrm>
          <a:prstGeom prst="roundRect">
            <a:avLst>
              <a:gd name="adj" fmla="val 11765"/>
            </a:avLst>
          </a:prstGeom>
          <a:solidFill>
            <a:schemeClr val="bg2"/>
          </a:solidFill>
          <a:ln w="12700">
            <a:solidFill>
              <a:schemeClr val="bg1"/>
            </a:solidFill>
            <a:prstDash val="solid"/>
          </a:ln>
        </p:spPr>
      </p:sp>
      <p:sp>
        <p:nvSpPr>
          <p:cNvPr id="51" name="Text 49"/>
          <p:cNvSpPr txBox="1"/>
          <p:nvPr/>
        </p:nvSpPr>
        <p:spPr>
          <a:xfrm>
            <a:off x="4361688" y="4736592"/>
            <a:ext cx="594360" cy="621792"/>
          </a:xfrm>
          <a:prstGeom prst="rect">
            <a:avLst/>
          </a:prstGeom>
          <a:noFill/>
          <a:ln/>
        </p:spPr>
        <p:txBody>
          <a:bodyPr wrap="square" lIns="0" tIns="0" rIns="0" bIns="0" rtlCol="0" anchor="ctr"/>
          <a:lstStyle/>
          <a:p>
            <a:pPr indent="0" marL="0">
              <a:buNone/>
            </a:pPr>
            <a:r>
              <a:rPr lang="en-US" sz="1600" b="1" dirty="0">
                <a:solidFill>
                  <a:schemeClr val="accent2"/>
                </a:solidFill>
              </a:rPr>
              <a:t>19%</a:t>
            </a:r>
            <a:endParaRPr lang="en-US" sz="1600" dirty="0"/>
          </a:p>
        </p:txBody>
      </p:sp>
      <p:sp>
        <p:nvSpPr>
          <p:cNvPr id="52" name="Text 50"/>
          <p:cNvSpPr txBox="1"/>
          <p:nvPr/>
        </p:nvSpPr>
        <p:spPr>
          <a:xfrm>
            <a:off x="4956048" y="4736592"/>
            <a:ext cx="1600200" cy="621792"/>
          </a:xfrm>
          <a:prstGeom prst="rect">
            <a:avLst/>
          </a:prstGeom>
          <a:noFill/>
          <a:ln/>
        </p:spPr>
        <p:txBody>
          <a:bodyPr wrap="square" lIns="0" tIns="0" rIns="0" bIns="0" rtlCol="0" anchor="ctr"/>
          <a:lstStyle/>
          <a:p>
            <a:pPr indent="0" marL="0">
              <a:buNone/>
            </a:pPr>
            <a:r>
              <a:rPr lang="en-US" sz="1100" dirty="0">
                <a:solidFill>
                  <a:schemeClr val="tx1"/>
                </a:solidFill>
              </a:rPr>
              <a:t>Idea not linked to impact</a:t>
            </a:r>
            <a:endParaRPr lang="en-US" sz="1100" dirty="0"/>
          </a:p>
        </p:txBody>
      </p:sp>
      <p:sp>
        <p:nvSpPr>
          <p:cNvPr id="53" name="Shape 51"/>
          <p:cNvSpPr/>
          <p:nvPr/>
        </p:nvSpPr>
        <p:spPr>
          <a:xfrm>
            <a:off x="4251960" y="5468112"/>
            <a:ext cx="2377440" cy="621792"/>
          </a:xfrm>
          <a:prstGeom prst="roundRect">
            <a:avLst>
              <a:gd name="adj" fmla="val 11765"/>
            </a:avLst>
          </a:prstGeom>
          <a:solidFill>
            <a:schemeClr val="bg2"/>
          </a:solidFill>
          <a:ln w="12700">
            <a:solidFill>
              <a:schemeClr val="bg1"/>
            </a:solidFill>
            <a:prstDash val="solid"/>
          </a:ln>
        </p:spPr>
      </p:sp>
      <p:sp>
        <p:nvSpPr>
          <p:cNvPr id="54" name="Text 52"/>
          <p:cNvSpPr txBox="1"/>
          <p:nvPr/>
        </p:nvSpPr>
        <p:spPr>
          <a:xfrm>
            <a:off x="4361688" y="5468112"/>
            <a:ext cx="594360" cy="621792"/>
          </a:xfrm>
          <a:prstGeom prst="rect">
            <a:avLst/>
          </a:prstGeom>
          <a:noFill/>
          <a:ln/>
        </p:spPr>
        <p:txBody>
          <a:bodyPr wrap="square" lIns="0" tIns="0" rIns="0" bIns="0" rtlCol="0" anchor="ctr"/>
          <a:lstStyle/>
          <a:p>
            <a:pPr indent="0" marL="0">
              <a:buNone/>
            </a:pPr>
            <a:r>
              <a:rPr lang="en-US" sz="1600" b="1" dirty="0">
                <a:solidFill>
                  <a:schemeClr val="accent2"/>
                </a:solidFill>
              </a:rPr>
              <a:t>8%</a:t>
            </a:r>
            <a:endParaRPr lang="en-US" sz="1600" dirty="0"/>
          </a:p>
        </p:txBody>
      </p:sp>
      <p:sp>
        <p:nvSpPr>
          <p:cNvPr id="55" name="Text 53"/>
          <p:cNvSpPr txBox="1"/>
          <p:nvPr/>
        </p:nvSpPr>
        <p:spPr>
          <a:xfrm>
            <a:off x="4956048" y="5468112"/>
            <a:ext cx="1600200" cy="621792"/>
          </a:xfrm>
          <a:prstGeom prst="rect">
            <a:avLst/>
          </a:prstGeom>
          <a:noFill/>
          <a:ln/>
        </p:spPr>
        <p:txBody>
          <a:bodyPr wrap="square" lIns="0" tIns="0" rIns="0" bIns="0" rtlCol="0" anchor="ctr"/>
          <a:lstStyle/>
          <a:p>
            <a:pPr indent="0" marL="0">
              <a:buNone/>
            </a:pPr>
            <a:r>
              <a:rPr lang="en-US" sz="1100" dirty="0">
                <a:solidFill>
                  <a:schemeClr val="tx1"/>
                </a:solidFill>
              </a:rPr>
              <a:t>“in favor of study” is back</a:t>
            </a:r>
            <a:endParaRPr lang="en-US" sz="1100" dirty="0"/>
          </a:p>
        </p:txBody>
      </p:sp>
      <p:sp>
        <p:nvSpPr>
          <p:cNvPr id="56" name="Shape 54"/>
          <p:cNvSpPr/>
          <p:nvPr/>
        </p:nvSpPr>
        <p:spPr>
          <a:xfrm>
            <a:off x="6812280" y="2377440"/>
            <a:ext cx="2880360" cy="3840480"/>
          </a:xfrm>
          <a:prstGeom prst="roundRect">
            <a:avLst>
              <a:gd name="adj" fmla="val 2540"/>
            </a:avLst>
          </a:prstGeom>
          <a:solidFill>
            <a:schemeClr val="accent3">
              <a:alpha val="10000"/>
            </a:schemeClr>
          </a:solidFill>
          <a:ln w="12700">
            <a:solidFill>
              <a:schemeClr val="bg1"/>
            </a:solidFill>
            <a:prstDash val="solid"/>
          </a:ln>
        </p:spPr>
      </p:sp>
      <p:sp>
        <p:nvSpPr>
          <p:cNvPr id="57" name="Text 55"/>
          <p:cNvSpPr txBox="1"/>
          <p:nvPr/>
        </p:nvSpPr>
        <p:spPr>
          <a:xfrm>
            <a:off x="6949440" y="2487168"/>
            <a:ext cx="2606040" cy="228600"/>
          </a:xfrm>
          <a:prstGeom prst="rect">
            <a:avLst/>
          </a:prstGeom>
          <a:noFill/>
          <a:ln/>
        </p:spPr>
        <p:txBody>
          <a:bodyPr wrap="square" lIns="0" tIns="0" rIns="0" bIns="0" rtlCol="0" anchor="t"/>
          <a:lstStyle/>
          <a:p>
            <a:pPr indent="0" marL="0">
              <a:buNone/>
            </a:pPr>
            <a:r>
              <a:rPr lang="en-US" sz="1000" b="1" spc="100" kern="0" dirty="0">
                <a:solidFill>
                  <a:schemeClr val="accent3"/>
                </a:solidFill>
              </a:rPr>
              <a:t>STRONG PARAGRAPH</a:t>
            </a:r>
            <a:endParaRPr lang="en-US" sz="1000" dirty="0"/>
          </a:p>
        </p:txBody>
      </p:sp>
      <p:sp>
        <p:nvSpPr>
          <p:cNvPr id="58" name="Text 56"/>
          <p:cNvSpPr txBox="1"/>
          <p:nvPr/>
        </p:nvSpPr>
        <p:spPr>
          <a:xfrm>
            <a:off x="6949440" y="2724912"/>
            <a:ext cx="2606040" cy="228600"/>
          </a:xfrm>
          <a:prstGeom prst="rect">
            <a:avLst/>
          </a:prstGeom>
          <a:noFill/>
          <a:ln/>
        </p:spPr>
        <p:txBody>
          <a:bodyPr wrap="square" lIns="0" tIns="0" rIns="0" bIns="0" rtlCol="0" anchor="t"/>
          <a:lstStyle/>
          <a:p>
            <a:pPr indent="0" marL="0">
              <a:buNone/>
            </a:pPr>
            <a:r>
              <a:rPr lang="en-US" sz="1000" dirty="0">
                <a:solidFill>
                  <a:schemeClr val="tx2"/>
                </a:solidFill>
              </a:rPr>
              <a:t>Student #0417 · anonymous</a:t>
            </a:r>
            <a:endParaRPr lang="en-US" sz="1000" dirty="0"/>
          </a:p>
        </p:txBody>
      </p:sp>
      <p:sp>
        <p:nvSpPr>
          <p:cNvPr id="59" name="Text 57"/>
          <p:cNvSpPr txBox="1"/>
          <p:nvPr/>
        </p:nvSpPr>
        <p:spPr>
          <a:xfrm>
            <a:off x="6949440" y="3017520"/>
            <a:ext cx="2606040" cy="2377440"/>
          </a:xfrm>
          <a:prstGeom prst="rect">
            <a:avLst/>
          </a:prstGeom>
          <a:noFill/>
          <a:ln/>
        </p:spPr>
        <p:txBody>
          <a:bodyPr wrap="square" lIns="0" tIns="0" rIns="0" bIns="0" rtlCol="0" anchor="t"/>
          <a:lstStyle/>
          <a:p>
            <a:pPr indent="0" marL="0">
              <a:buNone/>
            </a:pPr>
            <a:r>
              <a:rPr lang="en-US" sz="1200" i="1" dirty="0">
                <a:solidFill>
                  <a:schemeClr val="tx1"/>
                </a:solidFill>
              </a:rPr>
              <a:t>“…Firstly, studying all subjects lets children discover talents they never knew they had. A child who is never taught music cannot know she loves it. As a result, more students end up in careers that truly suit them.”</a:t>
            </a:r>
            <a:endParaRPr lang="en-US" sz="1200" dirty="0"/>
          </a:p>
        </p:txBody>
      </p:sp>
      <p:sp>
        <p:nvSpPr>
          <p:cNvPr id="60" name="Show on stream button"/>
          <p:cNvSpPr/>
          <p:nvPr/>
        </p:nvSpPr>
        <p:spPr>
          <a:xfrm>
            <a:off x="6949440" y="5596128"/>
            <a:ext cx="2606040" cy="457200"/>
          </a:xfrm>
          <a:prstGeom prst="roundRect">
            <a:avLst>
              <a:gd name="adj" fmla="val 50000"/>
            </a:avLst>
          </a:prstGeom>
          <a:solidFill>
            <a:schemeClr val="accent3"/>
          </a:solidFill>
          <a:ln w="12700">
            <a:solidFill>
              <a:schemeClr val="bg1"/>
            </a:solidFill>
            <a:prstDash val="solid"/>
          </a:ln>
        </p:spPr>
      </p:sp>
      <p:sp>
        <p:nvSpPr>
          <p:cNvPr id="61" name="Text 59"/>
          <p:cNvSpPr txBox="1"/>
          <p:nvPr/>
        </p:nvSpPr>
        <p:spPr>
          <a:xfrm>
            <a:off x="6949440" y="5596128"/>
            <a:ext cx="2606040" cy="457200"/>
          </a:xfrm>
          <a:prstGeom prst="rect">
            <a:avLst/>
          </a:prstGeom>
          <a:noFill/>
          <a:ln/>
        </p:spPr>
        <p:txBody>
          <a:bodyPr wrap="square" lIns="0" tIns="0" rIns="0" bIns="0" rtlCol="0" anchor="ctr"/>
          <a:lstStyle/>
          <a:p>
            <a:pPr algn="ctr" indent="0" marL="0">
              <a:buNone/>
            </a:pPr>
            <a:r>
              <a:rPr lang="en-US" sz="1200" b="1" dirty="0">
                <a:solidFill>
                  <a:schemeClr val="bg1"/>
                </a:solidFill>
              </a:rPr>
              <a:t>Show on stream</a:t>
            </a:r>
            <a:endParaRPr lang="en-US" sz="1200" dirty="0"/>
          </a:p>
        </p:txBody>
      </p:sp>
      <p:sp>
        <p:nvSpPr>
          <p:cNvPr id="62" name="Confusion meter panel"/>
          <p:cNvSpPr/>
          <p:nvPr/>
        </p:nvSpPr>
        <p:spPr>
          <a:xfrm>
            <a:off x="9829800" y="2377440"/>
            <a:ext cx="1783080" cy="3840480"/>
          </a:xfrm>
          <a:prstGeom prst="roundRect">
            <a:avLst>
              <a:gd name="adj" fmla="val 4103"/>
            </a:avLst>
          </a:prstGeom>
          <a:solidFill>
            <a:schemeClr val="bg2"/>
          </a:solidFill>
          <a:ln w="12700">
            <a:solidFill>
              <a:schemeClr val="bg1"/>
            </a:solidFill>
            <a:prstDash val="solid"/>
          </a:ln>
        </p:spPr>
      </p:sp>
      <p:sp>
        <p:nvSpPr>
          <p:cNvPr id="63" name="Text 61"/>
          <p:cNvSpPr txBox="1"/>
          <p:nvPr/>
        </p:nvSpPr>
        <p:spPr>
          <a:xfrm>
            <a:off x="9966960" y="2514600"/>
            <a:ext cx="1508760" cy="274320"/>
          </a:xfrm>
          <a:prstGeom prst="rect">
            <a:avLst/>
          </a:prstGeom>
          <a:noFill/>
          <a:ln/>
        </p:spPr>
        <p:txBody>
          <a:bodyPr wrap="square" lIns="0" tIns="0" rIns="0" bIns="0" rtlCol="0" anchor="t"/>
          <a:lstStyle/>
          <a:p>
            <a:pPr indent="0" marL="0">
              <a:buNone/>
            </a:pPr>
            <a:r>
              <a:rPr lang="en-US" sz="1200" b="1" dirty="0">
                <a:solidFill>
                  <a:schemeClr val="tx1"/>
                </a:solidFill>
              </a:rPr>
              <a:t>Don't understand</a:t>
            </a:r>
            <a:endParaRPr lang="en-US" sz="1200" dirty="0"/>
          </a:p>
        </p:txBody>
      </p:sp>
      <p:sp>
        <p:nvSpPr>
          <p:cNvPr id="64" name="Text 62"/>
          <p:cNvSpPr txBox="1"/>
          <p:nvPr/>
        </p:nvSpPr>
        <p:spPr>
          <a:xfrm>
            <a:off x="9966960" y="2834640"/>
            <a:ext cx="1508760" cy="777240"/>
          </a:xfrm>
          <a:prstGeom prst="rect">
            <a:avLst/>
          </a:prstGeom>
          <a:noFill/>
          <a:ln/>
        </p:spPr>
        <p:txBody>
          <a:bodyPr wrap="square" lIns="0" tIns="0" rIns="0" bIns="0" rtlCol="0" anchor="ctr"/>
          <a:lstStyle/>
          <a:p>
            <a:pPr indent="0" marL="0">
              <a:buNone/>
            </a:pPr>
            <a:r>
              <a:rPr lang="en-US" sz="4400" b="1" dirty="0">
                <a:solidFill>
                  <a:schemeClr val="tx1"/>
                </a:solidFill>
              </a:rPr>
              <a:t>9%</a:t>
            </a:r>
            <a:endParaRPr lang="en-US" sz="4400" dirty="0"/>
          </a:p>
        </p:txBody>
      </p:sp>
      <p:sp>
        <p:nvSpPr>
          <p:cNvPr id="65" name="Text 63"/>
          <p:cNvSpPr txBox="1"/>
          <p:nvPr/>
        </p:nvSpPr>
        <p:spPr>
          <a:xfrm>
            <a:off x="9966960" y="3639312"/>
            <a:ext cx="1508760" cy="228600"/>
          </a:xfrm>
          <a:prstGeom prst="rect">
            <a:avLst/>
          </a:prstGeom>
          <a:noFill/>
          <a:ln/>
        </p:spPr>
        <p:txBody>
          <a:bodyPr wrap="square" lIns="0" tIns="0" rIns="0" bIns="0" rtlCol="0" anchor="t"/>
          <a:lstStyle/>
          <a:p>
            <a:pPr indent="0" marL="0">
              <a:buNone/>
            </a:pPr>
            <a:r>
              <a:rPr lang="en-US" sz="1000" dirty="0">
                <a:solidFill>
                  <a:schemeClr val="tx2"/>
                </a:solidFill>
              </a:rPr>
              <a:t>116 students right now</a:t>
            </a:r>
            <a:endParaRPr lang="en-US" sz="1000" dirty="0"/>
          </a:p>
        </p:txBody>
      </p:sp>
      <p:sp>
        <p:nvSpPr>
          <p:cNvPr id="66" name="Meter track"/>
          <p:cNvSpPr/>
          <p:nvPr/>
        </p:nvSpPr>
        <p:spPr>
          <a:xfrm>
            <a:off x="9966960" y="4023360"/>
            <a:ext cx="1508760" cy="146304"/>
          </a:xfrm>
          <a:prstGeom prst="roundRect">
            <a:avLst>
              <a:gd name="adj" fmla="val 50000"/>
            </a:avLst>
          </a:prstGeom>
          <a:solidFill>
            <a:schemeClr val="bg1"/>
          </a:solidFill>
          <a:ln w="9525">
            <a:solidFill>
              <a:schemeClr val="accent5"/>
            </a:solidFill>
            <a:prstDash val="solid"/>
          </a:ln>
        </p:spPr>
      </p:sp>
      <p:sp>
        <p:nvSpPr>
          <p:cNvPr id="67" name="Meter fill"/>
          <p:cNvSpPr/>
          <p:nvPr/>
        </p:nvSpPr>
        <p:spPr>
          <a:xfrm>
            <a:off x="9966960" y="4023360"/>
            <a:ext cx="146304" cy="146304"/>
          </a:xfrm>
          <a:prstGeom prst="roundRect">
            <a:avLst>
              <a:gd name="adj" fmla="val 50000"/>
            </a:avLst>
          </a:prstGeom>
          <a:solidFill>
            <a:schemeClr val="accent3"/>
          </a:solidFill>
          <a:ln w="12700">
            <a:solidFill>
              <a:schemeClr val="bg1"/>
            </a:solidFill>
            <a:prstDash val="solid"/>
          </a:ln>
        </p:spPr>
      </p:sp>
      <p:sp>
        <p:nvSpPr>
          <p:cNvPr id="68" name="Alert threshold"/>
          <p:cNvSpPr/>
          <p:nvPr/>
        </p:nvSpPr>
        <p:spPr>
          <a:xfrm>
            <a:off x="10419588" y="3950208"/>
            <a:ext cx="0" cy="292608"/>
          </a:xfrm>
          <a:prstGeom prst="line">
            <a:avLst/>
          </a:prstGeom>
          <a:noFill/>
          <a:ln w="15875">
            <a:solidFill>
              <a:schemeClr val="tx1"/>
            </a:solidFill>
            <a:prstDash val="dash"/>
          </a:ln>
        </p:spPr>
      </p:sp>
      <p:sp>
        <p:nvSpPr>
          <p:cNvPr id="69" name="Text 67"/>
          <p:cNvSpPr txBox="1"/>
          <p:nvPr/>
        </p:nvSpPr>
        <p:spPr>
          <a:xfrm>
            <a:off x="9966960" y="4297680"/>
            <a:ext cx="1508760" cy="201168"/>
          </a:xfrm>
          <a:prstGeom prst="rect">
            <a:avLst/>
          </a:prstGeom>
          <a:noFill/>
          <a:ln/>
        </p:spPr>
        <p:txBody>
          <a:bodyPr wrap="square" lIns="0" tIns="0" rIns="0" bIns="0" rtlCol="0" anchor="t"/>
          <a:lstStyle/>
          <a:p>
            <a:pPr indent="0" marL="0">
              <a:buNone/>
            </a:pPr>
            <a:r>
              <a:rPr lang="en-US" sz="1000" dirty="0">
                <a:solidFill>
                  <a:schemeClr val="tx2"/>
                </a:solidFill>
              </a:rPr>
              <a:t>Alert at 30%</a:t>
            </a:r>
            <a:endParaRPr lang="en-US" sz="1000" dirty="0"/>
          </a:p>
        </p:txBody>
      </p:sp>
      <p:sp>
        <p:nvSpPr>
          <p:cNvPr id="70" name="Text 68"/>
          <p:cNvSpPr txBox="1"/>
          <p:nvPr/>
        </p:nvSpPr>
        <p:spPr>
          <a:xfrm>
            <a:off x="9966960" y="4892040"/>
            <a:ext cx="1508760" cy="548640"/>
          </a:xfrm>
          <a:prstGeom prst="rect">
            <a:avLst/>
          </a:prstGeom>
          <a:noFill/>
          <a:ln/>
        </p:spPr>
        <p:txBody>
          <a:bodyPr wrap="square" lIns="0" tIns="0" rIns="0" bIns="0" rtlCol="0" anchor="t"/>
          <a:lstStyle/>
          <a:p>
            <a:pPr indent="0" marL="0">
              <a:buNone/>
            </a:pPr>
            <a:r>
              <a:rPr lang="en-US" sz="1200" b="1" dirty="0">
                <a:solidFill>
                  <a:schemeClr val="accent3"/>
                </a:solidFill>
              </a:rPr>
              <a:t>Class is following.</a:t>
            </a:r>
            <a:endParaRPr lang="en-US" sz="1200" dirty="0"/>
          </a:p>
          <a:p>
            <a:pPr indent="0" marL="0">
              <a:buNone/>
            </a:pPr>
            <a:r>
              <a:rPr lang="en-US" sz="1200" b="1" dirty="0">
                <a:solidFill>
                  <a:schemeClr val="accent3"/>
                </a:solidFill>
              </a:rPr>
              <a:t>Keep going.</a:t>
            </a:r>
            <a:endParaRPr lang="en-US" sz="120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594360"/>
          </a:xfrm>
          <a:prstGeom prst="rect">
            <a:avLst/>
          </a:prstGeom>
          <a:noFill/>
          <a:ln/>
        </p:spPr>
        <p:txBody>
          <a:bodyPr wrap="square" lIns="0" tIns="0" rIns="0" bIns="0" rtlCol="0" anchor="ctr"/>
          <a:lstStyle/>
          <a:p>
            <a:pPr algn="l" indent="0" marL="0">
              <a:buNone/>
            </a:pPr>
            <a:r>
              <a:rPr lang="en-US" sz="3200" b="1" dirty="0">
                <a:solidFill>
                  <a:schemeClr val="tx1"/>
                </a:solidFill>
              </a:rPr>
              <a:t>After class · Recap page and class summary</a:t>
            </a:r>
            <a:endParaRPr lang="en-US" sz="3200" dirty="0"/>
          </a:p>
        </p:txBody>
      </p:sp>
      <p:sp>
        <p:nvSpPr>
          <p:cNvPr id="3" name="Text 0"/>
          <p:cNvSpPr/>
          <p:nvPr>
            <p:ph idx="101" type="body" hasCustomPrompt="1"/>
          </p:nvPr>
        </p:nvSpPr>
        <p:spPr>
          <a:xfrm>
            <a:off x="457200" y="868680"/>
            <a:ext cx="11247120" cy="365760"/>
          </a:xfrm>
          <a:prstGeom prst="rect">
            <a:avLst/>
          </a:prstGeom>
          <a:noFill/>
          <a:ln/>
        </p:spPr>
        <p:txBody>
          <a:bodyPr wrap="square" lIns="0" tIns="0" rIns="0" bIns="0" rtlCol="0" anchor="ctr"/>
          <a:lstStyle/>
          <a:p>
            <a:pPr indent="0" marL="0">
              <a:buNone/>
            </a:pPr>
            <a:r>
              <a:rPr lang="en-US" sz="1600" dirty="0">
                <a:solidFill>
                  <a:schemeClr val="tx2"/>
                </a:solidFill>
              </a:rPr>
              <a:t>Every student gets their own page. The teacher sees where the class got lost</a:t>
            </a:r>
            <a:endParaRPr lang="en-US" sz="1600" dirty="0"/>
          </a:p>
        </p:txBody>
      </p:sp>
      <p:sp>
        <p:nvSpPr>
          <p:cNvPr id="4" name="Label: student"/>
          <p:cNvSpPr txBox="1"/>
          <p:nvPr/>
        </p:nvSpPr>
        <p:spPr>
          <a:xfrm>
            <a:off x="685800" y="1325880"/>
            <a:ext cx="292608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WHAT THE STUDENT SEES</a:t>
            </a:r>
            <a:endParaRPr lang="en-US" sz="1100" dirty="0"/>
          </a:p>
        </p:txBody>
      </p:sp>
      <p:sp>
        <p:nvSpPr>
          <p:cNvPr id="5" name="Label: teacher"/>
          <p:cNvSpPr txBox="1"/>
          <p:nvPr/>
        </p:nvSpPr>
        <p:spPr>
          <a:xfrm>
            <a:off x="4069080" y="1325880"/>
            <a:ext cx="548640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WHAT THE TEACHER SEES</a:t>
            </a:r>
            <a:endParaRPr lang="en-US" sz="1100" dirty="0"/>
          </a:p>
        </p:txBody>
      </p:sp>
      <p:sp>
        <p:nvSpPr>
          <p:cNvPr id="6" name="Phone frame"/>
          <p:cNvSpPr/>
          <p:nvPr/>
        </p:nvSpPr>
        <p:spPr>
          <a:xfrm>
            <a:off x="685800" y="1645920"/>
            <a:ext cx="2834640" cy="4709160"/>
          </a:xfrm>
          <a:prstGeom prst="roundRect">
            <a:avLst>
              <a:gd name="adj" fmla="val 11290"/>
            </a:avLst>
          </a:prstGeom>
          <a:solidFill>
            <a:schemeClr val="tx1"/>
          </a:solidFill>
          <a:ln w="12700">
            <a:solidFill>
              <a:schemeClr val="tx1"/>
            </a:solidFill>
            <a:prstDash val="solid"/>
          </a:ln>
          <a:effectLst>
            <a:outerShdw sx="100000" sy="100000" kx="0" ky="0" algn="bl" rotWithShape="0" blurRad="101600" dist="25400" dir="5400000">
              <a:srgbClr val="1A1B2E">
                <a:alpha val="12000"/>
              </a:srgbClr>
            </a:outerShdw>
          </a:effectLst>
        </p:spPr>
      </p:sp>
      <p:sp>
        <p:nvSpPr>
          <p:cNvPr id="7" name="Phone screen"/>
          <p:cNvSpPr/>
          <p:nvPr/>
        </p:nvSpPr>
        <p:spPr>
          <a:xfrm>
            <a:off x="795528" y="1755648"/>
            <a:ext cx="2615184" cy="4489704"/>
          </a:xfrm>
          <a:prstGeom prst="roundRect">
            <a:avLst>
              <a:gd name="adj" fmla="val 8741"/>
            </a:avLst>
          </a:prstGeom>
          <a:solidFill>
            <a:schemeClr val="bg1"/>
          </a:solidFill>
          <a:ln w="12700">
            <a:solidFill>
              <a:schemeClr val="bg1"/>
            </a:solidFill>
            <a:prstDash val="solid"/>
          </a:ln>
        </p:spPr>
      </p:sp>
      <p:sp>
        <p:nvSpPr>
          <p:cNvPr id="8" name="Text 6"/>
          <p:cNvSpPr txBox="1"/>
          <p:nvPr/>
        </p:nvSpPr>
        <p:spPr>
          <a:xfrm>
            <a:off x="1901952" y="1901952"/>
            <a:ext cx="1371600" cy="219456"/>
          </a:xfrm>
          <a:prstGeom prst="rect">
            <a:avLst/>
          </a:prstGeom>
          <a:noFill/>
          <a:ln/>
        </p:spPr>
        <p:txBody>
          <a:bodyPr wrap="square" lIns="0" tIns="0" rIns="0" bIns="0" rtlCol="0" anchor="ctr"/>
          <a:lstStyle/>
          <a:p>
            <a:pPr algn="r" indent="0" marL="0">
              <a:buNone/>
            </a:pPr>
            <a:r>
              <a:rPr lang="en-US" sz="1000" dirty="0">
                <a:solidFill>
                  <a:schemeClr val="tx2"/>
                </a:solidFill>
              </a:rPr>
              <a:t>After class</a:t>
            </a:r>
            <a:endParaRPr lang="en-US" sz="1000" dirty="0"/>
          </a:p>
        </p:txBody>
      </p:sp>
      <p:sp>
        <p:nvSpPr>
          <p:cNvPr id="9" name="Dashboard frame"/>
          <p:cNvSpPr/>
          <p:nvPr/>
        </p:nvSpPr>
        <p:spPr>
          <a:xfrm>
            <a:off x="4069080" y="1645920"/>
            <a:ext cx="7680960" cy="4709160"/>
          </a:xfrm>
          <a:prstGeom prst="roundRect">
            <a:avLst>
              <a:gd name="adj" fmla="val 2330"/>
            </a:avLst>
          </a:prstGeom>
          <a:solidFill>
            <a:schemeClr val="bg1"/>
          </a:solidFill>
          <a:ln w="12700">
            <a:solidFill>
              <a:schemeClr val="bg1"/>
            </a:solidFill>
            <a:prstDash val="solid"/>
          </a:ln>
          <a:effectLst>
            <a:outerShdw sx="100000" sy="100000" kx="0" ky="0" algn="bl" rotWithShape="0" blurRad="101600" dist="25400" dir="5400000">
              <a:srgbClr val="1A1B2E">
                <a:alpha val="12000"/>
              </a:srgbClr>
            </a:outerShdw>
          </a:effectLst>
        </p:spPr>
      </p:sp>
      <p:sp>
        <p:nvSpPr>
          <p:cNvPr id="10" name="Text 8"/>
          <p:cNvSpPr txBox="1"/>
          <p:nvPr/>
        </p:nvSpPr>
        <p:spPr>
          <a:xfrm>
            <a:off x="4251960" y="1764792"/>
            <a:ext cx="1737360" cy="329184"/>
          </a:xfrm>
          <a:prstGeom prst="rect">
            <a:avLst/>
          </a:prstGeom>
          <a:noFill/>
          <a:ln/>
        </p:spPr>
        <p:txBody>
          <a:bodyPr wrap="square" lIns="0" tIns="0" rIns="0" bIns="0" rtlCol="0" anchor="ctr"/>
          <a:lstStyle/>
          <a:p>
            <a:pPr indent="0" marL="0">
              <a:buNone/>
            </a:pPr>
            <a:r>
              <a:rPr lang="en-US" sz="1300" b="1" dirty="0">
                <a:solidFill>
                  <a:schemeClr val="tx1"/>
                </a:solidFill>
              </a:rPr>
              <a:t>Teacher dashboard</a:t>
            </a:r>
            <a:endParaRPr lang="en-US" sz="1300" dirty="0"/>
          </a:p>
        </p:txBody>
      </p:sp>
      <p:sp>
        <p:nvSpPr>
          <p:cNvPr id="11" name="Live pill"/>
          <p:cNvSpPr/>
          <p:nvPr/>
        </p:nvSpPr>
        <p:spPr>
          <a:xfrm>
            <a:off x="5989320" y="1819656"/>
            <a:ext cx="566928" cy="219456"/>
          </a:xfrm>
          <a:prstGeom prst="roundRect">
            <a:avLst>
              <a:gd name="adj" fmla="val 50000"/>
            </a:avLst>
          </a:prstGeom>
          <a:solidFill>
            <a:schemeClr val="accent2"/>
          </a:solidFill>
          <a:ln w="12700">
            <a:solidFill>
              <a:schemeClr val="bg1"/>
            </a:solidFill>
            <a:prstDash val="solid"/>
          </a:ln>
        </p:spPr>
      </p:sp>
      <p:sp>
        <p:nvSpPr>
          <p:cNvPr id="12" name="Text 10"/>
          <p:cNvSpPr txBox="1"/>
          <p:nvPr/>
        </p:nvSpPr>
        <p:spPr>
          <a:xfrm>
            <a:off x="5989320" y="1819656"/>
            <a:ext cx="566928" cy="219456"/>
          </a:xfrm>
          <a:prstGeom prst="rect">
            <a:avLst/>
          </a:prstGeom>
          <a:noFill/>
          <a:ln/>
        </p:spPr>
        <p:txBody>
          <a:bodyPr wrap="square" lIns="0" tIns="0" rIns="0" bIns="0" rtlCol="0" anchor="ctr"/>
          <a:lstStyle/>
          <a:p>
            <a:pPr algn="ctr" indent="0" marL="0">
              <a:buNone/>
            </a:pPr>
            <a:r>
              <a:rPr lang="en-US" sz="1000" b="1" dirty="0">
                <a:solidFill>
                  <a:schemeClr val="bg1"/>
                </a:solidFill>
              </a:rPr>
              <a:t>● LIVE</a:t>
            </a:r>
            <a:endParaRPr lang="en-US" sz="1000" dirty="0"/>
          </a:p>
        </p:txBody>
      </p:sp>
      <p:sp>
        <p:nvSpPr>
          <p:cNvPr id="13" name="Text 11"/>
          <p:cNvSpPr txBox="1"/>
          <p:nvPr/>
        </p:nvSpPr>
        <p:spPr>
          <a:xfrm>
            <a:off x="6647688" y="1764792"/>
            <a:ext cx="1280160" cy="329184"/>
          </a:xfrm>
          <a:prstGeom prst="rect">
            <a:avLst/>
          </a:prstGeom>
          <a:noFill/>
          <a:ln/>
        </p:spPr>
        <p:txBody>
          <a:bodyPr wrap="square" lIns="0" tIns="0" rIns="0" bIns="0" rtlCol="0" anchor="ctr"/>
          <a:lstStyle/>
          <a:p>
            <a:pPr indent="0" marL="0">
              <a:buNone/>
            </a:pPr>
            <a:r>
              <a:rPr lang="en-US" sz="1100" dirty="0">
                <a:solidFill>
                  <a:schemeClr val="tx2"/>
                </a:solidFill>
              </a:rPr>
              <a:t>1,284 students</a:t>
            </a:r>
            <a:endParaRPr lang="en-US" sz="1100" dirty="0"/>
          </a:p>
        </p:txBody>
      </p:sp>
      <p:sp>
        <p:nvSpPr>
          <p:cNvPr id="14" name="Step 1 dot"/>
          <p:cNvSpPr/>
          <p:nvPr/>
        </p:nvSpPr>
        <p:spPr>
          <a:xfrm>
            <a:off x="8001000" y="1810512"/>
            <a:ext cx="246888" cy="246888"/>
          </a:xfrm>
          <a:prstGeom prst="ellipse">
            <a:avLst/>
          </a:prstGeom>
          <a:solidFill>
            <a:schemeClr val="accent1">
              <a:alpha val="20000"/>
            </a:schemeClr>
          </a:solidFill>
          <a:ln w="12700">
            <a:solidFill>
              <a:schemeClr val="accent1"/>
            </a:solidFill>
            <a:prstDash val="solid"/>
          </a:ln>
        </p:spPr>
      </p:sp>
      <p:sp>
        <p:nvSpPr>
          <p:cNvPr id="15" name="Text 13"/>
          <p:cNvSpPr txBox="1"/>
          <p:nvPr/>
        </p:nvSpPr>
        <p:spPr>
          <a:xfrm>
            <a:off x="8001000" y="1810512"/>
            <a:ext cx="246888" cy="246888"/>
          </a:xfrm>
          <a:prstGeom prst="rect">
            <a:avLst/>
          </a:prstGeom>
          <a:noFill/>
          <a:ln/>
        </p:spPr>
        <p:txBody>
          <a:bodyPr wrap="square" lIns="0" tIns="0" rIns="0" bIns="0" rtlCol="0" anchor="ctr"/>
          <a:lstStyle/>
          <a:p>
            <a:pPr algn="ctr" indent="0" marL="0">
              <a:buNone/>
            </a:pPr>
            <a:r>
              <a:rPr lang="en-US" sz="1000" b="1" dirty="0">
                <a:solidFill>
                  <a:schemeClr val="accent1"/>
                </a:solidFill>
              </a:rPr>
              <a:t>1</a:t>
            </a:r>
            <a:endParaRPr lang="en-US" sz="1000" dirty="0"/>
          </a:p>
        </p:txBody>
      </p:sp>
      <p:sp>
        <p:nvSpPr>
          <p:cNvPr id="16" name="Step 2 dot"/>
          <p:cNvSpPr/>
          <p:nvPr/>
        </p:nvSpPr>
        <p:spPr>
          <a:xfrm>
            <a:off x="8330184" y="1810512"/>
            <a:ext cx="246888" cy="246888"/>
          </a:xfrm>
          <a:prstGeom prst="ellipse">
            <a:avLst/>
          </a:prstGeom>
          <a:solidFill>
            <a:schemeClr val="accent1">
              <a:alpha val="20000"/>
            </a:schemeClr>
          </a:solidFill>
          <a:ln w="12700">
            <a:solidFill>
              <a:schemeClr val="accent1"/>
            </a:solidFill>
            <a:prstDash val="solid"/>
          </a:ln>
        </p:spPr>
      </p:sp>
      <p:sp>
        <p:nvSpPr>
          <p:cNvPr id="17" name="Text 15"/>
          <p:cNvSpPr txBox="1"/>
          <p:nvPr/>
        </p:nvSpPr>
        <p:spPr>
          <a:xfrm>
            <a:off x="8330184" y="1810512"/>
            <a:ext cx="246888" cy="246888"/>
          </a:xfrm>
          <a:prstGeom prst="rect">
            <a:avLst/>
          </a:prstGeom>
          <a:noFill/>
          <a:ln/>
        </p:spPr>
        <p:txBody>
          <a:bodyPr wrap="square" lIns="0" tIns="0" rIns="0" bIns="0" rtlCol="0" anchor="ctr"/>
          <a:lstStyle/>
          <a:p>
            <a:pPr algn="ctr" indent="0" marL="0">
              <a:buNone/>
            </a:pPr>
            <a:r>
              <a:rPr lang="en-US" sz="1000" b="1" dirty="0">
                <a:solidFill>
                  <a:schemeClr val="accent1"/>
                </a:solidFill>
              </a:rPr>
              <a:t>2</a:t>
            </a:r>
            <a:endParaRPr lang="en-US" sz="1000" dirty="0"/>
          </a:p>
        </p:txBody>
      </p:sp>
      <p:sp>
        <p:nvSpPr>
          <p:cNvPr id="18" name="Step 3 dot"/>
          <p:cNvSpPr/>
          <p:nvPr/>
        </p:nvSpPr>
        <p:spPr>
          <a:xfrm>
            <a:off x="8659368" y="1810512"/>
            <a:ext cx="246888" cy="246888"/>
          </a:xfrm>
          <a:prstGeom prst="ellipse">
            <a:avLst/>
          </a:prstGeom>
          <a:solidFill>
            <a:schemeClr val="accent1">
              <a:alpha val="20000"/>
            </a:schemeClr>
          </a:solidFill>
          <a:ln w="12700">
            <a:solidFill>
              <a:schemeClr val="accent1"/>
            </a:solidFill>
            <a:prstDash val="solid"/>
          </a:ln>
        </p:spPr>
      </p:sp>
      <p:sp>
        <p:nvSpPr>
          <p:cNvPr id="19" name="Text 17"/>
          <p:cNvSpPr txBox="1"/>
          <p:nvPr/>
        </p:nvSpPr>
        <p:spPr>
          <a:xfrm>
            <a:off x="8659368" y="1810512"/>
            <a:ext cx="246888" cy="246888"/>
          </a:xfrm>
          <a:prstGeom prst="rect">
            <a:avLst/>
          </a:prstGeom>
          <a:noFill/>
          <a:ln/>
        </p:spPr>
        <p:txBody>
          <a:bodyPr wrap="square" lIns="0" tIns="0" rIns="0" bIns="0" rtlCol="0" anchor="ctr"/>
          <a:lstStyle/>
          <a:p>
            <a:pPr algn="ctr" indent="0" marL="0">
              <a:buNone/>
            </a:pPr>
            <a:r>
              <a:rPr lang="en-US" sz="1000" b="1" dirty="0">
                <a:solidFill>
                  <a:schemeClr val="accent1"/>
                </a:solidFill>
              </a:rPr>
              <a:t>3</a:t>
            </a:r>
            <a:endParaRPr lang="en-US" sz="1000" dirty="0"/>
          </a:p>
        </p:txBody>
      </p:sp>
      <p:sp>
        <p:nvSpPr>
          <p:cNvPr id="20" name="Step 4 dot"/>
          <p:cNvSpPr/>
          <p:nvPr/>
        </p:nvSpPr>
        <p:spPr>
          <a:xfrm>
            <a:off x="8988552" y="1810512"/>
            <a:ext cx="246888" cy="246888"/>
          </a:xfrm>
          <a:prstGeom prst="ellipse">
            <a:avLst/>
          </a:prstGeom>
          <a:solidFill>
            <a:schemeClr val="accent1">
              <a:alpha val="20000"/>
            </a:schemeClr>
          </a:solidFill>
          <a:ln w="12700">
            <a:solidFill>
              <a:schemeClr val="accent1"/>
            </a:solidFill>
            <a:prstDash val="solid"/>
          </a:ln>
        </p:spPr>
      </p:sp>
      <p:sp>
        <p:nvSpPr>
          <p:cNvPr id="21" name="Text 19"/>
          <p:cNvSpPr txBox="1"/>
          <p:nvPr/>
        </p:nvSpPr>
        <p:spPr>
          <a:xfrm>
            <a:off x="8988552" y="1810512"/>
            <a:ext cx="246888" cy="246888"/>
          </a:xfrm>
          <a:prstGeom prst="rect">
            <a:avLst/>
          </a:prstGeom>
          <a:noFill/>
          <a:ln/>
        </p:spPr>
        <p:txBody>
          <a:bodyPr wrap="square" lIns="0" tIns="0" rIns="0" bIns="0" rtlCol="0" anchor="ctr"/>
          <a:lstStyle/>
          <a:p>
            <a:pPr algn="ctr" indent="0" marL="0">
              <a:buNone/>
            </a:pPr>
            <a:r>
              <a:rPr lang="en-US" sz="1000" b="1" dirty="0">
                <a:solidFill>
                  <a:schemeClr val="accent1"/>
                </a:solidFill>
              </a:rPr>
              <a:t>4</a:t>
            </a:r>
            <a:endParaRPr lang="en-US" sz="1000" dirty="0"/>
          </a:p>
        </p:txBody>
      </p:sp>
      <p:sp>
        <p:nvSpPr>
          <p:cNvPr id="22" name="Step 5 dot"/>
          <p:cNvSpPr/>
          <p:nvPr/>
        </p:nvSpPr>
        <p:spPr>
          <a:xfrm>
            <a:off x="9317736" y="1810512"/>
            <a:ext cx="246888" cy="246888"/>
          </a:xfrm>
          <a:prstGeom prst="ellipse">
            <a:avLst/>
          </a:prstGeom>
          <a:solidFill>
            <a:schemeClr val="accent1">
              <a:alpha val="20000"/>
            </a:schemeClr>
          </a:solidFill>
          <a:ln w="12700">
            <a:solidFill>
              <a:schemeClr val="accent1"/>
            </a:solidFill>
            <a:prstDash val="solid"/>
          </a:ln>
        </p:spPr>
      </p:sp>
      <p:sp>
        <p:nvSpPr>
          <p:cNvPr id="23" name="Text 21"/>
          <p:cNvSpPr txBox="1"/>
          <p:nvPr/>
        </p:nvSpPr>
        <p:spPr>
          <a:xfrm>
            <a:off x="9317736" y="1810512"/>
            <a:ext cx="246888" cy="246888"/>
          </a:xfrm>
          <a:prstGeom prst="rect">
            <a:avLst/>
          </a:prstGeom>
          <a:noFill/>
          <a:ln/>
        </p:spPr>
        <p:txBody>
          <a:bodyPr wrap="square" lIns="0" tIns="0" rIns="0" bIns="0" rtlCol="0" anchor="ctr"/>
          <a:lstStyle/>
          <a:p>
            <a:pPr algn="ctr" indent="0" marL="0">
              <a:buNone/>
            </a:pPr>
            <a:r>
              <a:rPr lang="en-US" sz="1000" b="1" dirty="0">
                <a:solidFill>
                  <a:schemeClr val="accent1"/>
                </a:solidFill>
              </a:rPr>
              <a:t>5</a:t>
            </a:r>
            <a:endParaRPr lang="en-US" sz="1000" dirty="0"/>
          </a:p>
        </p:txBody>
      </p:sp>
      <p:sp>
        <p:nvSpPr>
          <p:cNvPr id="24" name="Step 6 dot"/>
          <p:cNvSpPr/>
          <p:nvPr/>
        </p:nvSpPr>
        <p:spPr>
          <a:xfrm>
            <a:off x="9646920" y="1810512"/>
            <a:ext cx="246888" cy="246888"/>
          </a:xfrm>
          <a:prstGeom prst="ellipse">
            <a:avLst/>
          </a:prstGeom>
          <a:solidFill>
            <a:schemeClr val="accent1"/>
          </a:solidFill>
          <a:ln w="12700">
            <a:solidFill>
              <a:schemeClr val="accent1"/>
            </a:solidFill>
            <a:prstDash val="solid"/>
          </a:ln>
        </p:spPr>
      </p:sp>
      <p:sp>
        <p:nvSpPr>
          <p:cNvPr id="25" name="Text 23"/>
          <p:cNvSpPr txBox="1"/>
          <p:nvPr/>
        </p:nvSpPr>
        <p:spPr>
          <a:xfrm>
            <a:off x="9646920" y="1810512"/>
            <a:ext cx="246888" cy="246888"/>
          </a:xfrm>
          <a:prstGeom prst="rect">
            <a:avLst/>
          </a:prstGeom>
          <a:noFill/>
          <a:ln/>
        </p:spPr>
        <p:txBody>
          <a:bodyPr wrap="square" lIns="0" tIns="0" rIns="0" bIns="0" rtlCol="0" anchor="ctr"/>
          <a:lstStyle/>
          <a:p>
            <a:pPr algn="ctr" indent="0" marL="0">
              <a:buNone/>
            </a:pPr>
            <a:r>
              <a:rPr lang="en-US" sz="1000" b="1" dirty="0">
                <a:solidFill>
                  <a:schemeClr val="bg1"/>
                </a:solidFill>
              </a:rPr>
              <a:t>6</a:t>
            </a:r>
            <a:endParaRPr lang="en-US" sz="1000" dirty="0"/>
          </a:p>
        </p:txBody>
      </p:sp>
      <p:sp>
        <p:nvSpPr>
          <p:cNvPr id="26" name="Next step button"/>
          <p:cNvSpPr/>
          <p:nvPr/>
        </p:nvSpPr>
        <p:spPr>
          <a:xfrm>
            <a:off x="10104120" y="1783080"/>
            <a:ext cx="1463040" cy="310896"/>
          </a:xfrm>
          <a:prstGeom prst="roundRect">
            <a:avLst>
              <a:gd name="adj" fmla="val 50000"/>
            </a:avLst>
          </a:prstGeom>
          <a:solidFill>
            <a:schemeClr val="accent1"/>
          </a:solidFill>
          <a:ln w="12700">
            <a:solidFill>
              <a:schemeClr val="bg1"/>
            </a:solidFill>
            <a:prstDash val="solid"/>
          </a:ln>
        </p:spPr>
      </p:sp>
      <p:sp>
        <p:nvSpPr>
          <p:cNvPr id="27" name="Text 25"/>
          <p:cNvSpPr txBox="1"/>
          <p:nvPr/>
        </p:nvSpPr>
        <p:spPr>
          <a:xfrm>
            <a:off x="10104120" y="1783080"/>
            <a:ext cx="1463040" cy="310896"/>
          </a:xfrm>
          <a:prstGeom prst="rect">
            <a:avLst/>
          </a:prstGeom>
          <a:noFill/>
          <a:ln/>
        </p:spPr>
        <p:txBody>
          <a:bodyPr wrap="square" lIns="0" tIns="0" rIns="0" bIns="0" rtlCol="0" anchor="ctr"/>
          <a:lstStyle/>
          <a:p>
            <a:pPr algn="ctr" indent="0" marL="0">
              <a:buNone/>
            </a:pPr>
            <a:r>
              <a:rPr lang="en-US" sz="1100" b="1" dirty="0">
                <a:solidFill>
                  <a:schemeClr val="bg1"/>
                </a:solidFill>
              </a:rPr>
              <a:t>End class</a:t>
            </a:r>
            <a:endParaRPr lang="en-US" sz="1100" dirty="0"/>
          </a:p>
        </p:txBody>
      </p:sp>
      <p:sp>
        <p:nvSpPr>
          <p:cNvPr id="28" name="Header divider"/>
          <p:cNvSpPr/>
          <p:nvPr/>
        </p:nvSpPr>
        <p:spPr>
          <a:xfrm>
            <a:off x="4206240" y="2240280"/>
            <a:ext cx="7406640" cy="0"/>
          </a:xfrm>
          <a:prstGeom prst="line">
            <a:avLst/>
          </a:prstGeom>
          <a:noFill/>
          <a:ln w="19050">
            <a:solidFill>
              <a:schemeClr val="bg2"/>
            </a:solidFill>
            <a:prstDash val="solid"/>
          </a:ln>
        </p:spPr>
      </p:sp>
      <p:sp>
        <p:nvSpPr>
          <p:cNvPr id="29" name="Đậu avatar"/>
          <p:cNvSpPr/>
          <p:nvPr/>
        </p:nvSpPr>
        <p:spPr>
          <a:xfrm>
            <a:off x="932688" y="2240280"/>
            <a:ext cx="411480" cy="411480"/>
          </a:xfrm>
          <a:prstGeom prst="ellipse">
            <a:avLst/>
          </a:prstGeom>
          <a:solidFill>
            <a:schemeClr val="accent4"/>
          </a:solidFill>
          <a:ln w="12700">
            <a:solidFill>
              <a:schemeClr val="accent4"/>
            </a:solidFill>
            <a:prstDash val="solid"/>
          </a:ln>
        </p:spPr>
      </p:sp>
      <p:sp>
        <p:nvSpPr>
          <p:cNvPr id="30" name="Text 28"/>
          <p:cNvSpPr txBox="1"/>
          <p:nvPr/>
        </p:nvSpPr>
        <p:spPr>
          <a:xfrm>
            <a:off x="932688" y="22402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Đ</a:t>
            </a:r>
            <a:endParaRPr lang="en-US" sz="1400" dirty="0"/>
          </a:p>
        </p:txBody>
      </p:sp>
      <p:sp>
        <p:nvSpPr>
          <p:cNvPr id="31" name="Text 29"/>
          <p:cNvSpPr txBox="1"/>
          <p:nvPr/>
        </p:nvSpPr>
        <p:spPr>
          <a:xfrm>
            <a:off x="1435608" y="2240280"/>
            <a:ext cx="1828800" cy="411480"/>
          </a:xfrm>
          <a:prstGeom prst="rect">
            <a:avLst/>
          </a:prstGeom>
          <a:noFill/>
          <a:ln/>
        </p:spPr>
        <p:txBody>
          <a:bodyPr wrap="square" lIns="0" tIns="0" rIns="0" bIns="0" rtlCol="0" anchor="ctr"/>
          <a:lstStyle/>
          <a:p>
            <a:pPr indent="0" marL="0">
              <a:buNone/>
            </a:pPr>
            <a:r>
              <a:rPr lang="en-US" sz="1200" b="1" dirty="0">
                <a:solidFill>
                  <a:schemeClr val="tx1"/>
                </a:solidFill>
              </a:rPr>
              <a:t>anh Đậu: Your recap</a:t>
            </a:r>
            <a:endParaRPr lang="en-US" sz="1200" dirty="0"/>
          </a:p>
        </p:txBody>
      </p:sp>
      <p:sp>
        <p:nvSpPr>
          <p:cNvPr id="32" name="Shape 30"/>
          <p:cNvSpPr/>
          <p:nvPr/>
        </p:nvSpPr>
        <p:spPr>
          <a:xfrm>
            <a:off x="932688" y="2761488"/>
            <a:ext cx="2340864" cy="475488"/>
          </a:xfrm>
          <a:prstGeom prst="roundRect">
            <a:avLst>
              <a:gd name="adj" fmla="val 15385"/>
            </a:avLst>
          </a:prstGeom>
          <a:solidFill>
            <a:schemeClr val="bg2"/>
          </a:solidFill>
          <a:ln w="12700">
            <a:solidFill>
              <a:schemeClr val="bg1"/>
            </a:solidFill>
            <a:prstDash val="solid"/>
          </a:ln>
        </p:spPr>
      </p:sp>
      <p:sp>
        <p:nvSpPr>
          <p:cNvPr id="33" name="Text 31"/>
          <p:cNvSpPr txBox="1"/>
          <p:nvPr/>
        </p:nvSpPr>
        <p:spPr>
          <a:xfrm>
            <a:off x="1024128" y="2798064"/>
            <a:ext cx="2157984" cy="182880"/>
          </a:xfrm>
          <a:prstGeom prst="rect">
            <a:avLst/>
          </a:prstGeom>
          <a:noFill/>
          <a:ln/>
        </p:spPr>
        <p:txBody>
          <a:bodyPr wrap="square" lIns="0" tIns="0" rIns="0" bIns="0" rtlCol="0" anchor="t"/>
          <a:lstStyle/>
          <a:p>
            <a:pPr indent="0" marL="0">
              <a:buNone/>
            </a:pPr>
            <a:r>
              <a:rPr lang="en-US" sz="1000" dirty="0">
                <a:solidFill>
                  <a:schemeClr val="tx2"/>
                </a:solidFill>
              </a:rPr>
              <a:t>Your side</a:t>
            </a:r>
            <a:endParaRPr lang="en-US" sz="1000" dirty="0"/>
          </a:p>
        </p:txBody>
      </p:sp>
      <p:sp>
        <p:nvSpPr>
          <p:cNvPr id="34" name="Text 32"/>
          <p:cNvSpPr txBox="1"/>
          <p:nvPr/>
        </p:nvSpPr>
        <p:spPr>
          <a:xfrm>
            <a:off x="1024128" y="2980944"/>
            <a:ext cx="2157984" cy="219456"/>
          </a:xfrm>
          <a:prstGeom prst="rect">
            <a:avLst/>
          </a:prstGeom>
          <a:noFill/>
          <a:ln/>
        </p:spPr>
        <p:txBody>
          <a:bodyPr wrap="square" lIns="0" tIns="0" rIns="0" bIns="0" rtlCol="0" anchor="t"/>
          <a:lstStyle/>
          <a:p>
            <a:pPr indent="0" marL="0">
              <a:buNone/>
            </a:pPr>
            <a:r>
              <a:rPr lang="en-US" sz="1100" b="1" dirty="0">
                <a:solidFill>
                  <a:schemeClr val="accent1"/>
                </a:solidFill>
              </a:rPr>
              <a:t>All subjects</a:t>
            </a:r>
            <a:endParaRPr lang="en-US" sz="1100" dirty="0"/>
          </a:p>
        </p:txBody>
      </p:sp>
      <p:sp>
        <p:nvSpPr>
          <p:cNvPr id="35" name="Shape 33"/>
          <p:cNvSpPr/>
          <p:nvPr/>
        </p:nvSpPr>
        <p:spPr>
          <a:xfrm>
            <a:off x="932688" y="3310128"/>
            <a:ext cx="2340864" cy="475488"/>
          </a:xfrm>
          <a:prstGeom prst="roundRect">
            <a:avLst>
              <a:gd name="adj" fmla="val 15385"/>
            </a:avLst>
          </a:prstGeom>
          <a:solidFill>
            <a:schemeClr val="bg2"/>
          </a:solidFill>
          <a:ln w="12700">
            <a:solidFill>
              <a:schemeClr val="bg1"/>
            </a:solidFill>
            <a:prstDash val="solid"/>
          </a:ln>
        </p:spPr>
      </p:sp>
      <p:sp>
        <p:nvSpPr>
          <p:cNvPr id="36" name="Text 34"/>
          <p:cNvSpPr txBox="1"/>
          <p:nvPr/>
        </p:nvSpPr>
        <p:spPr>
          <a:xfrm>
            <a:off x="1024128" y="3346704"/>
            <a:ext cx="2157984" cy="182880"/>
          </a:xfrm>
          <a:prstGeom prst="rect">
            <a:avLst/>
          </a:prstGeom>
          <a:noFill/>
          <a:ln/>
        </p:spPr>
        <p:txBody>
          <a:bodyPr wrap="square" lIns="0" tIns="0" rIns="0" bIns="0" rtlCol="0" anchor="t"/>
          <a:lstStyle/>
          <a:p>
            <a:pPr indent="0" marL="0">
              <a:buNone/>
            </a:pPr>
            <a:r>
              <a:rPr lang="en-US" sz="1000" dirty="0">
                <a:solidFill>
                  <a:schemeClr val="tx2"/>
                </a:solidFill>
              </a:rPr>
              <a:t>Topic sentence</a:t>
            </a:r>
            <a:endParaRPr lang="en-US" sz="1000" dirty="0"/>
          </a:p>
        </p:txBody>
      </p:sp>
      <p:sp>
        <p:nvSpPr>
          <p:cNvPr id="37" name="Text 35"/>
          <p:cNvSpPr txBox="1"/>
          <p:nvPr/>
        </p:nvSpPr>
        <p:spPr>
          <a:xfrm>
            <a:off x="1024128" y="3529584"/>
            <a:ext cx="2157984" cy="219456"/>
          </a:xfrm>
          <a:prstGeom prst="rect">
            <a:avLst/>
          </a:prstGeom>
          <a:noFill/>
          <a:ln/>
        </p:spPr>
        <p:txBody>
          <a:bodyPr wrap="square" lIns="0" tIns="0" rIns="0" bIns="0" rtlCol="0" anchor="t"/>
          <a:lstStyle/>
          <a:p>
            <a:pPr indent="0" marL="0">
              <a:buNone/>
            </a:pPr>
            <a:r>
              <a:rPr lang="en-US" sz="1100" b="1" dirty="0">
                <a:solidFill>
                  <a:schemeClr val="accent3"/>
                </a:solidFill>
              </a:rPr>
              <a:t>in favor of study → studying ✓</a:t>
            </a:r>
            <a:endParaRPr lang="en-US" sz="1100" dirty="0"/>
          </a:p>
        </p:txBody>
      </p:sp>
      <p:sp>
        <p:nvSpPr>
          <p:cNvPr id="38" name="Shape 36"/>
          <p:cNvSpPr/>
          <p:nvPr/>
        </p:nvSpPr>
        <p:spPr>
          <a:xfrm>
            <a:off x="932688" y="3858768"/>
            <a:ext cx="2340864" cy="475488"/>
          </a:xfrm>
          <a:prstGeom prst="roundRect">
            <a:avLst>
              <a:gd name="adj" fmla="val 15385"/>
            </a:avLst>
          </a:prstGeom>
          <a:solidFill>
            <a:schemeClr val="bg2"/>
          </a:solidFill>
          <a:ln w="12700">
            <a:solidFill>
              <a:schemeClr val="bg1"/>
            </a:solidFill>
            <a:prstDash val="solid"/>
          </a:ln>
        </p:spPr>
      </p:sp>
      <p:sp>
        <p:nvSpPr>
          <p:cNvPr id="39" name="Text 37"/>
          <p:cNvSpPr txBox="1"/>
          <p:nvPr/>
        </p:nvSpPr>
        <p:spPr>
          <a:xfrm>
            <a:off x="1024128" y="3895344"/>
            <a:ext cx="2157984" cy="182880"/>
          </a:xfrm>
          <a:prstGeom prst="rect">
            <a:avLst/>
          </a:prstGeom>
          <a:noFill/>
          <a:ln/>
        </p:spPr>
        <p:txBody>
          <a:bodyPr wrap="square" lIns="0" tIns="0" rIns="0" bIns="0" rtlCol="0" anchor="t"/>
          <a:lstStyle/>
          <a:p>
            <a:pPr indent="0" marL="0">
              <a:buNone/>
            </a:pPr>
            <a:r>
              <a:rPr lang="en-US" sz="1000" dirty="0">
                <a:solidFill>
                  <a:schemeClr val="tx2"/>
                </a:solidFill>
              </a:rPr>
              <a:t>Your idea</a:t>
            </a:r>
            <a:endParaRPr lang="en-US" sz="1000" dirty="0"/>
          </a:p>
        </p:txBody>
      </p:sp>
      <p:sp>
        <p:nvSpPr>
          <p:cNvPr id="40" name="Text 38"/>
          <p:cNvSpPr txBox="1"/>
          <p:nvPr/>
        </p:nvSpPr>
        <p:spPr>
          <a:xfrm>
            <a:off x="1024128" y="4078224"/>
            <a:ext cx="2157984" cy="219456"/>
          </a:xfrm>
          <a:prstGeom prst="rect">
            <a:avLst/>
          </a:prstGeom>
          <a:noFill/>
          <a:ln/>
        </p:spPr>
        <p:txBody>
          <a:bodyPr wrap="square" lIns="0" tIns="0" rIns="0" bIns="0" rtlCol="0" anchor="t"/>
          <a:lstStyle/>
          <a:p>
            <a:pPr indent="0" marL="0">
              <a:buNone/>
            </a:pPr>
            <a:r>
              <a:rPr lang="en-US" sz="1100" b="1" dirty="0">
                <a:solidFill>
                  <a:schemeClr val="accent1"/>
                </a:solidFill>
              </a:rPr>
              <a:t>Discover hidden talents</a:t>
            </a:r>
            <a:endParaRPr lang="en-US" sz="1100" dirty="0"/>
          </a:p>
        </p:txBody>
      </p:sp>
      <p:sp>
        <p:nvSpPr>
          <p:cNvPr id="41" name="Shape 39"/>
          <p:cNvSpPr/>
          <p:nvPr/>
        </p:nvSpPr>
        <p:spPr>
          <a:xfrm>
            <a:off x="932688" y="4407408"/>
            <a:ext cx="2340864" cy="475488"/>
          </a:xfrm>
          <a:prstGeom prst="roundRect">
            <a:avLst>
              <a:gd name="adj" fmla="val 15385"/>
            </a:avLst>
          </a:prstGeom>
          <a:solidFill>
            <a:schemeClr val="bg2"/>
          </a:solidFill>
          <a:ln w="12700">
            <a:solidFill>
              <a:schemeClr val="bg1"/>
            </a:solidFill>
            <a:prstDash val="solid"/>
          </a:ln>
        </p:spPr>
      </p:sp>
      <p:sp>
        <p:nvSpPr>
          <p:cNvPr id="42" name="Text 40"/>
          <p:cNvSpPr txBox="1"/>
          <p:nvPr/>
        </p:nvSpPr>
        <p:spPr>
          <a:xfrm>
            <a:off x="1024128" y="4443984"/>
            <a:ext cx="2157984" cy="182880"/>
          </a:xfrm>
          <a:prstGeom prst="rect">
            <a:avLst/>
          </a:prstGeom>
          <a:noFill/>
          <a:ln/>
        </p:spPr>
        <p:txBody>
          <a:bodyPr wrap="square" lIns="0" tIns="0" rIns="0" bIns="0" rtlCol="0" anchor="t"/>
          <a:lstStyle/>
          <a:p>
            <a:pPr indent="0" marL="0">
              <a:buNone/>
            </a:pPr>
            <a:r>
              <a:rPr lang="en-US" sz="1000" dirty="0">
                <a:solidFill>
                  <a:schemeClr val="tx2"/>
                </a:solidFill>
              </a:rPr>
              <a:t>Your paragraph</a:t>
            </a:r>
            <a:endParaRPr lang="en-US" sz="1000" dirty="0"/>
          </a:p>
        </p:txBody>
      </p:sp>
      <p:sp>
        <p:nvSpPr>
          <p:cNvPr id="43" name="Text 41"/>
          <p:cNvSpPr txBox="1"/>
          <p:nvPr/>
        </p:nvSpPr>
        <p:spPr>
          <a:xfrm>
            <a:off x="1024128" y="4626864"/>
            <a:ext cx="2157984" cy="219456"/>
          </a:xfrm>
          <a:prstGeom prst="rect">
            <a:avLst/>
          </a:prstGeom>
          <a:noFill/>
          <a:ln/>
        </p:spPr>
        <p:txBody>
          <a:bodyPr wrap="square" lIns="0" tIns="0" rIns="0" bIns="0" rtlCol="0" anchor="t"/>
          <a:lstStyle/>
          <a:p>
            <a:pPr indent="0" marL="0">
              <a:buNone/>
            </a:pPr>
            <a:r>
              <a:rPr lang="en-US" sz="1100" b="1" dirty="0">
                <a:solidFill>
                  <a:schemeClr val="accent3"/>
                </a:solidFill>
              </a:rPr>
              <a:t>Done, with 2 fixes ✓</a:t>
            </a:r>
            <a:endParaRPr lang="en-US" sz="1100" dirty="0"/>
          </a:p>
        </p:txBody>
      </p:sp>
      <p:sp>
        <p:nvSpPr>
          <p:cNvPr id="44" name="Shape 42"/>
          <p:cNvSpPr/>
          <p:nvPr/>
        </p:nvSpPr>
        <p:spPr>
          <a:xfrm>
            <a:off x="932688" y="5001768"/>
            <a:ext cx="2340864" cy="640080"/>
          </a:xfrm>
          <a:prstGeom prst="roundRect">
            <a:avLst>
              <a:gd name="adj" fmla="val 11429"/>
            </a:avLst>
          </a:prstGeom>
          <a:solidFill>
            <a:schemeClr val="accent2">
              <a:alpha val="12000"/>
            </a:schemeClr>
          </a:solidFill>
          <a:ln w="12700">
            <a:solidFill>
              <a:schemeClr val="bg1"/>
            </a:solidFill>
            <a:prstDash val="solid"/>
          </a:ln>
        </p:spPr>
      </p:sp>
      <p:sp>
        <p:nvSpPr>
          <p:cNvPr id="45" name="Text 43"/>
          <p:cNvSpPr txBox="1"/>
          <p:nvPr/>
        </p:nvSpPr>
        <p:spPr>
          <a:xfrm>
            <a:off x="1024128" y="5001768"/>
            <a:ext cx="2157984" cy="640080"/>
          </a:xfrm>
          <a:prstGeom prst="rect">
            <a:avLst/>
          </a:prstGeom>
          <a:noFill/>
          <a:ln/>
        </p:spPr>
        <p:txBody>
          <a:bodyPr wrap="square" lIns="0" tIns="0" rIns="0" bIns="0" rtlCol="0" anchor="ctr"/>
          <a:lstStyle/>
          <a:p>
            <a:pPr indent="0" marL="0">
              <a:buNone/>
            </a:pPr>
            <a:r>
              <a:rPr lang="en-US" sz="1200" b="1" dirty="0">
                <a:solidFill>
                  <a:schemeClr val="accent2"/>
                </a:solidFill>
              </a:rPr>
              <a:t>Remember: in favor of + V-ing</a:t>
            </a:r>
            <a:endParaRPr lang="en-US" sz="1200" dirty="0"/>
          </a:p>
        </p:txBody>
      </p:sp>
      <p:sp>
        <p:nvSpPr>
          <p:cNvPr id="46" name="Practise button"/>
          <p:cNvSpPr/>
          <p:nvPr/>
        </p:nvSpPr>
        <p:spPr>
          <a:xfrm>
            <a:off x="932688" y="5760720"/>
            <a:ext cx="2340864" cy="365760"/>
          </a:xfrm>
          <a:prstGeom prst="roundRect">
            <a:avLst>
              <a:gd name="adj" fmla="val 50000"/>
            </a:avLst>
          </a:prstGeom>
          <a:solidFill>
            <a:schemeClr val="accent1"/>
          </a:solidFill>
          <a:ln w="12700">
            <a:solidFill>
              <a:schemeClr val="bg1"/>
            </a:solidFill>
            <a:prstDash val="solid"/>
          </a:ln>
        </p:spPr>
      </p:sp>
      <p:sp>
        <p:nvSpPr>
          <p:cNvPr id="47" name="Text 45"/>
          <p:cNvSpPr txBox="1"/>
          <p:nvPr/>
        </p:nvSpPr>
        <p:spPr>
          <a:xfrm>
            <a:off x="932688" y="5760720"/>
            <a:ext cx="2340864" cy="365760"/>
          </a:xfrm>
          <a:prstGeom prst="rect">
            <a:avLst/>
          </a:prstGeom>
          <a:noFill/>
          <a:ln/>
        </p:spPr>
        <p:txBody>
          <a:bodyPr wrap="square" lIns="0" tIns="0" rIns="0" bIns="0" rtlCol="0" anchor="ctr"/>
          <a:lstStyle/>
          <a:p>
            <a:pPr algn="ctr" indent="0" marL="0">
              <a:buNone/>
            </a:pPr>
            <a:r>
              <a:rPr lang="en-US" sz="1100" b="1" dirty="0">
                <a:solidFill>
                  <a:schemeClr val="bg1"/>
                </a:solidFill>
              </a:rPr>
              <a:t>Practise this again</a:t>
            </a:r>
            <a:endParaRPr lang="en-US" sz="1100" dirty="0"/>
          </a:p>
        </p:txBody>
      </p:sp>
      <p:sp>
        <p:nvSpPr>
          <p:cNvPr id="48" name="Text 46"/>
          <p:cNvSpPr txBox="1"/>
          <p:nvPr/>
        </p:nvSpPr>
        <p:spPr>
          <a:xfrm>
            <a:off x="4251960" y="2377440"/>
            <a:ext cx="5394960" cy="292608"/>
          </a:xfrm>
          <a:prstGeom prst="rect">
            <a:avLst/>
          </a:prstGeom>
          <a:noFill/>
          <a:ln/>
        </p:spPr>
        <p:txBody>
          <a:bodyPr wrap="square" lIns="0" tIns="0" rIns="0" bIns="0" rtlCol="0" anchor="t"/>
          <a:lstStyle/>
          <a:p>
            <a:pPr indent="0" marL="0">
              <a:buNone/>
            </a:pPr>
            <a:r>
              <a:rPr lang="en-US" sz="1500" b="1" dirty="0">
                <a:solidFill>
                  <a:schemeClr val="tx1"/>
                </a:solidFill>
              </a:rPr>
              <a:t>Where the class got lost</a:t>
            </a:r>
            <a:endParaRPr lang="en-US" sz="1500" dirty="0"/>
          </a:p>
        </p:txBody>
      </p:sp>
      <p:graphicFrame>
        <p:nvGraphicFramePr>
          <p:cNvPr id="49" name="Confusion timeline chart" descr=""/>
          <p:cNvGraphicFramePr/>
          <p:nvPr/>
        </p:nvGraphicFramePr>
        <p:xfrm>
          <a:off x="4160520" y="2697480"/>
          <a:ext cx="5532120" cy="2286000"/>
        </p:xfrm>
        <a:graphic xmlns:a="http://schemas.openxmlformats.org/drawingml/2006/main">
          <a:graphicData uri="http://schemas.openxmlformats.org/drawingml/2006/chart">
            <c:chart xmlns:c="http://schemas.openxmlformats.org/drawingml/2006/chart" r:id="rId1"/>
          </a:graphicData>
        </a:graphic>
      </p:graphicFrame>
      <p:sp>
        <p:nvSpPr>
          <p:cNvPr id="50" name="Text 47"/>
          <p:cNvSpPr txBox="1"/>
          <p:nvPr/>
        </p:nvSpPr>
        <p:spPr>
          <a:xfrm>
            <a:off x="4251960" y="5029200"/>
            <a:ext cx="5394960" cy="228600"/>
          </a:xfrm>
          <a:prstGeom prst="rect">
            <a:avLst/>
          </a:prstGeom>
          <a:noFill/>
          <a:ln/>
        </p:spPr>
        <p:txBody>
          <a:bodyPr wrap="square" lIns="0" tIns="0" rIns="0" bIns="0" rtlCol="0" anchor="t"/>
          <a:lstStyle/>
          <a:p>
            <a:pPr indent="0" marL="0">
              <a:buNone/>
            </a:pPr>
            <a:r>
              <a:rPr lang="en-US" sz="1100" b="1" dirty="0">
                <a:solidFill>
                  <a:schemeClr val="accent2"/>
                </a:solidFill>
              </a:rPr>
              <a:t>▲ 34% at min 15: “in favor of + V-ing”</a:t>
            </a:r>
            <a:endParaRPr lang="en-US" sz="1100" dirty="0"/>
          </a:p>
        </p:txBody>
      </p:sp>
      <p:sp>
        <p:nvSpPr>
          <p:cNvPr id="51" name="Text 48"/>
          <p:cNvSpPr txBox="1"/>
          <p:nvPr/>
        </p:nvSpPr>
        <p:spPr>
          <a:xfrm>
            <a:off x="4251960" y="5349240"/>
            <a:ext cx="1280160" cy="457200"/>
          </a:xfrm>
          <a:prstGeom prst="rect">
            <a:avLst/>
          </a:prstGeom>
          <a:noFill/>
          <a:ln/>
        </p:spPr>
        <p:txBody>
          <a:bodyPr wrap="square" lIns="0" tIns="0" rIns="0" bIns="0" rtlCol="0" anchor="ctr"/>
          <a:lstStyle/>
          <a:p>
            <a:pPr indent="0" marL="0">
              <a:buNone/>
            </a:pPr>
            <a:r>
              <a:rPr lang="en-US" sz="2200" b="1" dirty="0">
                <a:solidFill>
                  <a:schemeClr val="accent1"/>
                </a:solidFill>
              </a:rPr>
              <a:t>91%</a:t>
            </a:r>
            <a:endParaRPr lang="en-US" sz="2200" dirty="0"/>
          </a:p>
        </p:txBody>
      </p:sp>
      <p:sp>
        <p:nvSpPr>
          <p:cNvPr id="52" name="Text 49"/>
          <p:cNvSpPr txBox="1"/>
          <p:nvPr/>
        </p:nvSpPr>
        <p:spPr>
          <a:xfrm>
            <a:off x="4251960" y="5806440"/>
            <a:ext cx="1280160" cy="365760"/>
          </a:xfrm>
          <a:prstGeom prst="rect">
            <a:avLst/>
          </a:prstGeom>
          <a:noFill/>
          <a:ln/>
        </p:spPr>
        <p:txBody>
          <a:bodyPr wrap="square" lIns="0" tIns="0" rIns="0" bIns="0" rtlCol="0" anchor="t"/>
          <a:lstStyle/>
          <a:p>
            <a:pPr indent="0" marL="0">
              <a:buNone/>
            </a:pPr>
            <a:r>
              <a:rPr lang="en-US" sz="1000" dirty="0">
                <a:solidFill>
                  <a:schemeClr val="tx2"/>
                </a:solidFill>
              </a:rPr>
              <a:t>joined in at least once</a:t>
            </a:r>
            <a:endParaRPr lang="en-US" sz="1000" dirty="0"/>
          </a:p>
        </p:txBody>
      </p:sp>
      <p:sp>
        <p:nvSpPr>
          <p:cNvPr id="53" name="Text 50"/>
          <p:cNvSpPr txBox="1"/>
          <p:nvPr/>
        </p:nvSpPr>
        <p:spPr>
          <a:xfrm>
            <a:off x="5623560" y="5349240"/>
            <a:ext cx="1280160" cy="457200"/>
          </a:xfrm>
          <a:prstGeom prst="rect">
            <a:avLst/>
          </a:prstGeom>
          <a:noFill/>
          <a:ln/>
        </p:spPr>
        <p:txBody>
          <a:bodyPr wrap="square" lIns="0" tIns="0" rIns="0" bIns="0" rtlCol="0" anchor="ctr"/>
          <a:lstStyle/>
          <a:p>
            <a:pPr indent="0" marL="0">
              <a:buNone/>
            </a:pPr>
            <a:r>
              <a:rPr lang="en-US" sz="2200" b="1" dirty="0">
                <a:solidFill>
                  <a:schemeClr val="accent1"/>
                </a:solidFill>
              </a:rPr>
              <a:t>1,106</a:t>
            </a:r>
            <a:endParaRPr lang="en-US" sz="2200" dirty="0"/>
          </a:p>
        </p:txBody>
      </p:sp>
      <p:sp>
        <p:nvSpPr>
          <p:cNvPr id="54" name="Text 51"/>
          <p:cNvSpPr txBox="1"/>
          <p:nvPr/>
        </p:nvSpPr>
        <p:spPr>
          <a:xfrm>
            <a:off x="5623560" y="5806440"/>
            <a:ext cx="1280160" cy="365760"/>
          </a:xfrm>
          <a:prstGeom prst="rect">
            <a:avLst/>
          </a:prstGeom>
          <a:noFill/>
          <a:ln/>
        </p:spPr>
        <p:txBody>
          <a:bodyPr wrap="square" lIns="0" tIns="0" rIns="0" bIns="0" rtlCol="0" anchor="t"/>
          <a:lstStyle/>
          <a:p>
            <a:pPr indent="0" marL="0">
              <a:buNone/>
            </a:pPr>
            <a:r>
              <a:rPr lang="en-US" sz="1000" dirty="0">
                <a:solidFill>
                  <a:schemeClr val="tx2"/>
                </a:solidFill>
              </a:rPr>
              <a:t>topic sentences</a:t>
            </a:r>
            <a:endParaRPr lang="en-US" sz="1000" dirty="0"/>
          </a:p>
        </p:txBody>
      </p:sp>
      <p:sp>
        <p:nvSpPr>
          <p:cNvPr id="55" name="Text 52"/>
          <p:cNvSpPr txBox="1"/>
          <p:nvPr/>
        </p:nvSpPr>
        <p:spPr>
          <a:xfrm>
            <a:off x="6995160" y="5349240"/>
            <a:ext cx="1280160" cy="457200"/>
          </a:xfrm>
          <a:prstGeom prst="rect">
            <a:avLst/>
          </a:prstGeom>
          <a:noFill/>
          <a:ln/>
        </p:spPr>
        <p:txBody>
          <a:bodyPr wrap="square" lIns="0" tIns="0" rIns="0" bIns="0" rtlCol="0" anchor="ctr"/>
          <a:lstStyle/>
          <a:p>
            <a:pPr indent="0" marL="0">
              <a:buNone/>
            </a:pPr>
            <a:r>
              <a:rPr lang="en-US" sz="2200" b="1" dirty="0">
                <a:solidFill>
                  <a:schemeClr val="accent1"/>
                </a:solidFill>
              </a:rPr>
              <a:t>903</a:t>
            </a:r>
            <a:endParaRPr lang="en-US" sz="2200" dirty="0"/>
          </a:p>
        </p:txBody>
      </p:sp>
      <p:sp>
        <p:nvSpPr>
          <p:cNvPr id="56" name="Text 53"/>
          <p:cNvSpPr txBox="1"/>
          <p:nvPr/>
        </p:nvSpPr>
        <p:spPr>
          <a:xfrm>
            <a:off x="6995160" y="5806440"/>
            <a:ext cx="1280160" cy="365760"/>
          </a:xfrm>
          <a:prstGeom prst="rect">
            <a:avLst/>
          </a:prstGeom>
          <a:noFill/>
          <a:ln/>
        </p:spPr>
        <p:txBody>
          <a:bodyPr wrap="square" lIns="0" tIns="0" rIns="0" bIns="0" rtlCol="0" anchor="t"/>
          <a:lstStyle/>
          <a:p>
            <a:pPr indent="0" marL="0">
              <a:buNone/>
            </a:pPr>
            <a:r>
              <a:rPr lang="en-US" sz="1000" dirty="0">
                <a:solidFill>
                  <a:schemeClr val="tx2"/>
                </a:solidFill>
              </a:rPr>
              <a:t>paragraphs</a:t>
            </a:r>
            <a:endParaRPr lang="en-US" sz="1000" dirty="0"/>
          </a:p>
        </p:txBody>
      </p:sp>
      <p:sp>
        <p:nvSpPr>
          <p:cNvPr id="57" name="Text 54"/>
          <p:cNvSpPr txBox="1"/>
          <p:nvPr/>
        </p:nvSpPr>
        <p:spPr>
          <a:xfrm>
            <a:off x="8366760" y="5349240"/>
            <a:ext cx="1280160" cy="457200"/>
          </a:xfrm>
          <a:prstGeom prst="rect">
            <a:avLst/>
          </a:prstGeom>
          <a:noFill/>
          <a:ln/>
        </p:spPr>
        <p:txBody>
          <a:bodyPr wrap="square" lIns="0" tIns="0" rIns="0" bIns="0" rtlCol="0" anchor="ctr"/>
          <a:lstStyle/>
          <a:p>
            <a:pPr indent="0" marL="0">
              <a:buNone/>
            </a:pPr>
            <a:r>
              <a:rPr lang="en-US" sz="2200" b="1" dirty="0">
                <a:solidFill>
                  <a:schemeClr val="accent1"/>
                </a:solidFill>
              </a:rPr>
              <a:t>1,198</a:t>
            </a:r>
            <a:endParaRPr lang="en-US" sz="2200" dirty="0"/>
          </a:p>
        </p:txBody>
      </p:sp>
      <p:sp>
        <p:nvSpPr>
          <p:cNvPr id="58" name="Text 55"/>
          <p:cNvSpPr txBox="1"/>
          <p:nvPr/>
        </p:nvSpPr>
        <p:spPr>
          <a:xfrm>
            <a:off x="8366760" y="5806440"/>
            <a:ext cx="1280160" cy="365760"/>
          </a:xfrm>
          <a:prstGeom prst="rect">
            <a:avLst/>
          </a:prstGeom>
          <a:noFill/>
          <a:ln/>
        </p:spPr>
        <p:txBody>
          <a:bodyPr wrap="square" lIns="0" tIns="0" rIns="0" bIns="0" rtlCol="0" anchor="t"/>
          <a:lstStyle/>
          <a:p>
            <a:pPr indent="0" marL="0">
              <a:buNone/>
            </a:pPr>
            <a:r>
              <a:rPr lang="en-US" sz="1000" dirty="0">
                <a:solidFill>
                  <a:schemeClr val="tx2"/>
                </a:solidFill>
              </a:rPr>
              <a:t>recap pages sent</a:t>
            </a:r>
            <a:endParaRPr lang="en-US" sz="1000" dirty="0"/>
          </a:p>
        </p:txBody>
      </p:sp>
      <p:sp>
        <p:nvSpPr>
          <p:cNvPr id="59" name="Confusion meter panel"/>
          <p:cNvSpPr/>
          <p:nvPr/>
        </p:nvSpPr>
        <p:spPr>
          <a:xfrm>
            <a:off x="9829800" y="2377440"/>
            <a:ext cx="1783080" cy="3840480"/>
          </a:xfrm>
          <a:prstGeom prst="roundRect">
            <a:avLst>
              <a:gd name="adj" fmla="val 4103"/>
            </a:avLst>
          </a:prstGeom>
          <a:solidFill>
            <a:schemeClr val="bg2"/>
          </a:solidFill>
          <a:ln w="12700">
            <a:solidFill>
              <a:schemeClr val="bg1"/>
            </a:solidFill>
            <a:prstDash val="solid"/>
          </a:ln>
        </p:spPr>
      </p:sp>
      <p:sp>
        <p:nvSpPr>
          <p:cNvPr id="60" name="Text 57"/>
          <p:cNvSpPr txBox="1"/>
          <p:nvPr/>
        </p:nvSpPr>
        <p:spPr>
          <a:xfrm>
            <a:off x="9966960" y="2514600"/>
            <a:ext cx="1508760" cy="274320"/>
          </a:xfrm>
          <a:prstGeom prst="rect">
            <a:avLst/>
          </a:prstGeom>
          <a:noFill/>
          <a:ln/>
        </p:spPr>
        <p:txBody>
          <a:bodyPr wrap="square" lIns="0" tIns="0" rIns="0" bIns="0" rtlCol="0" anchor="t"/>
          <a:lstStyle/>
          <a:p>
            <a:pPr indent="0" marL="0">
              <a:buNone/>
            </a:pPr>
            <a:r>
              <a:rPr lang="en-US" sz="1200" b="1" dirty="0">
                <a:solidFill>
                  <a:schemeClr val="tx1"/>
                </a:solidFill>
              </a:rPr>
              <a:t>Don't understand</a:t>
            </a:r>
            <a:endParaRPr lang="en-US" sz="1200" dirty="0"/>
          </a:p>
        </p:txBody>
      </p:sp>
      <p:sp>
        <p:nvSpPr>
          <p:cNvPr id="61" name="Text 58"/>
          <p:cNvSpPr txBox="1"/>
          <p:nvPr/>
        </p:nvSpPr>
        <p:spPr>
          <a:xfrm>
            <a:off x="9966960" y="2834640"/>
            <a:ext cx="1508760" cy="777240"/>
          </a:xfrm>
          <a:prstGeom prst="rect">
            <a:avLst/>
          </a:prstGeom>
          <a:noFill/>
          <a:ln/>
        </p:spPr>
        <p:txBody>
          <a:bodyPr wrap="square" lIns="0" tIns="0" rIns="0" bIns="0" rtlCol="0" anchor="ctr"/>
          <a:lstStyle/>
          <a:p>
            <a:pPr indent="0" marL="0">
              <a:buNone/>
            </a:pPr>
            <a:r>
              <a:rPr lang="en-US" sz="4400" b="1" dirty="0">
                <a:solidFill>
                  <a:schemeClr val="tx1"/>
                </a:solidFill>
              </a:rPr>
              <a:t>7%</a:t>
            </a:r>
            <a:endParaRPr lang="en-US" sz="4400" dirty="0"/>
          </a:p>
        </p:txBody>
      </p:sp>
      <p:sp>
        <p:nvSpPr>
          <p:cNvPr id="62" name="Text 59"/>
          <p:cNvSpPr txBox="1"/>
          <p:nvPr/>
        </p:nvSpPr>
        <p:spPr>
          <a:xfrm>
            <a:off x="9966960" y="3639312"/>
            <a:ext cx="1508760" cy="228600"/>
          </a:xfrm>
          <a:prstGeom prst="rect">
            <a:avLst/>
          </a:prstGeom>
          <a:noFill/>
          <a:ln/>
        </p:spPr>
        <p:txBody>
          <a:bodyPr wrap="square" lIns="0" tIns="0" rIns="0" bIns="0" rtlCol="0" anchor="t"/>
          <a:lstStyle/>
          <a:p>
            <a:pPr indent="0" marL="0">
              <a:buNone/>
            </a:pPr>
            <a:r>
              <a:rPr lang="en-US" sz="1000" dirty="0">
                <a:solidFill>
                  <a:schemeClr val="tx2"/>
                </a:solidFill>
              </a:rPr>
              <a:t>90 students right now</a:t>
            </a:r>
            <a:endParaRPr lang="en-US" sz="1000" dirty="0"/>
          </a:p>
        </p:txBody>
      </p:sp>
      <p:sp>
        <p:nvSpPr>
          <p:cNvPr id="63" name="Meter track"/>
          <p:cNvSpPr/>
          <p:nvPr/>
        </p:nvSpPr>
        <p:spPr>
          <a:xfrm>
            <a:off x="9966960" y="4023360"/>
            <a:ext cx="1508760" cy="146304"/>
          </a:xfrm>
          <a:prstGeom prst="roundRect">
            <a:avLst>
              <a:gd name="adj" fmla="val 50000"/>
            </a:avLst>
          </a:prstGeom>
          <a:solidFill>
            <a:schemeClr val="bg1"/>
          </a:solidFill>
          <a:ln w="9525">
            <a:solidFill>
              <a:schemeClr val="accent5"/>
            </a:solidFill>
            <a:prstDash val="solid"/>
          </a:ln>
        </p:spPr>
      </p:sp>
      <p:sp>
        <p:nvSpPr>
          <p:cNvPr id="64" name="Meter fill"/>
          <p:cNvSpPr/>
          <p:nvPr/>
        </p:nvSpPr>
        <p:spPr>
          <a:xfrm>
            <a:off x="9966960" y="4023360"/>
            <a:ext cx="146304" cy="146304"/>
          </a:xfrm>
          <a:prstGeom prst="roundRect">
            <a:avLst>
              <a:gd name="adj" fmla="val 50000"/>
            </a:avLst>
          </a:prstGeom>
          <a:solidFill>
            <a:schemeClr val="accent3"/>
          </a:solidFill>
          <a:ln w="12700">
            <a:solidFill>
              <a:schemeClr val="bg1"/>
            </a:solidFill>
            <a:prstDash val="solid"/>
          </a:ln>
        </p:spPr>
      </p:sp>
      <p:sp>
        <p:nvSpPr>
          <p:cNvPr id="65" name="Alert threshold"/>
          <p:cNvSpPr/>
          <p:nvPr/>
        </p:nvSpPr>
        <p:spPr>
          <a:xfrm>
            <a:off x="10419588" y="3950208"/>
            <a:ext cx="0" cy="292608"/>
          </a:xfrm>
          <a:prstGeom prst="line">
            <a:avLst/>
          </a:prstGeom>
          <a:noFill/>
          <a:ln w="15875">
            <a:solidFill>
              <a:schemeClr val="tx1"/>
            </a:solidFill>
            <a:prstDash val="dash"/>
          </a:ln>
        </p:spPr>
      </p:sp>
      <p:sp>
        <p:nvSpPr>
          <p:cNvPr id="66" name="Text 63"/>
          <p:cNvSpPr txBox="1"/>
          <p:nvPr/>
        </p:nvSpPr>
        <p:spPr>
          <a:xfrm>
            <a:off x="9966960" y="4297680"/>
            <a:ext cx="1508760" cy="201168"/>
          </a:xfrm>
          <a:prstGeom prst="rect">
            <a:avLst/>
          </a:prstGeom>
          <a:noFill/>
          <a:ln/>
        </p:spPr>
        <p:txBody>
          <a:bodyPr wrap="square" lIns="0" tIns="0" rIns="0" bIns="0" rtlCol="0" anchor="t"/>
          <a:lstStyle/>
          <a:p>
            <a:pPr indent="0" marL="0">
              <a:buNone/>
            </a:pPr>
            <a:r>
              <a:rPr lang="en-US" sz="1000" dirty="0">
                <a:solidFill>
                  <a:schemeClr val="tx2"/>
                </a:solidFill>
              </a:rPr>
              <a:t>Alert at 30%</a:t>
            </a:r>
            <a:endParaRPr lang="en-US" sz="1000" dirty="0"/>
          </a:p>
        </p:txBody>
      </p:sp>
      <p:sp>
        <p:nvSpPr>
          <p:cNvPr id="67" name="Text 64"/>
          <p:cNvSpPr txBox="1"/>
          <p:nvPr/>
        </p:nvSpPr>
        <p:spPr>
          <a:xfrm>
            <a:off x="9966960" y="4892040"/>
            <a:ext cx="1508760" cy="548640"/>
          </a:xfrm>
          <a:prstGeom prst="rect">
            <a:avLst/>
          </a:prstGeom>
          <a:noFill/>
          <a:ln/>
        </p:spPr>
        <p:txBody>
          <a:bodyPr wrap="square" lIns="0" tIns="0" rIns="0" bIns="0" rtlCol="0" anchor="t"/>
          <a:lstStyle/>
          <a:p>
            <a:pPr indent="0" marL="0">
              <a:buNone/>
            </a:pPr>
            <a:r>
              <a:rPr lang="en-US" sz="1200" b="1" dirty="0">
                <a:solidFill>
                  <a:schemeClr val="accent3"/>
                </a:solidFill>
              </a:rPr>
              <a:t>Class is following.</a:t>
            </a:r>
            <a:endParaRPr lang="en-US" sz="1200" dirty="0"/>
          </a:p>
          <a:p>
            <a:pPr indent="0" marL="0">
              <a:buNone/>
            </a:pPr>
            <a:r>
              <a:rPr lang="en-US" sz="1200" b="1" dirty="0">
                <a:solidFill>
                  <a:schemeClr val="accent3"/>
                </a:solidFill>
              </a:rPr>
              <a:t>Keep going.</a:t>
            </a:r>
            <a:endParaRPr lang="en-US" sz="120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411480"/>
            <a:ext cx="11247120" cy="685800"/>
          </a:xfrm>
          <a:prstGeom prst="rect">
            <a:avLst/>
          </a:prstGeom>
          <a:noFill/>
          <a:ln/>
        </p:spPr>
        <p:txBody>
          <a:bodyPr wrap="square" lIns="0" tIns="0" rIns="0" bIns="0" rtlCol="0" anchor="ctr"/>
          <a:lstStyle/>
          <a:p>
            <a:pPr algn="l" indent="0" marL="0">
              <a:buNone/>
            </a:pPr>
            <a:r>
              <a:rPr lang="en-US" sz="3600" b="1" dirty="0">
                <a:solidFill>
                  <a:schemeClr val="bg1"/>
                </a:solidFill>
              </a:rPr>
              <a:t>From vision to every week</a:t>
            </a:r>
            <a:endParaRPr lang="en-US" sz="3600" dirty="0"/>
          </a:p>
        </p:txBody>
      </p:sp>
      <p:sp>
        <p:nvSpPr>
          <p:cNvPr id="3" name="Text 0"/>
          <p:cNvSpPr/>
          <p:nvPr>
            <p:ph idx="101" type="body" hasCustomPrompt="1"/>
          </p:nvPr>
        </p:nvSpPr>
        <p:spPr>
          <a:xfrm>
            <a:off x="457200" y="1097280"/>
            <a:ext cx="11247120" cy="411480"/>
          </a:xfrm>
          <a:prstGeom prst="rect">
            <a:avLst/>
          </a:prstGeom>
          <a:noFill/>
          <a:ln/>
        </p:spPr>
        <p:txBody>
          <a:bodyPr wrap="square" lIns="0" tIns="0" rIns="0" bIns="0" rtlCol="0" anchor="ctr"/>
          <a:lstStyle/>
          <a:p>
            <a:pPr indent="0" marL="0">
              <a:buNone/>
            </a:pPr>
            <a:r>
              <a:rPr lang="en-US" sz="1800" dirty="0">
                <a:solidFill>
                  <a:schemeClr val="accent5"/>
                </a:solidFill>
              </a:rPr>
              <a:t>Start small, get feedback from real students, then grow</a:t>
            </a:r>
            <a:endParaRPr lang="en-US" sz="1800" dirty="0"/>
          </a:p>
        </p:txBody>
      </p:sp>
      <p:sp>
        <p:nvSpPr>
          <p:cNvPr id="4" name="Phase 0"/>
          <p:cNvSpPr/>
          <p:nvPr/>
        </p:nvSpPr>
        <p:spPr>
          <a:xfrm>
            <a:off x="457200" y="1874520"/>
            <a:ext cx="2651760" cy="2606040"/>
          </a:xfrm>
          <a:prstGeom prst="roundRect">
            <a:avLst>
              <a:gd name="adj" fmla="val 4211"/>
            </a:avLst>
          </a:prstGeom>
          <a:solidFill>
            <a:schemeClr val="accent1"/>
          </a:solidFill>
          <a:ln w="12700">
            <a:solidFill>
              <a:schemeClr val="accent1"/>
            </a:solidFill>
            <a:prstDash val="solid"/>
          </a:ln>
        </p:spPr>
      </p:sp>
      <p:sp>
        <p:nvSpPr>
          <p:cNvPr id="5" name="Phase 0 number"/>
          <p:cNvSpPr/>
          <p:nvPr/>
        </p:nvSpPr>
        <p:spPr>
          <a:xfrm>
            <a:off x="685800" y="2103120"/>
            <a:ext cx="502920" cy="502920"/>
          </a:xfrm>
          <a:prstGeom prst="ellipse">
            <a:avLst/>
          </a:prstGeom>
          <a:solidFill>
            <a:schemeClr val="bg1"/>
          </a:solidFill>
          <a:ln w="12700">
            <a:solidFill>
              <a:schemeClr val="bg1"/>
            </a:solidFill>
            <a:prstDash val="solid"/>
          </a:ln>
        </p:spPr>
      </p:sp>
      <p:sp>
        <p:nvSpPr>
          <p:cNvPr id="6" name="Text 4"/>
          <p:cNvSpPr txBox="1"/>
          <p:nvPr/>
        </p:nvSpPr>
        <p:spPr>
          <a:xfrm>
            <a:off x="685800" y="2103120"/>
            <a:ext cx="502920" cy="502920"/>
          </a:xfrm>
          <a:prstGeom prst="rect">
            <a:avLst/>
          </a:prstGeom>
          <a:noFill/>
          <a:ln/>
        </p:spPr>
        <p:txBody>
          <a:bodyPr wrap="square" lIns="0" tIns="0" rIns="0" bIns="0" rtlCol="0" anchor="ctr"/>
          <a:lstStyle/>
          <a:p>
            <a:pPr algn="ctr" indent="0" marL="0">
              <a:buNone/>
            </a:pPr>
            <a:r>
              <a:rPr lang="en-US" sz="1800" b="1" dirty="0">
                <a:solidFill>
                  <a:schemeClr val="accent1"/>
                </a:solidFill>
              </a:rPr>
              <a:t>0</a:t>
            </a:r>
            <a:endParaRPr lang="en-US" sz="1800" dirty="0"/>
          </a:p>
        </p:txBody>
      </p:sp>
      <p:sp>
        <p:nvSpPr>
          <p:cNvPr id="7" name="Text 5"/>
          <p:cNvSpPr txBox="1"/>
          <p:nvPr/>
        </p:nvSpPr>
        <p:spPr>
          <a:xfrm>
            <a:off x="1325880" y="2221992"/>
            <a:ext cx="1645920" cy="274320"/>
          </a:xfrm>
          <a:prstGeom prst="rect">
            <a:avLst/>
          </a:prstGeom>
          <a:noFill/>
          <a:ln/>
        </p:spPr>
        <p:txBody>
          <a:bodyPr wrap="square" lIns="0" tIns="0" rIns="0" bIns="0" rtlCol="0" anchor="ctr"/>
          <a:lstStyle/>
          <a:p>
            <a:pPr indent="0" marL="0">
              <a:buNone/>
            </a:pPr>
            <a:r>
              <a:rPr lang="en-US" sz="1100" b="1" spc="100" kern="0" dirty="0">
                <a:solidFill>
                  <a:schemeClr val="bg1"/>
                </a:solidFill>
              </a:rPr>
              <a:t>WE ARE HERE</a:t>
            </a:r>
            <a:endParaRPr lang="en-US" sz="1100" dirty="0"/>
          </a:p>
        </p:txBody>
      </p:sp>
      <p:sp>
        <p:nvSpPr>
          <p:cNvPr id="8" name="Text 6"/>
          <p:cNvSpPr txBox="1"/>
          <p:nvPr/>
        </p:nvSpPr>
        <p:spPr>
          <a:xfrm>
            <a:off x="685800" y="2788920"/>
            <a:ext cx="2194560" cy="411480"/>
          </a:xfrm>
          <a:prstGeom prst="rect">
            <a:avLst/>
          </a:prstGeom>
          <a:noFill/>
          <a:ln/>
        </p:spPr>
        <p:txBody>
          <a:bodyPr wrap="square" lIns="0" tIns="0" rIns="0" bIns="0" rtlCol="0" anchor="t"/>
          <a:lstStyle/>
          <a:p>
            <a:pPr indent="0" marL="0">
              <a:buNone/>
            </a:pPr>
            <a:r>
              <a:rPr lang="en-US" sz="2000" b="1" dirty="0">
                <a:solidFill>
                  <a:schemeClr val="bg1"/>
                </a:solidFill>
              </a:rPr>
              <a:t>Vision demo</a:t>
            </a:r>
            <a:endParaRPr lang="en-US" sz="2000" dirty="0"/>
          </a:p>
        </p:txBody>
      </p:sp>
      <p:sp>
        <p:nvSpPr>
          <p:cNvPr id="9" name="Text 7"/>
          <p:cNvSpPr txBox="1"/>
          <p:nvPr/>
        </p:nvSpPr>
        <p:spPr>
          <a:xfrm>
            <a:off x="685800" y="3246120"/>
            <a:ext cx="2194560" cy="1463040"/>
          </a:xfrm>
          <a:prstGeom prst="rect">
            <a:avLst/>
          </a:prstGeom>
          <a:noFill/>
          <a:ln/>
        </p:spPr>
        <p:txBody>
          <a:bodyPr wrap="square" lIns="0" tIns="0" rIns="0" bIns="0" rtlCol="0" anchor="t"/>
          <a:lstStyle/>
          <a:p>
            <a:pPr indent="0" marL="0">
              <a:buNone/>
            </a:pPr>
            <a:r>
              <a:rPr lang="en-US" sz="1400" dirty="0">
                <a:solidFill>
                  <a:schemeClr val="bg1"/>
                </a:solidFill>
              </a:rPr>
              <a:t>This deck. Show the idea and agree on it.</a:t>
            </a:r>
            <a:endParaRPr lang="en-US" sz="1400" dirty="0"/>
          </a:p>
        </p:txBody>
      </p:sp>
      <p:sp>
        <p:nvSpPr>
          <p:cNvPr id="10" name="Phase 1"/>
          <p:cNvSpPr/>
          <p:nvPr/>
        </p:nvSpPr>
        <p:spPr>
          <a:xfrm>
            <a:off x="3319272" y="1874520"/>
            <a:ext cx="2651760" cy="2606040"/>
          </a:xfrm>
          <a:prstGeom prst="roundRect">
            <a:avLst>
              <a:gd name="adj" fmla="val 4211"/>
            </a:avLst>
          </a:prstGeom>
          <a:solidFill>
            <a:schemeClr val="bg1">
              <a:alpha val="10000"/>
            </a:schemeClr>
          </a:solidFill>
          <a:ln w="12700">
            <a:solidFill>
              <a:schemeClr val="accent5"/>
            </a:solidFill>
            <a:prstDash val="solid"/>
          </a:ln>
        </p:spPr>
      </p:sp>
      <p:sp>
        <p:nvSpPr>
          <p:cNvPr id="11" name="Phase 1 number"/>
          <p:cNvSpPr/>
          <p:nvPr/>
        </p:nvSpPr>
        <p:spPr>
          <a:xfrm>
            <a:off x="3547872" y="2103120"/>
            <a:ext cx="502920" cy="502920"/>
          </a:xfrm>
          <a:prstGeom prst="ellipse">
            <a:avLst/>
          </a:prstGeom>
          <a:solidFill>
            <a:schemeClr val="bg1"/>
          </a:solidFill>
          <a:ln w="12700">
            <a:solidFill>
              <a:schemeClr val="bg1"/>
            </a:solidFill>
            <a:prstDash val="solid"/>
          </a:ln>
        </p:spPr>
      </p:sp>
      <p:sp>
        <p:nvSpPr>
          <p:cNvPr id="12" name="Text 10"/>
          <p:cNvSpPr txBox="1"/>
          <p:nvPr/>
        </p:nvSpPr>
        <p:spPr>
          <a:xfrm>
            <a:off x="3547872" y="210312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13" name="Text 11"/>
          <p:cNvSpPr txBox="1"/>
          <p:nvPr/>
        </p:nvSpPr>
        <p:spPr>
          <a:xfrm>
            <a:off x="3547872" y="2788920"/>
            <a:ext cx="2194560" cy="411480"/>
          </a:xfrm>
          <a:prstGeom prst="rect">
            <a:avLst/>
          </a:prstGeom>
          <a:noFill/>
          <a:ln/>
        </p:spPr>
        <p:txBody>
          <a:bodyPr wrap="square" lIns="0" tIns="0" rIns="0" bIns="0" rtlCol="0" anchor="t"/>
          <a:lstStyle/>
          <a:p>
            <a:pPr indent="0" marL="0">
              <a:buNone/>
            </a:pPr>
            <a:r>
              <a:rPr lang="en-US" sz="2000" b="1" dirty="0">
                <a:solidFill>
                  <a:schemeClr val="bg1"/>
                </a:solidFill>
              </a:rPr>
              <a:t>First real class</a:t>
            </a:r>
            <a:endParaRPr lang="en-US" sz="2000" dirty="0"/>
          </a:p>
        </p:txBody>
      </p:sp>
      <p:sp>
        <p:nvSpPr>
          <p:cNvPr id="14" name="Text 12"/>
          <p:cNvSpPr txBox="1"/>
          <p:nvPr/>
        </p:nvSpPr>
        <p:spPr>
          <a:xfrm>
            <a:off x="3547872" y="3246120"/>
            <a:ext cx="2194560" cy="1463040"/>
          </a:xfrm>
          <a:prstGeom prst="rect">
            <a:avLst/>
          </a:prstGeom>
          <a:noFill/>
          <a:ln/>
        </p:spPr>
        <p:txBody>
          <a:bodyPr wrap="square" lIns="0" tIns="0" rIns="0" bIns="0" rtlCol="0" anchor="t"/>
          <a:lstStyle/>
          <a:p>
            <a:pPr indent="0" marL="0">
              <a:buNone/>
            </a:pPr>
            <a:r>
              <a:rPr lang="en-US" sz="1400" dirty="0">
                <a:solidFill>
                  <a:schemeClr val="accent5"/>
                </a:solidFill>
              </a:rPr>
              <a:t>Lesson 1 live with real students: live AI, real screens, recap pages.</a:t>
            </a:r>
            <a:endParaRPr lang="en-US" sz="1400" dirty="0"/>
          </a:p>
        </p:txBody>
      </p:sp>
      <p:sp>
        <p:nvSpPr>
          <p:cNvPr id="15" name="Phase 2"/>
          <p:cNvSpPr/>
          <p:nvPr/>
        </p:nvSpPr>
        <p:spPr>
          <a:xfrm>
            <a:off x="6181344" y="1874520"/>
            <a:ext cx="2651760" cy="2606040"/>
          </a:xfrm>
          <a:prstGeom prst="roundRect">
            <a:avLst>
              <a:gd name="adj" fmla="val 4211"/>
            </a:avLst>
          </a:prstGeom>
          <a:solidFill>
            <a:schemeClr val="bg1">
              <a:alpha val="10000"/>
            </a:schemeClr>
          </a:solidFill>
          <a:ln w="12700">
            <a:solidFill>
              <a:schemeClr val="accent5"/>
            </a:solidFill>
            <a:prstDash val="solid"/>
          </a:ln>
        </p:spPr>
      </p:sp>
      <p:sp>
        <p:nvSpPr>
          <p:cNvPr id="16" name="Phase 2 number"/>
          <p:cNvSpPr/>
          <p:nvPr/>
        </p:nvSpPr>
        <p:spPr>
          <a:xfrm>
            <a:off x="6409944" y="2103120"/>
            <a:ext cx="502920" cy="502920"/>
          </a:xfrm>
          <a:prstGeom prst="ellipse">
            <a:avLst/>
          </a:prstGeom>
          <a:solidFill>
            <a:schemeClr val="bg1"/>
          </a:solidFill>
          <a:ln w="12700">
            <a:solidFill>
              <a:schemeClr val="bg1"/>
            </a:solidFill>
            <a:prstDash val="solid"/>
          </a:ln>
        </p:spPr>
      </p:sp>
      <p:sp>
        <p:nvSpPr>
          <p:cNvPr id="17" name="Text 15"/>
          <p:cNvSpPr txBox="1"/>
          <p:nvPr/>
        </p:nvSpPr>
        <p:spPr>
          <a:xfrm>
            <a:off x="6409944" y="210312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8" name="Text 16"/>
          <p:cNvSpPr txBox="1"/>
          <p:nvPr/>
        </p:nvSpPr>
        <p:spPr>
          <a:xfrm>
            <a:off x="6409944" y="2788920"/>
            <a:ext cx="2194560" cy="411480"/>
          </a:xfrm>
          <a:prstGeom prst="rect">
            <a:avLst/>
          </a:prstGeom>
          <a:noFill/>
          <a:ln/>
        </p:spPr>
        <p:txBody>
          <a:bodyPr wrap="square" lIns="0" tIns="0" rIns="0" bIns="0" rtlCol="0" anchor="t"/>
          <a:lstStyle/>
          <a:p>
            <a:pPr indent="0" marL="0">
              <a:buNone/>
            </a:pPr>
            <a:r>
              <a:rPr lang="en-US" sz="2000" b="1" dirty="0">
                <a:solidFill>
                  <a:schemeClr val="bg1"/>
                </a:solidFill>
              </a:rPr>
              <a:t>Every week</a:t>
            </a:r>
            <a:endParaRPr lang="en-US" sz="2000" dirty="0"/>
          </a:p>
        </p:txBody>
      </p:sp>
      <p:sp>
        <p:nvSpPr>
          <p:cNvPr id="19" name="Text 17"/>
          <p:cNvSpPr txBox="1"/>
          <p:nvPr/>
        </p:nvSpPr>
        <p:spPr>
          <a:xfrm>
            <a:off x="6409944" y="3246120"/>
            <a:ext cx="2194560" cy="1463040"/>
          </a:xfrm>
          <a:prstGeom prst="rect">
            <a:avLst/>
          </a:prstGeom>
          <a:noFill/>
          <a:ln/>
        </p:spPr>
        <p:txBody>
          <a:bodyPr wrap="square" lIns="0" tIns="0" rIns="0" bIns="0" rtlCol="0" anchor="t"/>
          <a:lstStyle/>
          <a:p>
            <a:pPr indent="0" marL="0">
              <a:buNone/>
            </a:pPr>
            <a:r>
              <a:rPr lang="en-US" sz="1400" dirty="0">
                <a:solidFill>
                  <a:schemeClr val="accent5"/>
                </a:solidFill>
              </a:rPr>
              <a:t>2–3 classes a week. The lesson builder keeps prep to ~10 minutes.</a:t>
            </a:r>
            <a:endParaRPr lang="en-US" sz="1400" dirty="0"/>
          </a:p>
        </p:txBody>
      </p:sp>
      <p:sp>
        <p:nvSpPr>
          <p:cNvPr id="20" name="Phase 3"/>
          <p:cNvSpPr/>
          <p:nvPr/>
        </p:nvSpPr>
        <p:spPr>
          <a:xfrm>
            <a:off x="9043416" y="1874520"/>
            <a:ext cx="2651760" cy="2606040"/>
          </a:xfrm>
          <a:prstGeom prst="roundRect">
            <a:avLst>
              <a:gd name="adj" fmla="val 4211"/>
            </a:avLst>
          </a:prstGeom>
          <a:solidFill>
            <a:schemeClr val="bg1">
              <a:alpha val="10000"/>
            </a:schemeClr>
          </a:solidFill>
          <a:ln w="12700">
            <a:solidFill>
              <a:schemeClr val="accent5"/>
            </a:solidFill>
            <a:prstDash val="solid"/>
          </a:ln>
        </p:spPr>
      </p:sp>
      <p:sp>
        <p:nvSpPr>
          <p:cNvPr id="21" name="Phase 3 number"/>
          <p:cNvSpPr/>
          <p:nvPr/>
        </p:nvSpPr>
        <p:spPr>
          <a:xfrm>
            <a:off x="9272016" y="2103120"/>
            <a:ext cx="502920" cy="502920"/>
          </a:xfrm>
          <a:prstGeom prst="ellipse">
            <a:avLst/>
          </a:prstGeom>
          <a:solidFill>
            <a:schemeClr val="bg1"/>
          </a:solidFill>
          <a:ln w="12700">
            <a:solidFill>
              <a:schemeClr val="bg1"/>
            </a:solidFill>
            <a:prstDash val="solid"/>
          </a:ln>
        </p:spPr>
      </p:sp>
      <p:sp>
        <p:nvSpPr>
          <p:cNvPr id="22" name="Text 20"/>
          <p:cNvSpPr txBox="1"/>
          <p:nvPr/>
        </p:nvSpPr>
        <p:spPr>
          <a:xfrm>
            <a:off x="9272016" y="210312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23" name="Text 21"/>
          <p:cNvSpPr txBox="1"/>
          <p:nvPr/>
        </p:nvSpPr>
        <p:spPr>
          <a:xfrm>
            <a:off x="9272016" y="2788920"/>
            <a:ext cx="2194560" cy="411480"/>
          </a:xfrm>
          <a:prstGeom prst="rect">
            <a:avLst/>
          </a:prstGeom>
          <a:noFill/>
          <a:ln/>
        </p:spPr>
        <p:txBody>
          <a:bodyPr wrap="square" lIns="0" tIns="0" rIns="0" bIns="0" rtlCol="0" anchor="t"/>
          <a:lstStyle/>
          <a:p>
            <a:pPr indent="0" marL="0">
              <a:buNone/>
            </a:pPr>
            <a:r>
              <a:rPr lang="en-US" sz="2000" b="1" dirty="0">
                <a:solidFill>
                  <a:schemeClr val="bg1"/>
                </a:solidFill>
              </a:rPr>
              <a:t>Grow</a:t>
            </a:r>
            <a:endParaRPr lang="en-US" sz="2000" dirty="0"/>
          </a:p>
        </p:txBody>
      </p:sp>
      <p:sp>
        <p:nvSpPr>
          <p:cNvPr id="24" name="Text 22"/>
          <p:cNvSpPr txBox="1"/>
          <p:nvPr/>
        </p:nvSpPr>
        <p:spPr>
          <a:xfrm>
            <a:off x="9272016" y="3246120"/>
            <a:ext cx="2194560" cy="1463040"/>
          </a:xfrm>
          <a:prstGeom prst="rect">
            <a:avLst/>
          </a:prstGeom>
          <a:noFill/>
          <a:ln/>
        </p:spPr>
        <p:txBody>
          <a:bodyPr wrap="square" lIns="0" tIns="0" rIns="0" bIns="0" rtlCol="0" anchor="t"/>
          <a:lstStyle/>
          <a:p>
            <a:pPr indent="0" marL="0">
              <a:buNone/>
            </a:pPr>
            <a:r>
              <a:rPr lang="en-US" sz="1400" dirty="0">
                <a:solidFill>
                  <a:schemeClr val="accent5"/>
                </a:solidFill>
              </a:rPr>
              <a:t>More Task 2 skills, then all four IELTS skills. Quizzes, teams, mistake clips.</a:t>
            </a:r>
            <a:endParaRPr lang="en-US" sz="1400" dirty="0"/>
          </a:p>
        </p:txBody>
      </p:sp>
      <p:sp>
        <p:nvSpPr>
          <p:cNvPr id="25" name="Text 23"/>
          <p:cNvSpPr txBox="1"/>
          <p:nvPr/>
        </p:nvSpPr>
        <p:spPr>
          <a:xfrm>
            <a:off x="457200" y="4983480"/>
            <a:ext cx="11247120" cy="320040"/>
          </a:xfrm>
          <a:prstGeom prst="rect">
            <a:avLst/>
          </a:prstGeom>
          <a:noFill/>
          <a:ln/>
        </p:spPr>
        <p:txBody>
          <a:bodyPr wrap="square" lIns="0" tIns="0" rIns="0" bIns="0" rtlCol="0" anchor="t"/>
          <a:lstStyle/>
          <a:p>
            <a:pPr indent="0" marL="0">
              <a:buNone/>
            </a:pPr>
            <a:r>
              <a:rPr lang="en-US" sz="1600" b="1" dirty="0">
                <a:solidFill>
                  <a:schemeClr val="bg1"/>
                </a:solidFill>
              </a:rPr>
              <a:t>To start Phase 1 we need:</a:t>
            </a:r>
            <a:endParaRPr lang="en-US" sz="1600" dirty="0"/>
          </a:p>
        </p:txBody>
      </p:sp>
      <p:sp>
        <p:nvSpPr>
          <p:cNvPr id="26" name="Text 24"/>
          <p:cNvSpPr txBox="1"/>
          <p:nvPr/>
        </p:nvSpPr>
        <p:spPr>
          <a:xfrm>
            <a:off x="457200" y="5349240"/>
            <a:ext cx="11247120" cy="365760"/>
          </a:xfrm>
          <a:prstGeom prst="rect">
            <a:avLst/>
          </a:prstGeom>
          <a:noFill/>
          <a:ln/>
        </p:spPr>
        <p:txBody>
          <a:bodyPr wrap="square" lIns="0" tIns="0" rIns="0" bIns="0" rtlCol="0" anchor="t"/>
          <a:lstStyle/>
          <a:p>
            <a:pPr indent="0" marL="0">
              <a:buNone/>
            </a:pPr>
            <a:r>
              <a:rPr lang="en-US" sz="1600" dirty="0">
                <a:solidFill>
                  <a:schemeClr val="accent5"/>
                </a:solidFill>
              </a:rPr>
              <a:t>a go-ahead  ·  an AI API key  ·  how students log in on youpass.vn  ·  the speaking-intensive tutor rules</a:t>
            </a:r>
            <a:endParaRPr lang="en-US" sz="1600" dirty="0"/>
          </a:p>
        </p:txBody>
      </p:sp>
    </p:spTree>
  </p:cSld>
  <p:clrMapOvr>
    <a:masterClrMapping/>
  </p:clrMapOvr>
</p:sld>
</file>

<file path=ppt/theme/theme1.xml><?xml version="1.0" encoding="utf-8"?>
<a:theme xmlns:a="http://schemas.openxmlformats.org/drawingml/2006/main" name="YouPass Live">
  <a:themeElements>
    <a:clrScheme name="YouPass Live">
      <a:dk1>
        <a:srgbClr val="1A1B2E"/>
      </a:dk1>
      <a:lt1>
        <a:srgbClr val="FFFFFF"/>
      </a:lt1>
      <a:dk2>
        <a:srgbClr val="55597A"/>
      </a:dk2>
      <a:lt2>
        <a:srgbClr val="F2F1F8"/>
      </a:lt2>
      <a:accent1>
        <a:srgbClr val="5B3DF5"/>
      </a:accent1>
      <a:accent2>
        <a:srgbClr val="E8394D"/>
      </a:accent2>
      <a:accent3>
        <a:srgbClr val="13955F"/>
      </a:accent3>
      <a:accent4>
        <a:srgbClr val="E39A12"/>
      </a:accent4>
      <a:accent5>
        <a:srgbClr val="9A97B5"/>
      </a:accent5>
      <a:accent6>
        <a:srgbClr val="1FA2C8"/>
      </a:accent6>
      <a:hlink>
        <a:srgbClr val="5B3DF5"/>
      </a:hlink>
      <a:folHlink>
        <a:srgbClr val="7A62F7"/>
      </a:folHlink>
    </a:clrScheme>
    <a:fontScheme name="YouPass Liv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YouPass Live: vision prototype</dc:title>
  <dc:subject>PptxGenJS Presentation</dc:subject>
  <dc:creator>PptxGenJS</dc:creator>
  <cp:lastModifiedBy>PptxGenJS</cp:lastModifiedBy>
  <cp:revision>1</cp:revision>
  <dcterms:created xsi:type="dcterms:W3CDTF">2026-10-19T08:20:54Z</dcterms:created>
  <dcterms:modified xsi:type="dcterms:W3CDTF">2026-10-19T08:20:54Z</dcterms:modified>
</cp:coreProperties>
</file>